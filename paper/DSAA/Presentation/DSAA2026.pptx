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311" r:id="rId4"/>
    <p:sldId id="307" r:id="rId5"/>
    <p:sldId id="310" r:id="rId6"/>
    <p:sldId id="308" r:id="rId7"/>
    <p:sldId id="309" r:id="rId8"/>
    <p:sldId id="302" r:id="rId9"/>
    <p:sldId id="315" r:id="rId10"/>
    <p:sldId id="330" r:id="rId11"/>
    <p:sldId id="332" r:id="rId12"/>
    <p:sldId id="334" r:id="rId13"/>
    <p:sldId id="335" r:id="rId14"/>
    <p:sldId id="336" r:id="rId15"/>
    <p:sldId id="329" r:id="rId16"/>
    <p:sldId id="314" r:id="rId17"/>
    <p:sldId id="372" r:id="rId18"/>
    <p:sldId id="337" r:id="rId19"/>
    <p:sldId id="350" r:id="rId20"/>
    <p:sldId id="352" r:id="rId21"/>
    <p:sldId id="354" r:id="rId22"/>
    <p:sldId id="355" r:id="rId23"/>
    <p:sldId id="356" r:id="rId24"/>
    <p:sldId id="357" r:id="rId25"/>
    <p:sldId id="358" r:id="rId26"/>
    <p:sldId id="359" r:id="rId27"/>
    <p:sldId id="360" r:id="rId28"/>
    <p:sldId id="361" r:id="rId29"/>
    <p:sldId id="362" r:id="rId30"/>
    <p:sldId id="373" r:id="rId31"/>
    <p:sldId id="377" r:id="rId32"/>
    <p:sldId id="374" r:id="rId33"/>
    <p:sldId id="375" r:id="rId34"/>
    <p:sldId id="376" r:id="rId35"/>
    <p:sldId id="378" r:id="rId36"/>
    <p:sldId id="379" r:id="rId37"/>
    <p:sldId id="380" r:id="rId38"/>
    <p:sldId id="381" r:id="rId39"/>
    <p:sldId id="382" r:id="rId40"/>
    <p:sldId id="383" r:id="rId41"/>
    <p:sldId id="384" r:id="rId42"/>
    <p:sldId id="369" r:id="rId43"/>
    <p:sldId id="318" r:id="rId44"/>
    <p:sldId id="304" r:id="rId45"/>
    <p:sldId id="326" r:id="rId46"/>
    <p:sldId id="322" r:id="rId47"/>
    <p:sldId id="323" r:id="rId48"/>
    <p:sldId id="324" r:id="rId49"/>
    <p:sldId id="327" r:id="rId50"/>
    <p:sldId id="305" r:id="rId51"/>
    <p:sldId id="325" r:id="rId5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8" roundtripDataSignature="AMtx7mhN5NvPuK9IroQ37kijuXdJuYIG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9EC8DCE-F5AB-4125-97B1-32B31F7DF828}">
  <a:tblStyle styleId="{29EC8DCE-F5AB-4125-97B1-32B31F7DF82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796"/>
    <p:restoredTop sz="94678"/>
  </p:normalViewPr>
  <p:slideViewPr>
    <p:cSldViewPr snapToGrid="0">
      <p:cViewPr>
        <p:scale>
          <a:sx n="163" d="100"/>
          <a:sy n="163" d="100"/>
        </p:scale>
        <p:origin x="904" y="-3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customschemas.google.com/relationships/presentationmetadata" Target="meta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A4113F2-C5D3-BAC4-C883-0148DEA64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4E348943-F132-E36C-FA87-5CA5845EAC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0CC6172E-9E84-4503-5F81-78F263B782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CDD29B60-7B24-0910-081D-5D530011C02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59394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BF0D273-10A7-5668-3A92-0E6EB1D39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82195A40-6DA1-2ECB-3F0D-27A48D4E1E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06E1F503-E0C6-D258-5621-7A15BC3E54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2B77A119-E93D-3A92-1DCA-411147D1C9A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98949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9E657BA4-4DEC-D90B-70EC-46AAF63EE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C30E3D02-0A84-46FE-63B9-12182AA636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33751E91-3129-59AF-CF9A-C624F3AD42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CC1ADAF3-3E16-EB56-5403-4F63B987802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3487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FF8BF75D-7B53-9F1A-0B87-89F18ECBE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4E656AD6-ED3F-E27A-992B-B862066834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E00674D7-34BD-D343-F9F1-24C2335EBE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2A9B6683-EC18-DDB0-03AA-33693543F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3460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B29DF7D1-4A0B-E403-65D9-5F02610A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726AAB6B-3D48-0F59-9ADE-41665869A4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CF95B978-8E70-BDB3-9A7E-29F82CF977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F89C429F-B54E-66DC-A2F1-B9B82677F28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015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1623616-2466-4204-C19A-72BDFF543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8143F88F-0890-1146-8B83-07D67BC7E1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9D7FA457-71FD-58A3-2FF1-56869E9833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EE010DEC-F8C6-950B-8B16-B5F2EE5D595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92446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1DAB9E21-2B6E-32E5-D884-9B8DE31A4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071EF70F-F9CC-86F2-8AA3-9330611DA8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B9842A18-A6A4-B006-9177-E54E67DDBA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B67DCFF0-3160-8BB0-9941-CE2D123F9D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90327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BB5B03E8-B80F-E6F2-A820-71E55EC68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2D5963E4-A3C0-D515-1CC6-93A62F943C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4D90BF3F-B686-2D18-CA63-F2D9361629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0487C744-0872-2837-E564-0832F516138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32132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ED25C0B-C261-60CA-19B9-EFA79EBCD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8357784E-384A-E6C8-7055-DEB73A164D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EE598A8B-7C78-692A-C910-9F514C1EC2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4B2B37F5-8101-F336-55B5-0FD3802A4D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00488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6D3DD23-E725-8420-69AD-51F7FC43F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C573E6DD-66EB-1853-8D7B-E74934D2BC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8C7EDB00-62B6-290D-B46D-A646E125DC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D4A33514-B5D4-E58D-B41B-D04679E24C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5089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E1CA8BC-DA48-ECE7-A0BF-A1BA7F40E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B1E31637-A3AB-3847-DBAE-21A55AA441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64A8D908-9E5F-C096-CF44-7AAFDF4814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E0C8EDFA-1272-B940-1CC2-D1B420AC24C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0360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E7541F7-4F2D-F7E5-C023-483962556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A1ECE020-F5DC-9597-9693-86D2FA403C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96FFE2DD-3D2B-B37C-4A4C-79FB139239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982B93D9-D1E8-9504-986E-2DCF803BF27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11704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01B16FDA-8027-9926-611C-BB42CBE39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5B70C311-C1B1-F58D-E72D-792A9E3B29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A025C9D5-E759-50D5-0436-4937BBDA3A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37C744DA-5964-55A5-7169-4C1AB229E3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22068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F55B660-D01B-4596-05DE-185990EF4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4C91F24F-3DD2-755B-229A-2D4C02DC80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227DEDAF-9687-9B87-C68A-E155682DE9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D9941D36-31A0-DC3C-CA48-9A93A27A928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68275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B0543D4B-F4C2-5016-F9D6-5CCA041D9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35034503-C050-DCCA-C79A-2DA2010B2A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28CAD75E-C6C5-59B1-B989-AA86DB052E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402C85F6-6943-FF7D-3C17-D1DA7C273D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96110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187A55C-7A6E-ABA0-CFBF-CB189CC5D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23EADE52-E9AD-8059-2ABA-49260249A9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05BE6E60-C620-D14D-3D56-BB90E32EF8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94F4AFD6-E1E7-B3AF-1CF4-DA52D908D4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72950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7B39E04-84D4-D342-E65E-95F46E0E1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3C05575B-F8AB-CAC6-6927-75C5728EF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6EEA1D11-30D7-F8D8-E4FF-C0B0B57BD2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6190BD2E-44BA-3240-1A6D-1A4812BEA8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00117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A3F29CF-8618-A874-7DCF-1FF74BF7F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F1D5A42D-CBA8-62D4-FF4B-5AC1C8E962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5ABE1792-1EFB-2DAC-EC09-75ED4441C7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261388D7-6D26-4681-AF45-4013241666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43804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457A78A-3E68-0BC1-F943-8ECFAC6C1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FAE90D48-CB2B-D68E-4716-69FF57C166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0C425A44-9935-0474-63E4-2D6C83CC2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249403F5-CE5E-6732-FAD8-E4D4DD168B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7220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6B3ED327-3EFC-96BB-3BF2-FE175AFEF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BA42E19E-1031-273D-706B-E3C6BAC1B4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34927B32-C10B-1AFF-4C45-5A25B0C16C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D82809A5-F1D2-F4F9-E0D3-9F90B9B2D8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13823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41D5734-AECC-4B3D-5AEE-12ABCACAF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8DE3791F-CFF2-7039-D771-E17D735E27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78EEF51B-0823-B06C-8FAF-5AEFB0EB50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D1762656-1B0B-E327-0572-8F56A779DD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80467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F37F2D2-D95E-53E9-D346-8B787D025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A19414F7-1FB7-D803-D8EA-D24F189277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A7011A35-4E47-B437-0F6D-66833CE2D1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BBEA079B-2E0E-EE2B-90AB-582A71B07D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6046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072C01B4-32F1-9819-0783-914EAD902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5DA85CEA-A55D-B065-7316-BAC86BE11E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827A3462-CE4D-4511-46FD-159116D95F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B8F2BE6B-5226-20F0-6DBB-9459E0FD99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59279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17DEF364-0063-0818-515C-530AFC5C3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850F5CED-E552-C5AF-F685-FAC4B6B761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79F6253B-880A-54C5-A55F-B66106EF1C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B1F49E45-0344-3AE9-A1A4-8D0B0DA743D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02826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5825C09-0156-1A40-4FDC-5D0E8FA1C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0A0E1745-4D8C-DF54-D2BE-80901BA194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3CDDA0FA-6D65-47ED-B5BC-0837C0501E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8A8A2D36-3F24-352A-D4B9-F675215279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11113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3881D8A-7B53-C1ED-41E6-7805A88B0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259BB8FF-7BDB-970A-28B1-782E220C90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B0171D2F-373F-D7CE-DACE-8A9A12DA85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75B84716-0327-4EE4-5DE8-B5A29DD5E0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49162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9DE3007E-F756-B5D3-6457-2A5CF98B0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556F10E2-643A-095C-2516-39E9B915A1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A7F2D450-6A17-4090-3323-F2DF00A37C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24E6156D-71B3-2356-0631-3DF7707BD15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08127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01298544-4634-2535-C084-E446B9E33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B8D2424B-BC50-5AF6-7CC3-6DD925A37F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9B03BE93-4283-2406-F509-67D310A0D5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9BA5811F-DE01-F4F0-E0AF-526BE116E40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37414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5F438A6-A5E7-9788-5158-928EE3E30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C3E0D37A-5160-35A6-C3BB-7AFEAEF489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642144A3-CC01-2605-2A4C-977037D7E5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541257F5-ABB4-339F-A4F1-6BF57FA3A8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09955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0C2C15D1-A9CF-0301-BC50-1C4E8186A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CA483EA4-A760-7292-F3FC-23E9CA6E0E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6FB9F6F6-70C5-0284-785F-59C32CDB26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2216BEB8-EBDA-C4F7-63D3-EC0DED086D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71393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06875CE9-FCD3-40F7-29A0-68063C660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BA3F668A-278F-BEDF-443E-854B9D38E3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C8D6A23F-0CCB-FBE0-5C4F-BEE88EB929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77BD0579-C9A8-9AE8-55DD-BB9FAF6D9F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245592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F544C46-3843-4ABA-2E9B-D007A82F6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0A7F32D0-A2BA-1A6A-C3B9-1F7EF30566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E3057A92-7715-B4F4-D9B9-99A53CB767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CB72FDDB-0F9C-4A2E-A384-C95D0B8FD3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529475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ED4CBFD-A538-ADD4-65B1-750954F5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45D0C0CC-E3A9-548F-6C1C-1445C5E622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EFD5DC3E-5759-B32A-3A9D-8F1F3C8942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74EECE7B-B366-9C75-E2C1-9509E02C0D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579359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65E09BB0-3582-DD95-F118-7FF3DFBAD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7B3AF572-72C1-36A0-8308-DF8C29E94E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86E2C0B3-5D09-27BE-352A-C328905106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EA850DC1-548F-637A-A4C6-2D9C8C5CDC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671471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A44F55F-8C76-29D8-4256-7CDDAE268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41844C6C-DF5D-9D95-C24D-52F8E88882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4DBE6EBD-4289-A9FA-FCAC-04EC30E9BD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639CFB1A-08C1-C337-18B7-530A3227EA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801649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0926344-18BA-6898-5140-7EF97E3AE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88EA4158-53A5-D967-CAD7-A9996F1C6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823D1228-5FF8-C905-AEB0-CB1FC82C6B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D894B293-45F1-B785-7284-5A5A7E56B1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5968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19786E20-E4D1-341A-2394-27E921CA9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B3D5C004-96E6-42D0-0066-6D1566213B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39E9B997-F90B-52FC-E435-78166ECFDA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6E704D00-69C1-579D-3321-DEAAB1F596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39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2269669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6ABE78E-BA98-2594-9571-9F9DC3DC3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84EA64DD-D126-0B9C-9752-44705F58E4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95E89FF2-0B91-CD8A-50C9-9CE7BAA398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86247A10-93C8-1330-EB4E-4BFA5AD9121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036913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E247A7C-5144-F652-80E1-C82C7044E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B4A4E43D-FD0B-43C8-FD58-FCABCF7694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309444DB-D5E4-5C07-1EEF-33C08F2AD6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BAFDD2ED-A4CE-F3FC-CB46-EF944193B7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874836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3143166-4B2D-DF62-BDCE-4F4160654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D62A78F7-3621-1726-198A-A61F133FC8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60C577C5-FBD4-1C81-BC96-89818675F9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26F8E6A1-F8F3-4BA5-13EB-D6BCB01EC6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42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675353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B96512A0-0E35-3B37-E2CF-6D6BA7665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4913E85C-C07F-55AE-2355-0E8F6967E7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F941572A-5870-7989-944D-CB8FC05CC7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2E1DBEC4-D86C-C63C-B40C-7DD3A8D981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43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000572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0BFF229-981C-24EE-71B4-32E69C003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2C069876-0B39-3794-E87F-0B6059D4EC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C5588482-53BB-8AA2-A8A1-70592C45A9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26A2B578-7E9E-A5DC-54C6-15D254CCAFA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44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509161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7368612-717E-39C3-4128-A358757C5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E8188110-C623-C67F-5048-964D57F746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7F20EEAC-E406-2C9E-E77D-E7E864EC3D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F701B5EF-220C-A5B6-14E7-263E92FAC7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45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744991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495BA4A-2A67-DC35-5710-A7002DFB7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A62FDF71-73BA-0D01-5B04-A504FC0350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DA9B7C76-E143-D57B-BF6B-DACE76FCFA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8E4E77E4-D68C-C5AE-B902-1C423BA326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46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858025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508620-BD83-5182-2E9C-C03E24021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C23B55DC-FA74-5839-2106-3AA4414B4A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782203EE-D2C0-DFD4-5AF0-EA396019AB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09E638ED-C3D4-31AD-8379-D4B9266A88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47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8048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443BB23-B13D-371A-ADE8-93C5D0636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79830D32-2578-D72E-2562-EE30CDECEF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127528FE-430A-9D5A-DD08-E8F511E7A7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D8625575-6022-2650-9479-05736B5919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48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54526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A28DCEA-9A66-1BCB-2FC9-899F7F1D7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8F0B8C35-AB96-6BCD-5255-3AF2465402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FF62F5B0-AF64-7DD4-7B8C-4C5897A7FA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D77A2ABB-82D1-885C-D7DC-D50ADCE14E3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49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938093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C527286-C505-FC64-B4B3-98B380B42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DAB41120-7F8E-A729-8B82-BC50C811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6415E9C2-2C30-B214-C653-3A998F364C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3118E94A-F819-212F-155C-34D9AFBAA42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50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035500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1B47408A-F93C-ADB6-6512-F45CE3987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B266B258-1F57-5C1F-2E90-1DA37EBD3D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98706F0C-CC74-0C47-6465-9E31F6AFD5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51043457-4D2C-9541-9275-49CC6380F3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51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016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スライド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8"/>
          <p:cNvSpPr txBox="1"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" name="Google Shape;28;p4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>
  <p:cSld name="タイトルとコンテンツ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9"/>
          <p:cNvSpPr txBox="1"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49"/>
          <p:cNvSpPr txBox="1">
            <a:spLocks noGrp="1"/>
          </p:cNvSpPr>
          <p:nvPr>
            <p:ph type="title"/>
          </p:nvPr>
        </p:nvSpPr>
        <p:spPr>
          <a:xfrm>
            <a:off x="628650" y="309708"/>
            <a:ext cx="7886700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>
  <p:cSld name="2 つのコンテンツ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1"/>
          <p:cNvSpPr txBox="1">
            <a:spLocks noGrp="1"/>
          </p:cNvSpPr>
          <p:nvPr>
            <p:ph type="body" idx="1"/>
          </p:nvPr>
        </p:nvSpPr>
        <p:spPr>
          <a:xfrm>
            <a:off x="457200" y="1600204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41" name="Google Shape;41;p51"/>
          <p:cNvSpPr txBox="1">
            <a:spLocks noGrp="1"/>
          </p:cNvSpPr>
          <p:nvPr>
            <p:ph type="body" idx="2"/>
          </p:nvPr>
        </p:nvSpPr>
        <p:spPr>
          <a:xfrm>
            <a:off x="4648200" y="1600204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42" name="Google Shape;42;p51"/>
          <p:cNvSpPr txBox="1">
            <a:spLocks noGrp="1"/>
          </p:cNvSpPr>
          <p:nvPr>
            <p:ph type="dt" idx="10"/>
          </p:nvPr>
        </p:nvSpPr>
        <p:spPr>
          <a:xfrm>
            <a:off x="751400" y="639610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1"/>
          <p:cNvSpPr txBox="1">
            <a:spLocks noGrp="1"/>
          </p:cNvSpPr>
          <p:nvPr>
            <p:ph type="ftr" idx="11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51"/>
          <p:cNvSpPr txBox="1">
            <a:spLocks noGrp="1"/>
          </p:cNvSpPr>
          <p:nvPr>
            <p:ph type="sldNum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タイトルのみ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2"/>
          <p:cNvSpPr txBox="1">
            <a:spLocks noGrp="1"/>
          </p:cNvSpPr>
          <p:nvPr>
            <p:ph type="dt" idx="10"/>
          </p:nvPr>
        </p:nvSpPr>
        <p:spPr>
          <a:xfrm>
            <a:off x="751400" y="639610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52"/>
          <p:cNvSpPr txBox="1">
            <a:spLocks noGrp="1"/>
          </p:cNvSpPr>
          <p:nvPr>
            <p:ph type="ftr" idx="11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52"/>
          <p:cNvSpPr txBox="1">
            <a:spLocks noGrp="1"/>
          </p:cNvSpPr>
          <p:nvPr>
            <p:ph type="sldNum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3"/>
          <p:cNvSpPr txBox="1">
            <a:spLocks noGrp="1"/>
          </p:cNvSpPr>
          <p:nvPr>
            <p:ph type="dt" idx="10"/>
          </p:nvPr>
        </p:nvSpPr>
        <p:spPr>
          <a:xfrm>
            <a:off x="751400" y="639610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53"/>
          <p:cNvSpPr txBox="1">
            <a:spLocks noGrp="1"/>
          </p:cNvSpPr>
          <p:nvPr>
            <p:ph type="ftr" idx="11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53"/>
          <p:cNvSpPr txBox="1">
            <a:spLocks noGrp="1"/>
          </p:cNvSpPr>
          <p:nvPr>
            <p:ph type="sldNum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ユーザー設定レイアウト">
  <p:cSld name="ユーザー設定レイアウト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2 つのコンテンツ">
  <p:cSld name="1_2 つのコンテンツ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5"/>
          <p:cNvSpPr txBox="1">
            <a:spLocks noGrp="1"/>
          </p:cNvSpPr>
          <p:nvPr>
            <p:ph type="body" idx="1"/>
          </p:nvPr>
        </p:nvSpPr>
        <p:spPr>
          <a:xfrm>
            <a:off x="457200" y="1600204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56" name="Google Shape;56;p55"/>
          <p:cNvSpPr txBox="1">
            <a:spLocks noGrp="1"/>
          </p:cNvSpPr>
          <p:nvPr>
            <p:ph type="body" idx="2"/>
          </p:nvPr>
        </p:nvSpPr>
        <p:spPr>
          <a:xfrm>
            <a:off x="4648200" y="1600204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57" name="Google Shape;57;p55"/>
          <p:cNvSpPr txBox="1">
            <a:spLocks noGrp="1"/>
          </p:cNvSpPr>
          <p:nvPr>
            <p:ph type="dt" idx="10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55"/>
          <p:cNvSpPr txBox="1">
            <a:spLocks noGrp="1"/>
          </p:cNvSpPr>
          <p:nvPr>
            <p:ph type="ftr" idx="11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55"/>
          <p:cNvSpPr txBox="1">
            <a:spLocks noGrp="1"/>
          </p:cNvSpPr>
          <p:nvPr>
            <p:ph type="sldNum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タイトルのみ">
  <p:cSld name="1_タイトルのみ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6"/>
          <p:cNvSpPr txBox="1">
            <a:spLocks noGrp="1"/>
          </p:cNvSpPr>
          <p:nvPr>
            <p:ph type="dt" idx="10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56"/>
          <p:cNvSpPr txBox="1">
            <a:spLocks noGrp="1"/>
          </p:cNvSpPr>
          <p:nvPr>
            <p:ph type="ftr" idx="11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56"/>
          <p:cNvSpPr txBox="1">
            <a:spLocks noGrp="1"/>
          </p:cNvSpPr>
          <p:nvPr>
            <p:ph type="sldNum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タイトル、テキスト、コンテンツ">
  <p:cSld name="1_タイトル、テキスト、コンテンツ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7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57"/>
          <p:cNvSpPr txBox="1">
            <a:spLocks noGrp="1"/>
          </p:cNvSpPr>
          <p:nvPr>
            <p:ph type="body" idx="2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5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57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57"/>
          <p:cNvSpPr txBox="1">
            <a:spLocks noGrp="1"/>
          </p:cNvSpPr>
          <p:nvPr>
            <p:ph type="sldNum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タイトルとコンテンツ">
  <p:cSld name="4_タイトルとコンテンツ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8"/>
          <p:cNvSpPr txBox="1"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58"/>
          <p:cNvSpPr txBox="1">
            <a:spLocks noGrp="1"/>
          </p:cNvSpPr>
          <p:nvPr>
            <p:ph type="dt" idx="10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58"/>
          <p:cNvSpPr txBox="1">
            <a:spLocks noGrp="1"/>
          </p:cNvSpPr>
          <p:nvPr>
            <p:ph type="ftr" idx="11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58"/>
          <p:cNvSpPr txBox="1">
            <a:spLocks noGrp="1"/>
          </p:cNvSpPr>
          <p:nvPr>
            <p:ph type="sldNum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2 つのコンテンツ">
  <p:cSld name="2_2 つのコンテンツ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9"/>
          <p:cNvSpPr txBox="1">
            <a:spLocks noGrp="1"/>
          </p:cNvSpPr>
          <p:nvPr>
            <p:ph type="body" idx="1"/>
          </p:nvPr>
        </p:nvSpPr>
        <p:spPr>
          <a:xfrm>
            <a:off x="457200" y="1600204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77" name="Google Shape;77;p59"/>
          <p:cNvSpPr txBox="1">
            <a:spLocks noGrp="1"/>
          </p:cNvSpPr>
          <p:nvPr>
            <p:ph type="body" idx="2"/>
          </p:nvPr>
        </p:nvSpPr>
        <p:spPr>
          <a:xfrm>
            <a:off x="4648200" y="1600204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78" name="Google Shape;78;p59"/>
          <p:cNvSpPr txBox="1">
            <a:spLocks noGrp="1"/>
          </p:cNvSpPr>
          <p:nvPr>
            <p:ph type="dt" idx="10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59"/>
          <p:cNvSpPr txBox="1">
            <a:spLocks noGrp="1"/>
          </p:cNvSpPr>
          <p:nvPr>
            <p:ph type="ftr" idx="11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59"/>
          <p:cNvSpPr txBox="1">
            <a:spLocks noGrp="1"/>
          </p:cNvSpPr>
          <p:nvPr>
            <p:ph type="sldNum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タイトルのみ">
  <p:cSld name="2_タイトルのみ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0"/>
          <p:cNvSpPr txBox="1">
            <a:spLocks noGrp="1"/>
          </p:cNvSpPr>
          <p:nvPr>
            <p:ph type="dt" idx="10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60"/>
          <p:cNvSpPr txBox="1">
            <a:spLocks noGrp="1"/>
          </p:cNvSpPr>
          <p:nvPr>
            <p:ph type="ftr" idx="11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60"/>
          <p:cNvSpPr txBox="1">
            <a:spLocks noGrp="1"/>
          </p:cNvSpPr>
          <p:nvPr>
            <p:ph type="sldNum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タイトル、テキスト、コンテンツ">
  <p:cSld name="2_タイトル、テキスト、コンテンツ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1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61"/>
          <p:cNvSpPr txBox="1">
            <a:spLocks noGrp="1"/>
          </p:cNvSpPr>
          <p:nvPr>
            <p:ph type="body" idx="2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6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61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61"/>
          <p:cNvSpPr txBox="1">
            <a:spLocks noGrp="1"/>
          </p:cNvSpPr>
          <p:nvPr>
            <p:ph type="sldNum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7"/>
          <p:cNvSpPr txBox="1"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1" name="Google Shape;11;p47"/>
          <p:cNvCxnSpPr/>
          <p:nvPr/>
        </p:nvCxnSpPr>
        <p:spPr>
          <a:xfrm rot="10800000" flipH="1">
            <a:off x="0" y="6423949"/>
            <a:ext cx="9144000" cy="17763"/>
          </a:xfrm>
          <a:prstGeom prst="straightConnector1">
            <a:avLst/>
          </a:prstGeom>
          <a:noFill/>
          <a:ln w="38100" cap="flat" cmpd="sng">
            <a:solidFill>
              <a:srgbClr val="42418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47"/>
          <p:cNvSpPr/>
          <p:nvPr/>
        </p:nvSpPr>
        <p:spPr>
          <a:xfrm>
            <a:off x="0" y="0"/>
            <a:ext cx="9144000" cy="159926"/>
          </a:xfrm>
          <a:prstGeom prst="rect">
            <a:avLst/>
          </a:prstGeom>
          <a:solidFill>
            <a:srgbClr val="42418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47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solidFill>
            <a:srgbClr val="42418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4;p47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1006" y="6455272"/>
            <a:ext cx="398064" cy="4034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" name="Google Shape;15;p47"/>
          <p:cNvGrpSpPr/>
          <p:nvPr/>
        </p:nvGrpSpPr>
        <p:grpSpPr>
          <a:xfrm>
            <a:off x="7714767" y="-608"/>
            <a:ext cx="1077858" cy="160534"/>
            <a:chOff x="6865333" y="-608"/>
            <a:chExt cx="2195538" cy="160534"/>
          </a:xfrm>
        </p:grpSpPr>
        <p:sp>
          <p:nvSpPr>
            <p:cNvPr id="16" name="Google Shape;16;p47"/>
            <p:cNvSpPr/>
            <p:nvPr/>
          </p:nvSpPr>
          <p:spPr>
            <a:xfrm>
              <a:off x="7584139" y="0"/>
              <a:ext cx="738366" cy="159926"/>
            </a:xfrm>
            <a:prstGeom prst="rect">
              <a:avLst/>
            </a:prstGeom>
            <a:solidFill>
              <a:srgbClr val="E8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47"/>
            <p:cNvSpPr/>
            <p:nvPr/>
          </p:nvSpPr>
          <p:spPr>
            <a:xfrm>
              <a:off x="8322505" y="0"/>
              <a:ext cx="738366" cy="159926"/>
            </a:xfrm>
            <a:prstGeom prst="rect">
              <a:avLst/>
            </a:prstGeom>
            <a:solidFill>
              <a:srgbClr val="112A7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47"/>
            <p:cNvSpPr/>
            <p:nvPr/>
          </p:nvSpPr>
          <p:spPr>
            <a:xfrm>
              <a:off x="6865333" y="-608"/>
              <a:ext cx="738366" cy="159926"/>
            </a:xfrm>
            <a:prstGeom prst="rect">
              <a:avLst/>
            </a:prstGeom>
            <a:solidFill>
              <a:srgbClr val="112A7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" name="Google Shape;19;p47"/>
          <p:cNvSpPr/>
          <p:nvPr/>
        </p:nvSpPr>
        <p:spPr>
          <a:xfrm>
            <a:off x="0" y="0"/>
            <a:ext cx="9144000" cy="159926"/>
          </a:xfrm>
          <a:prstGeom prst="rect">
            <a:avLst/>
          </a:prstGeom>
          <a:solidFill>
            <a:srgbClr val="42418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47"/>
          <p:cNvCxnSpPr/>
          <p:nvPr/>
        </p:nvCxnSpPr>
        <p:spPr>
          <a:xfrm>
            <a:off x="0" y="980728"/>
            <a:ext cx="9144000" cy="0"/>
          </a:xfrm>
          <a:prstGeom prst="straightConnector1">
            <a:avLst/>
          </a:prstGeom>
          <a:noFill/>
          <a:ln w="38100" cap="flat" cmpd="sng">
            <a:solidFill>
              <a:srgbClr val="42418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" name="Google Shape;21;p47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solidFill>
            <a:srgbClr val="42418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7"/>
          <p:cNvSpPr/>
          <p:nvPr/>
        </p:nvSpPr>
        <p:spPr>
          <a:xfrm>
            <a:off x="0" y="0"/>
            <a:ext cx="9144000" cy="159926"/>
          </a:xfrm>
          <a:prstGeom prst="rect">
            <a:avLst/>
          </a:prstGeom>
          <a:solidFill>
            <a:srgbClr val="42418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7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solidFill>
            <a:srgbClr val="42418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7"/>
          <p:cNvSpPr/>
          <p:nvPr/>
        </p:nvSpPr>
        <p:spPr>
          <a:xfrm>
            <a:off x="7353301" y="6562729"/>
            <a:ext cx="1790699" cy="295275"/>
          </a:xfrm>
          <a:prstGeom prst="rect">
            <a:avLst/>
          </a:prstGeom>
          <a:gradFill>
            <a:gsLst>
              <a:gs pos="0">
                <a:srgbClr val="C4BD97"/>
              </a:gs>
              <a:gs pos="17000">
                <a:schemeClr val="lt2"/>
              </a:gs>
              <a:gs pos="75000">
                <a:srgbClr val="D3CEB4">
                  <a:alpha val="20784"/>
                </a:srgbClr>
              </a:gs>
              <a:gs pos="99000">
                <a:srgbClr val="938953"/>
              </a:gs>
              <a:gs pos="100000">
                <a:srgbClr val="93895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47" descr="黒い背景と白い文字のロゴ&#10;&#10;自動的に生成された説明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771764" y="6409339"/>
            <a:ext cx="1087864" cy="47062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7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7.sv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0.png"/><Relationship Id="rId4" Type="http://schemas.openxmlformats.org/officeDocument/2006/relationships/image" Target="../media/image2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>
            <a:spLocks noGrp="1"/>
          </p:cNvSpPr>
          <p:nvPr>
            <p:ph type="ctrTitle"/>
          </p:nvPr>
        </p:nvSpPr>
        <p:spPr>
          <a:xfrm>
            <a:off x="685800" y="2019990"/>
            <a:ext cx="7772400" cy="194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3200"/>
            </a:pPr>
            <a:r>
              <a:rPr lang="en" altLang="ja-JP" sz="3600" b="1" dirty="0"/>
              <a:t>Multi-Dimensional </a:t>
            </a:r>
            <a:r>
              <a:rPr lang="en" altLang="ja-JP" sz="3600" b="1" dirty="0" err="1"/>
              <a:t>Apriori</a:t>
            </a:r>
            <a:r>
              <a:rPr lang="en" altLang="ja-JP" sz="3600" b="1" dirty="0"/>
              <a:t>-Window:</a:t>
            </a:r>
            <a:br>
              <a:rPr lang="en" altLang="ja-JP" sz="3600" b="1" dirty="0"/>
            </a:br>
            <a:r>
              <a:rPr lang="en" altLang="ja-JP" sz="3600" b="1" dirty="0"/>
              <a:t>Exact Mining of Dense Itemset Regions</a:t>
            </a:r>
            <a:br>
              <a:rPr lang="en" altLang="ja-JP" sz="3600" b="1" dirty="0"/>
            </a:br>
            <a:r>
              <a:rPr lang="en" altLang="ja-JP" sz="3600" b="1" dirty="0"/>
              <a:t>over Arbitrary Dimensions</a:t>
            </a:r>
            <a:endParaRPr sz="3600" b="1" dirty="0"/>
          </a:p>
        </p:txBody>
      </p:sp>
      <p:sp>
        <p:nvSpPr>
          <p:cNvPr id="97" name="Google Shape;97;p1"/>
          <p:cNvSpPr txBox="1">
            <a:spLocks noGrp="1"/>
          </p:cNvSpPr>
          <p:nvPr>
            <p:ph type="subTitle" idx="1"/>
          </p:nvPr>
        </p:nvSpPr>
        <p:spPr>
          <a:xfrm>
            <a:off x="685800" y="4838009"/>
            <a:ext cx="7772399" cy="1020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SzPts val="2000"/>
            </a:pPr>
            <a:r>
              <a:rPr lang="en-US" altLang="ja-JP" sz="2000" b="1" dirty="0"/>
              <a:t>Kanata Takayasu,  </a:t>
            </a:r>
            <a:r>
              <a:rPr lang="en-US" altLang="ja-JP" sz="2000" b="1" dirty="0" err="1"/>
              <a:t>Tahei</a:t>
            </a:r>
            <a:r>
              <a:rPr lang="en-US" altLang="ja-JP" sz="2000" b="1" dirty="0"/>
              <a:t> Takahashi,  Satoshi Suga,  Satoshi Kurihara</a:t>
            </a:r>
          </a:p>
          <a:p>
            <a:pPr marL="0" indent="0">
              <a:spcBef>
                <a:spcPts val="0"/>
              </a:spcBef>
              <a:buSzPts val="2000"/>
            </a:pPr>
            <a:endParaRPr lang="en-US" altLang="ja-JP" sz="2000" b="1" dirty="0"/>
          </a:p>
          <a:p>
            <a:pPr marL="0" indent="0">
              <a:spcBef>
                <a:spcPts val="0"/>
              </a:spcBef>
              <a:buSzPts val="2000"/>
            </a:pPr>
            <a:r>
              <a:rPr lang="en-US" sz="2000" b="1" dirty="0"/>
              <a:t>Keio University, Kansai University</a:t>
            </a:r>
            <a:r>
              <a:rPr lang="en-US" sz="2000" b="1"/>
              <a:t>, Japan</a:t>
            </a:r>
            <a:endParaRPr sz="2000" b="1" dirty="0"/>
          </a:p>
        </p:txBody>
      </p:sp>
      <p:sp>
        <p:nvSpPr>
          <p:cNvPr id="98" name="Google Shape;98;p1"/>
          <p:cNvSpPr txBox="1"/>
          <p:nvPr/>
        </p:nvSpPr>
        <p:spPr>
          <a:xfrm>
            <a:off x="11005" y="280590"/>
            <a:ext cx="9132994" cy="686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SzPts val="2800"/>
            </a:pPr>
            <a:endParaRPr sz="2800"/>
          </a:p>
        </p:txBody>
      </p:sp>
      <p:sp>
        <p:nvSpPr>
          <p:cNvPr id="99" name="Google Shape;99;p1"/>
          <p:cNvSpPr txBox="1"/>
          <p:nvPr/>
        </p:nvSpPr>
        <p:spPr>
          <a:xfrm>
            <a:off x="628650" y="309708"/>
            <a:ext cx="7886700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3300"/>
            </a:pPr>
            <a:r>
              <a:rPr lang="en-US" altLang="ja-JP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IEEE DSAA 2026  #25</a:t>
            </a:r>
            <a:endParaRPr sz="2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>
            <a:spLocks noGrp="1"/>
          </p:cNvSpPr>
          <p:nvPr>
            <p:ph type="body" idx="1"/>
          </p:nvPr>
        </p:nvSpPr>
        <p:spPr>
          <a:xfrm>
            <a:off x="457200" y="1704109"/>
            <a:ext cx="8229600" cy="4422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57175" indent="-257175">
              <a:spcBef>
                <a:spcPts val="0"/>
              </a:spcBef>
            </a:pPr>
            <a:r>
              <a:rPr lang="en-US" b="1" dirty="0">
                <a:solidFill>
                  <a:schemeClr val="tx1"/>
                </a:solidFill>
              </a:rPr>
              <a:t>Introduction</a:t>
            </a:r>
          </a:p>
          <a:p>
            <a:pPr lvl="1">
              <a:spcBef>
                <a:spcPts val="420"/>
              </a:spcBef>
            </a:pPr>
            <a:r>
              <a:rPr lang="en" altLang="ja-JP" b="1" dirty="0">
                <a:solidFill>
                  <a:schemeClr val="tx1"/>
                </a:solidFill>
              </a:rPr>
              <a:t>Motivation : The "When, Where, What" Question</a:t>
            </a:r>
          </a:p>
          <a:p>
            <a:pPr lvl="1">
              <a:spcBef>
                <a:spcPts val="420"/>
              </a:spcBef>
            </a:pPr>
            <a:r>
              <a:rPr lang="en" altLang="ja-JP" b="1" dirty="0">
                <a:solidFill>
                  <a:schemeClr val="tx1"/>
                </a:solidFill>
              </a:rPr>
              <a:t>Existing Methods Cannot Answer Both Questions</a:t>
            </a:r>
          </a:p>
          <a:p>
            <a:pPr lvl="1">
              <a:spcBef>
                <a:spcPts val="420"/>
              </a:spcBef>
            </a:pPr>
            <a:r>
              <a:rPr lang="en" b="1" dirty="0">
                <a:solidFill>
                  <a:schemeClr val="tx1"/>
                </a:solidFill>
              </a:rPr>
              <a:t>This Paper : Multi-Dimensional </a:t>
            </a:r>
            <a:r>
              <a:rPr lang="en" b="1" dirty="0" err="1">
                <a:solidFill>
                  <a:schemeClr val="tx1"/>
                </a:solidFill>
              </a:rPr>
              <a:t>Apriori</a:t>
            </a:r>
            <a:r>
              <a:rPr lang="en" b="1" dirty="0">
                <a:solidFill>
                  <a:schemeClr val="tx1"/>
                </a:solidFill>
              </a:rPr>
              <a:t>-Window</a:t>
            </a:r>
            <a:endParaRPr lang="en-US" b="1" dirty="0">
              <a:solidFill>
                <a:schemeClr val="tx1"/>
              </a:solidFill>
            </a:endParaRPr>
          </a:p>
          <a:p>
            <a:pPr marL="257175" indent="-257175"/>
            <a:r>
              <a:rPr lang="en-US" altLang="ja-JP" dirty="0">
                <a:solidFill>
                  <a:schemeClr val="tx1"/>
                </a:solidFill>
              </a:rPr>
              <a:t>Background</a:t>
            </a:r>
          </a:p>
          <a:p>
            <a:pPr marL="257175" indent="-257175"/>
            <a:r>
              <a:rPr lang="en-US" altLang="ja-JP" dirty="0">
                <a:solidFill>
                  <a:schemeClr val="tx1"/>
                </a:solidFill>
              </a:rPr>
              <a:t>Proposed Method</a:t>
            </a:r>
          </a:p>
          <a:p>
            <a:pPr marL="257175" indent="-257175"/>
            <a:r>
              <a:rPr lang="en-US" altLang="ja-JP" dirty="0">
                <a:solidFill>
                  <a:schemeClr val="tx1"/>
                </a:solidFill>
              </a:rPr>
              <a:t>Experiments</a:t>
            </a:r>
          </a:p>
          <a:p>
            <a:pPr marL="257175" indent="-257175"/>
            <a:r>
              <a:rPr lang="en-US" altLang="ja-JP" dirty="0">
                <a:solidFill>
                  <a:schemeClr val="tx1"/>
                </a:solidFill>
              </a:rPr>
              <a:t>Conclusion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6" name="Google Shape;106;p2"/>
          <p:cNvSpPr txBox="1">
            <a:spLocks noGrp="1"/>
          </p:cNvSpPr>
          <p:nvPr>
            <p:ph type="title"/>
          </p:nvPr>
        </p:nvSpPr>
        <p:spPr>
          <a:xfrm>
            <a:off x="628650" y="309708"/>
            <a:ext cx="7886700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800" b="1" dirty="0"/>
              <a:t>Agenda</a:t>
            </a:r>
            <a:endParaRPr sz="2800" b="1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8BB27DC-4E85-118E-DFAF-0425572D4BE7}"/>
              </a:ext>
            </a:extLst>
          </p:cNvPr>
          <p:cNvSpPr/>
          <p:nvPr/>
        </p:nvSpPr>
        <p:spPr>
          <a:xfrm>
            <a:off x="384463" y="3241964"/>
            <a:ext cx="7377545" cy="1381991"/>
          </a:xfrm>
          <a:prstGeom prst="rect">
            <a:avLst/>
          </a:prstGeom>
          <a:solidFill>
            <a:srgbClr val="FFFFFF">
              <a:alpha val="8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8D21BDAC-4D83-2A35-ABCB-CE1658347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232510FF-9EF3-DDFE-B7ED-ACE39BDE8F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09" y="1122218"/>
            <a:ext cx="8821882" cy="82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Analysts need to know </a:t>
            </a:r>
            <a:r>
              <a:rPr lang="ja-JP" altLang="ja-JP" b="1">
                <a:solidFill>
                  <a:srgbClr val="C00000"/>
                </a:solidFill>
              </a:rPr>
              <a:t>what</a:t>
            </a:r>
            <a:r>
              <a:rPr lang="ja-JP" altLang="ja-JP"/>
              <a:t> is co-occurring and </a:t>
            </a:r>
            <a:r>
              <a:rPr lang="ja-JP" altLang="ja-JP" b="1">
                <a:solidFill>
                  <a:srgbClr val="C00000"/>
                </a:solidFill>
              </a:rPr>
              <a:t>where</a:t>
            </a:r>
            <a:r>
              <a:rPr lang="ja-JP" altLang="ja-JP"/>
              <a:t> &amp; </a:t>
            </a:r>
            <a:r>
              <a:rPr lang="ja-JP" altLang="ja-JP" b="1">
                <a:solidFill>
                  <a:srgbClr val="C00000"/>
                </a:solidFill>
              </a:rPr>
              <a:t>when</a:t>
            </a:r>
            <a:r>
              <a:rPr lang="ja-JP" altLang="ja-JP"/>
              <a:t> it is dense — simultaneously. Neither question alone is actionable.</a:t>
            </a:r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CED22350-A72B-F24D-7616-AF32C612AA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ja-JP" b="1" dirty="0"/>
              <a:t>Motivation : The “What, When, Where” Question</a:t>
            </a:r>
            <a:endParaRPr b="1" dirty="0"/>
          </a:p>
        </p:txBody>
      </p:sp>
      <p:sp>
        <p:nvSpPr>
          <p:cNvPr id="3" name="山形 2">
            <a:extLst>
              <a:ext uri="{FF2B5EF4-FFF2-40B4-BE49-F238E27FC236}">
                <a16:creationId xmlns:a16="http://schemas.microsoft.com/office/drawing/2014/main" id="{24D571C0-8E09-FD0A-6339-55A11308334E}"/>
              </a:ext>
            </a:extLst>
          </p:cNvPr>
          <p:cNvSpPr/>
          <p:nvPr/>
        </p:nvSpPr>
        <p:spPr>
          <a:xfrm>
            <a:off x="2106275" y="5315941"/>
            <a:ext cx="1800480" cy="599987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chemeClr val="bg1"/>
                </a:solidFill>
              </a:rPr>
              <a:t>What</a:t>
            </a:r>
            <a:endParaRPr kumimoji="1" lang="ja-JP" altLang="en-US" sz="2000" b="1">
              <a:solidFill>
                <a:schemeClr val="bg1"/>
              </a:solidFill>
            </a:endParaRPr>
          </a:p>
        </p:txBody>
      </p:sp>
      <p:sp>
        <p:nvSpPr>
          <p:cNvPr id="4" name="山形 3">
            <a:extLst>
              <a:ext uri="{FF2B5EF4-FFF2-40B4-BE49-F238E27FC236}">
                <a16:creationId xmlns:a16="http://schemas.microsoft.com/office/drawing/2014/main" id="{DFA2B0FF-C28E-90BF-3A89-DF73D1ECA96E}"/>
              </a:ext>
            </a:extLst>
          </p:cNvPr>
          <p:cNvSpPr/>
          <p:nvPr/>
        </p:nvSpPr>
        <p:spPr>
          <a:xfrm>
            <a:off x="3739273" y="5315941"/>
            <a:ext cx="1800481" cy="599987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chemeClr val="bg1"/>
                </a:solidFill>
              </a:rPr>
              <a:t>Where</a:t>
            </a:r>
            <a:endParaRPr kumimoji="1" lang="ja-JP" altLang="en-US" sz="2000" b="1">
              <a:solidFill>
                <a:schemeClr val="bg1"/>
              </a:solidFill>
            </a:endParaRPr>
          </a:p>
        </p:txBody>
      </p:sp>
      <p:sp>
        <p:nvSpPr>
          <p:cNvPr id="5" name="山形 4">
            <a:extLst>
              <a:ext uri="{FF2B5EF4-FFF2-40B4-BE49-F238E27FC236}">
                <a16:creationId xmlns:a16="http://schemas.microsoft.com/office/drawing/2014/main" id="{FE2C4A92-331C-C07B-546D-7CA966F01E2F}"/>
              </a:ext>
            </a:extLst>
          </p:cNvPr>
          <p:cNvSpPr/>
          <p:nvPr/>
        </p:nvSpPr>
        <p:spPr>
          <a:xfrm>
            <a:off x="5381339" y="5327025"/>
            <a:ext cx="1800479" cy="599987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chemeClr val="bg1"/>
                </a:solidFill>
              </a:rPr>
              <a:t>When</a:t>
            </a:r>
          </a:p>
        </p:txBody>
      </p:sp>
      <p:pic>
        <p:nvPicPr>
          <p:cNvPr id="8" name="グラフィックス 7" descr="時計 単色塗りつぶし">
            <a:extLst>
              <a:ext uri="{FF2B5EF4-FFF2-40B4-BE49-F238E27FC236}">
                <a16:creationId xmlns:a16="http://schemas.microsoft.com/office/drawing/2014/main" id="{D054D9CD-7813-2F68-57C9-80DDE9E50C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3482" y="4570557"/>
            <a:ext cx="696191" cy="696191"/>
          </a:xfrm>
          <a:prstGeom prst="rect">
            <a:avLst/>
          </a:prstGeom>
        </p:spPr>
      </p:pic>
      <p:pic>
        <p:nvPicPr>
          <p:cNvPr id="10" name="グラフィックス 9" descr="ピン止めした地図 単色塗りつぶし">
            <a:extLst>
              <a:ext uri="{FF2B5EF4-FFF2-40B4-BE49-F238E27FC236}">
                <a16:creationId xmlns:a16="http://schemas.microsoft.com/office/drawing/2014/main" id="{26E98D0F-A21D-D814-431C-58ACD6DA3A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15507" y="4537773"/>
            <a:ext cx="820882" cy="820882"/>
          </a:xfrm>
          <a:prstGeom prst="rect">
            <a:avLst/>
          </a:prstGeom>
        </p:spPr>
      </p:pic>
      <p:pic>
        <p:nvPicPr>
          <p:cNvPr id="20" name="グラフィックス 19" descr="疑問符 単色塗りつぶし">
            <a:extLst>
              <a:ext uri="{FF2B5EF4-FFF2-40B4-BE49-F238E27FC236}">
                <a16:creationId xmlns:a16="http://schemas.microsoft.com/office/drawing/2014/main" id="{0142E8E3-FE29-3D5E-CC6C-03A0AE903C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22132" y="4533951"/>
            <a:ext cx="769402" cy="769402"/>
          </a:xfrm>
          <a:prstGeom prst="rect">
            <a:avLst/>
          </a:prstGeom>
        </p:spPr>
      </p:pic>
      <p:pic>
        <p:nvPicPr>
          <p:cNvPr id="22" name="グラフィックス 21" descr="データベース 単色塗りつぶし">
            <a:extLst>
              <a:ext uri="{FF2B5EF4-FFF2-40B4-BE49-F238E27FC236}">
                <a16:creationId xmlns:a16="http://schemas.microsoft.com/office/drawing/2014/main" id="{F4851748-D4C9-7D6C-D39C-3DE9EE0131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1412" y="2117485"/>
            <a:ext cx="1241179" cy="1241179"/>
          </a:xfrm>
          <a:prstGeom prst="rect">
            <a:avLst/>
          </a:prstGeom>
        </p:spPr>
      </p:pic>
      <p:sp>
        <p:nvSpPr>
          <p:cNvPr id="23" name="三角形 22">
            <a:extLst>
              <a:ext uri="{FF2B5EF4-FFF2-40B4-BE49-F238E27FC236}">
                <a16:creationId xmlns:a16="http://schemas.microsoft.com/office/drawing/2014/main" id="{623B76D2-B0F7-2B66-E175-6EFA5CA0F0BE}"/>
              </a:ext>
            </a:extLst>
          </p:cNvPr>
          <p:cNvSpPr/>
          <p:nvPr/>
        </p:nvSpPr>
        <p:spPr>
          <a:xfrm rot="10800000">
            <a:off x="4303011" y="3774948"/>
            <a:ext cx="537977" cy="400988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Google Shape;105;p2">
            <a:extLst>
              <a:ext uri="{FF2B5EF4-FFF2-40B4-BE49-F238E27FC236}">
                <a16:creationId xmlns:a16="http://schemas.microsoft.com/office/drawing/2014/main" id="{9C20FA43-B7CC-5B4A-9558-5B9C5BB0C6A0}"/>
              </a:ext>
            </a:extLst>
          </p:cNvPr>
          <p:cNvSpPr txBox="1">
            <a:spLocks/>
          </p:cNvSpPr>
          <p:nvPr/>
        </p:nvSpPr>
        <p:spPr>
          <a:xfrm>
            <a:off x="3333481" y="3207777"/>
            <a:ext cx="2477038" cy="442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Font typeface="Arial"/>
              <a:buNone/>
            </a:pPr>
            <a:r>
              <a:rPr lang="en-US" altLang="ja-JP" b="1" dirty="0">
                <a:solidFill>
                  <a:schemeClr val="accent1"/>
                </a:solidFill>
              </a:rPr>
              <a:t>Transaction </a:t>
            </a:r>
            <a:r>
              <a:rPr lang="en-US" altLang="ja-JP" b="1" dirty="0" err="1">
                <a:solidFill>
                  <a:schemeClr val="accent1"/>
                </a:solidFill>
              </a:rPr>
              <a:t>DataBase</a:t>
            </a:r>
            <a:endParaRPr lang="ja-JP" altLang="ja-JP" b="1">
              <a:solidFill>
                <a:schemeClr val="accent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993810F-B30E-93EB-FC67-505D45A67B6E}"/>
              </a:ext>
            </a:extLst>
          </p:cNvPr>
          <p:cNvSpPr/>
          <p:nvPr/>
        </p:nvSpPr>
        <p:spPr>
          <a:xfrm>
            <a:off x="1761324" y="4444254"/>
            <a:ext cx="5658379" cy="17582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Google Shape;105;p2">
            <a:extLst>
              <a:ext uri="{FF2B5EF4-FFF2-40B4-BE49-F238E27FC236}">
                <a16:creationId xmlns:a16="http://schemas.microsoft.com/office/drawing/2014/main" id="{EA45D967-6504-0B19-3AC7-27EF04016501}"/>
              </a:ext>
            </a:extLst>
          </p:cNvPr>
          <p:cNvSpPr txBox="1">
            <a:spLocks/>
          </p:cNvSpPr>
          <p:nvPr/>
        </p:nvSpPr>
        <p:spPr>
          <a:xfrm>
            <a:off x="3686245" y="6031016"/>
            <a:ext cx="1771507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  <a:buFont typeface="Arial"/>
              <a:buNone/>
            </a:pPr>
            <a:r>
              <a:rPr lang="en-US" altLang="ja-JP" b="1" dirty="0">
                <a:solidFill>
                  <a:schemeClr val="accent1"/>
                </a:solidFill>
              </a:rPr>
              <a:t>Dense Pattern</a:t>
            </a:r>
            <a:endParaRPr lang="ja-JP" altLang="ja-JP" b="1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484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70F29D29-6F84-8439-DA30-870DD98CA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500AE912-34F5-E3D1-A19D-CBC529E3D5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09" y="1122218"/>
            <a:ext cx="8821882" cy="82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Analysts need to know </a:t>
            </a:r>
            <a:r>
              <a:rPr lang="ja-JP" altLang="ja-JP" b="1">
                <a:solidFill>
                  <a:srgbClr val="C00000"/>
                </a:solidFill>
              </a:rPr>
              <a:t>what</a:t>
            </a:r>
            <a:r>
              <a:rPr lang="ja-JP" altLang="ja-JP"/>
              <a:t> is co-occurring and </a:t>
            </a:r>
            <a:r>
              <a:rPr lang="ja-JP" altLang="ja-JP" b="1">
                <a:solidFill>
                  <a:srgbClr val="C00000"/>
                </a:solidFill>
              </a:rPr>
              <a:t>where</a:t>
            </a:r>
            <a:r>
              <a:rPr lang="ja-JP" altLang="ja-JP"/>
              <a:t> &amp; </a:t>
            </a:r>
            <a:r>
              <a:rPr lang="ja-JP" altLang="ja-JP" b="1">
                <a:solidFill>
                  <a:srgbClr val="C00000"/>
                </a:solidFill>
              </a:rPr>
              <a:t>when</a:t>
            </a:r>
            <a:r>
              <a:rPr lang="ja-JP" altLang="ja-JP"/>
              <a:t> it is dense — simultaneously. Neither question alone is actionable.</a:t>
            </a:r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0507DD72-2EBD-A49C-E55A-F1BA904954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ja-JP" b="1" dirty="0"/>
              <a:t>Motivation : The “What, When, Where” Question</a:t>
            </a:r>
            <a:endParaRPr b="1" dirty="0"/>
          </a:p>
        </p:txBody>
      </p:sp>
      <p:sp>
        <p:nvSpPr>
          <p:cNvPr id="3" name="山形 2">
            <a:extLst>
              <a:ext uri="{FF2B5EF4-FFF2-40B4-BE49-F238E27FC236}">
                <a16:creationId xmlns:a16="http://schemas.microsoft.com/office/drawing/2014/main" id="{00B10D28-ABFD-B6C4-6314-E21B50A4FCCD}"/>
              </a:ext>
            </a:extLst>
          </p:cNvPr>
          <p:cNvSpPr/>
          <p:nvPr/>
        </p:nvSpPr>
        <p:spPr>
          <a:xfrm>
            <a:off x="867756" y="5315941"/>
            <a:ext cx="1800480" cy="599987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chemeClr val="bg1"/>
                </a:solidFill>
              </a:rPr>
              <a:t>What</a:t>
            </a:r>
            <a:endParaRPr kumimoji="1" lang="ja-JP" altLang="en-US" sz="2000" b="1">
              <a:solidFill>
                <a:schemeClr val="bg1"/>
              </a:solidFill>
            </a:endParaRPr>
          </a:p>
        </p:txBody>
      </p:sp>
      <p:sp>
        <p:nvSpPr>
          <p:cNvPr id="4" name="山形 3">
            <a:extLst>
              <a:ext uri="{FF2B5EF4-FFF2-40B4-BE49-F238E27FC236}">
                <a16:creationId xmlns:a16="http://schemas.microsoft.com/office/drawing/2014/main" id="{11C3E607-A16F-C26F-CDE9-9D31CD772132}"/>
              </a:ext>
            </a:extLst>
          </p:cNvPr>
          <p:cNvSpPr/>
          <p:nvPr/>
        </p:nvSpPr>
        <p:spPr>
          <a:xfrm>
            <a:off x="2500754" y="5315941"/>
            <a:ext cx="1800481" cy="599987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chemeClr val="bg1"/>
                </a:solidFill>
              </a:rPr>
              <a:t>Where</a:t>
            </a:r>
            <a:endParaRPr kumimoji="1" lang="ja-JP" altLang="en-US" sz="2000" b="1">
              <a:solidFill>
                <a:schemeClr val="bg1"/>
              </a:solidFill>
            </a:endParaRPr>
          </a:p>
        </p:txBody>
      </p:sp>
      <p:sp>
        <p:nvSpPr>
          <p:cNvPr id="5" name="山形 4">
            <a:extLst>
              <a:ext uri="{FF2B5EF4-FFF2-40B4-BE49-F238E27FC236}">
                <a16:creationId xmlns:a16="http://schemas.microsoft.com/office/drawing/2014/main" id="{70564795-018E-C507-067D-ADE59A01E86B}"/>
              </a:ext>
            </a:extLst>
          </p:cNvPr>
          <p:cNvSpPr/>
          <p:nvPr/>
        </p:nvSpPr>
        <p:spPr>
          <a:xfrm>
            <a:off x="4142820" y="5327025"/>
            <a:ext cx="1800479" cy="599987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chemeClr val="bg1"/>
                </a:solidFill>
              </a:rPr>
              <a:t>When</a:t>
            </a:r>
          </a:p>
        </p:txBody>
      </p:sp>
      <p:sp>
        <p:nvSpPr>
          <p:cNvPr id="6" name="山形 5">
            <a:extLst>
              <a:ext uri="{FF2B5EF4-FFF2-40B4-BE49-F238E27FC236}">
                <a16:creationId xmlns:a16="http://schemas.microsoft.com/office/drawing/2014/main" id="{9E81EF43-2310-9BCE-61B0-1A9C1B218786}"/>
              </a:ext>
            </a:extLst>
          </p:cNvPr>
          <p:cNvSpPr/>
          <p:nvPr/>
        </p:nvSpPr>
        <p:spPr>
          <a:xfrm>
            <a:off x="6988600" y="5327025"/>
            <a:ext cx="1800479" cy="599987"/>
          </a:xfrm>
          <a:prstGeom prst="chevr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chemeClr val="bg1"/>
                </a:solidFill>
              </a:rPr>
              <a:t>Action</a:t>
            </a:r>
          </a:p>
        </p:txBody>
      </p:sp>
      <p:pic>
        <p:nvPicPr>
          <p:cNvPr id="8" name="グラフィックス 7" descr="時計 単色塗りつぶし">
            <a:extLst>
              <a:ext uri="{FF2B5EF4-FFF2-40B4-BE49-F238E27FC236}">
                <a16:creationId xmlns:a16="http://schemas.microsoft.com/office/drawing/2014/main" id="{B12BDA40-07A1-1FE7-C4AC-703B54DA64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4963" y="4570557"/>
            <a:ext cx="696191" cy="696191"/>
          </a:xfrm>
          <a:prstGeom prst="rect">
            <a:avLst/>
          </a:prstGeom>
        </p:spPr>
      </p:pic>
      <p:pic>
        <p:nvPicPr>
          <p:cNvPr id="10" name="グラフィックス 9" descr="ピン止めした地図 単色塗りつぶし">
            <a:extLst>
              <a:ext uri="{FF2B5EF4-FFF2-40B4-BE49-F238E27FC236}">
                <a16:creationId xmlns:a16="http://schemas.microsoft.com/office/drawing/2014/main" id="{94D95037-6687-44D0-317B-6AADEF681B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76988" y="4537773"/>
            <a:ext cx="820882" cy="820882"/>
          </a:xfrm>
          <a:prstGeom prst="rect">
            <a:avLst/>
          </a:prstGeom>
        </p:spPr>
      </p:pic>
      <p:pic>
        <p:nvPicPr>
          <p:cNvPr id="14" name="グラフィックス 13" descr="ドキュメント 単色塗りつぶし">
            <a:extLst>
              <a:ext uri="{FF2B5EF4-FFF2-40B4-BE49-F238E27FC236}">
                <a16:creationId xmlns:a16="http://schemas.microsoft.com/office/drawing/2014/main" id="{00AD429C-BE15-83FA-E6A2-2CCBC41230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37067" y="4574141"/>
            <a:ext cx="748146" cy="748146"/>
          </a:xfrm>
          <a:prstGeom prst="rect">
            <a:avLst/>
          </a:prstGeom>
        </p:spPr>
      </p:pic>
      <p:pic>
        <p:nvPicPr>
          <p:cNvPr id="20" name="グラフィックス 19" descr="疑問符 単色塗りつぶし">
            <a:extLst>
              <a:ext uri="{FF2B5EF4-FFF2-40B4-BE49-F238E27FC236}">
                <a16:creationId xmlns:a16="http://schemas.microsoft.com/office/drawing/2014/main" id="{EE022AF7-4D00-7087-E2F4-D5D1C9307C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83613" y="4533951"/>
            <a:ext cx="769402" cy="769402"/>
          </a:xfrm>
          <a:prstGeom prst="rect">
            <a:avLst/>
          </a:prstGeom>
        </p:spPr>
      </p:pic>
      <p:pic>
        <p:nvPicPr>
          <p:cNvPr id="22" name="グラフィックス 21" descr="データベース 単色塗りつぶし">
            <a:extLst>
              <a:ext uri="{FF2B5EF4-FFF2-40B4-BE49-F238E27FC236}">
                <a16:creationId xmlns:a16="http://schemas.microsoft.com/office/drawing/2014/main" id="{818BFB0A-FC62-0B4F-6D54-C05E2A9611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12893" y="2117485"/>
            <a:ext cx="1241179" cy="1241179"/>
          </a:xfrm>
          <a:prstGeom prst="rect">
            <a:avLst/>
          </a:prstGeom>
        </p:spPr>
      </p:pic>
      <p:sp>
        <p:nvSpPr>
          <p:cNvPr id="23" name="三角形 22">
            <a:extLst>
              <a:ext uri="{FF2B5EF4-FFF2-40B4-BE49-F238E27FC236}">
                <a16:creationId xmlns:a16="http://schemas.microsoft.com/office/drawing/2014/main" id="{BBF35978-07EC-4F9D-1E92-0525FFEEB155}"/>
              </a:ext>
            </a:extLst>
          </p:cNvPr>
          <p:cNvSpPr/>
          <p:nvPr/>
        </p:nvSpPr>
        <p:spPr>
          <a:xfrm rot="10800000">
            <a:off x="3064492" y="3774948"/>
            <a:ext cx="537977" cy="400988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Google Shape;105;p2">
            <a:extLst>
              <a:ext uri="{FF2B5EF4-FFF2-40B4-BE49-F238E27FC236}">
                <a16:creationId xmlns:a16="http://schemas.microsoft.com/office/drawing/2014/main" id="{A34D7A61-9E19-F84E-7626-257D94CE87AF}"/>
              </a:ext>
            </a:extLst>
          </p:cNvPr>
          <p:cNvSpPr txBox="1">
            <a:spLocks/>
          </p:cNvSpPr>
          <p:nvPr/>
        </p:nvSpPr>
        <p:spPr>
          <a:xfrm>
            <a:off x="2094962" y="3207777"/>
            <a:ext cx="2477038" cy="442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Font typeface="Arial"/>
              <a:buNone/>
            </a:pPr>
            <a:r>
              <a:rPr lang="en-US" altLang="ja-JP" b="1" dirty="0">
                <a:solidFill>
                  <a:schemeClr val="accent1"/>
                </a:solidFill>
              </a:rPr>
              <a:t>Transaction </a:t>
            </a:r>
            <a:r>
              <a:rPr lang="en-US" altLang="ja-JP" b="1" dirty="0" err="1">
                <a:solidFill>
                  <a:schemeClr val="accent1"/>
                </a:solidFill>
              </a:rPr>
              <a:t>DataBase</a:t>
            </a:r>
            <a:endParaRPr lang="ja-JP" altLang="ja-JP" b="1">
              <a:solidFill>
                <a:schemeClr val="accent1"/>
              </a:solidFill>
            </a:endParaRPr>
          </a:p>
        </p:txBody>
      </p:sp>
      <p:sp>
        <p:nvSpPr>
          <p:cNvPr id="25" name="三角形 24">
            <a:extLst>
              <a:ext uri="{FF2B5EF4-FFF2-40B4-BE49-F238E27FC236}">
                <a16:creationId xmlns:a16="http://schemas.microsoft.com/office/drawing/2014/main" id="{111C43FF-FC11-EFC5-ECC8-F085E600114D}"/>
              </a:ext>
            </a:extLst>
          </p:cNvPr>
          <p:cNvSpPr/>
          <p:nvPr/>
        </p:nvSpPr>
        <p:spPr>
          <a:xfrm rot="5400000">
            <a:off x="6284211" y="5427150"/>
            <a:ext cx="537977" cy="400988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BF4958E6-B623-7419-FD7C-9AB30AF6B9FD}"/>
              </a:ext>
            </a:extLst>
          </p:cNvPr>
          <p:cNvSpPr/>
          <p:nvPr/>
        </p:nvSpPr>
        <p:spPr>
          <a:xfrm>
            <a:off x="539931" y="4444253"/>
            <a:ext cx="5701785" cy="17582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Google Shape;105;p2">
            <a:extLst>
              <a:ext uri="{FF2B5EF4-FFF2-40B4-BE49-F238E27FC236}">
                <a16:creationId xmlns:a16="http://schemas.microsoft.com/office/drawing/2014/main" id="{7E201582-75EA-A781-13FE-15DFDD331CB1}"/>
              </a:ext>
            </a:extLst>
          </p:cNvPr>
          <p:cNvSpPr txBox="1">
            <a:spLocks/>
          </p:cNvSpPr>
          <p:nvPr/>
        </p:nvSpPr>
        <p:spPr>
          <a:xfrm>
            <a:off x="2515240" y="6031015"/>
            <a:ext cx="1771507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  <a:buFont typeface="Arial"/>
              <a:buNone/>
            </a:pPr>
            <a:r>
              <a:rPr lang="en-US" altLang="ja-JP" b="1" dirty="0">
                <a:solidFill>
                  <a:schemeClr val="accent1"/>
                </a:solidFill>
              </a:rPr>
              <a:t>Dense Pattern</a:t>
            </a:r>
            <a:endParaRPr lang="ja-JP" altLang="ja-JP" b="1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8847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B158AB5D-1A45-84A9-5F8A-8C3102F8B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44CACCF4-2C36-1EBC-8F95-2AB9011D2F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09" y="1122218"/>
            <a:ext cx="8821882" cy="82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Analysts need to know </a:t>
            </a:r>
            <a:r>
              <a:rPr lang="ja-JP" altLang="ja-JP" b="1">
                <a:solidFill>
                  <a:srgbClr val="C00000"/>
                </a:solidFill>
              </a:rPr>
              <a:t>what</a:t>
            </a:r>
            <a:r>
              <a:rPr lang="ja-JP" altLang="ja-JP"/>
              <a:t> is co-occurring and </a:t>
            </a:r>
            <a:r>
              <a:rPr lang="ja-JP" altLang="ja-JP" b="1">
                <a:solidFill>
                  <a:srgbClr val="C00000"/>
                </a:solidFill>
              </a:rPr>
              <a:t>where</a:t>
            </a:r>
            <a:r>
              <a:rPr lang="ja-JP" altLang="ja-JP"/>
              <a:t> &amp; </a:t>
            </a:r>
            <a:r>
              <a:rPr lang="ja-JP" altLang="ja-JP" b="1">
                <a:solidFill>
                  <a:srgbClr val="C00000"/>
                </a:solidFill>
              </a:rPr>
              <a:t>when</a:t>
            </a:r>
            <a:r>
              <a:rPr lang="ja-JP" altLang="ja-JP"/>
              <a:t> it is dense — simultaneously. Neither question alone is actionable.</a:t>
            </a:r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B88B4C67-2AA2-6C2D-26C6-F28CB79594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ja-JP" b="1" dirty="0"/>
              <a:t>Motivation : The “What, When, Where” Question</a:t>
            </a:r>
            <a:endParaRPr b="1" dirty="0"/>
          </a:p>
        </p:txBody>
      </p: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350D0E5A-5F6C-9686-2A7F-349633FA5EBD}"/>
              </a:ext>
            </a:extLst>
          </p:cNvPr>
          <p:cNvGrpSpPr/>
          <p:nvPr/>
        </p:nvGrpSpPr>
        <p:grpSpPr>
          <a:xfrm>
            <a:off x="174282" y="2135538"/>
            <a:ext cx="8516880" cy="3909118"/>
            <a:chOff x="256889" y="2123346"/>
            <a:chExt cx="8516880" cy="3909118"/>
          </a:xfrm>
        </p:grpSpPr>
        <p:sp>
          <p:nvSpPr>
            <p:cNvPr id="3" name="山形 2">
              <a:extLst>
                <a:ext uri="{FF2B5EF4-FFF2-40B4-BE49-F238E27FC236}">
                  <a16:creationId xmlns:a16="http://schemas.microsoft.com/office/drawing/2014/main" id="{DBE883CF-D087-3E3E-3085-7CE295231CCE}"/>
                </a:ext>
              </a:extLst>
            </p:cNvPr>
            <p:cNvSpPr/>
            <p:nvPr/>
          </p:nvSpPr>
          <p:spPr>
            <a:xfrm>
              <a:off x="2074294" y="2905336"/>
              <a:ext cx="1800480" cy="599987"/>
            </a:xfrm>
            <a:prstGeom prst="chevron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000" b="1" dirty="0">
                  <a:solidFill>
                    <a:schemeClr val="bg1"/>
                  </a:solidFill>
                </a:rPr>
                <a:t>What</a:t>
              </a:r>
              <a:endParaRPr kumimoji="1" lang="ja-JP" altLang="en-US" sz="2000" b="1">
                <a:solidFill>
                  <a:schemeClr val="bg1"/>
                </a:solidFill>
              </a:endParaRPr>
            </a:p>
          </p:txBody>
        </p:sp>
        <p:sp>
          <p:nvSpPr>
            <p:cNvPr id="4" name="山形 3">
              <a:extLst>
                <a:ext uri="{FF2B5EF4-FFF2-40B4-BE49-F238E27FC236}">
                  <a16:creationId xmlns:a16="http://schemas.microsoft.com/office/drawing/2014/main" id="{1DC0A651-99C4-8220-2AA2-BB7609DE5421}"/>
                </a:ext>
              </a:extLst>
            </p:cNvPr>
            <p:cNvSpPr/>
            <p:nvPr/>
          </p:nvSpPr>
          <p:spPr>
            <a:xfrm>
              <a:off x="3707292" y="2905336"/>
              <a:ext cx="1800481" cy="59998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000" b="1" dirty="0">
                  <a:solidFill>
                    <a:schemeClr val="bg1"/>
                  </a:solidFill>
                </a:rPr>
                <a:t>Where</a:t>
              </a:r>
              <a:endParaRPr kumimoji="1" lang="ja-JP" altLang="en-US" sz="2000" b="1">
                <a:solidFill>
                  <a:schemeClr val="bg1"/>
                </a:solidFill>
              </a:endParaRPr>
            </a:p>
          </p:txBody>
        </p:sp>
        <p:sp>
          <p:nvSpPr>
            <p:cNvPr id="5" name="山形 4">
              <a:extLst>
                <a:ext uri="{FF2B5EF4-FFF2-40B4-BE49-F238E27FC236}">
                  <a16:creationId xmlns:a16="http://schemas.microsoft.com/office/drawing/2014/main" id="{C68BF3B2-8769-7C21-310A-A52B2A42CF8B}"/>
                </a:ext>
              </a:extLst>
            </p:cNvPr>
            <p:cNvSpPr/>
            <p:nvPr/>
          </p:nvSpPr>
          <p:spPr>
            <a:xfrm>
              <a:off x="5349358" y="2916420"/>
              <a:ext cx="1800479" cy="59998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000" b="1" dirty="0">
                  <a:solidFill>
                    <a:schemeClr val="bg1"/>
                  </a:solidFill>
                </a:rPr>
                <a:t>When</a:t>
              </a:r>
            </a:p>
          </p:txBody>
        </p:sp>
        <p:sp>
          <p:nvSpPr>
            <p:cNvPr id="6" name="山形 5">
              <a:extLst>
                <a:ext uri="{FF2B5EF4-FFF2-40B4-BE49-F238E27FC236}">
                  <a16:creationId xmlns:a16="http://schemas.microsoft.com/office/drawing/2014/main" id="{A2B00F9C-7B49-0663-DCC8-7C4379ABCFF4}"/>
                </a:ext>
              </a:extLst>
            </p:cNvPr>
            <p:cNvSpPr/>
            <p:nvPr/>
          </p:nvSpPr>
          <p:spPr>
            <a:xfrm>
              <a:off x="6973290" y="2916420"/>
              <a:ext cx="1800479" cy="599987"/>
            </a:xfrm>
            <a:prstGeom prst="chevron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000" b="1" dirty="0">
                  <a:solidFill>
                    <a:schemeClr val="bg1"/>
                  </a:solidFill>
                </a:rPr>
                <a:t>Action</a:t>
              </a:r>
            </a:p>
          </p:txBody>
        </p:sp>
        <p:pic>
          <p:nvPicPr>
            <p:cNvPr id="8" name="グラフィックス 7" descr="時計 単色塗りつぶし">
              <a:extLst>
                <a:ext uri="{FF2B5EF4-FFF2-40B4-BE49-F238E27FC236}">
                  <a16:creationId xmlns:a16="http://schemas.microsoft.com/office/drawing/2014/main" id="{15F5D9B3-FB60-2FD8-FE5A-F4DC083DCC1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01501" y="2159952"/>
              <a:ext cx="696191" cy="696191"/>
            </a:xfrm>
            <a:prstGeom prst="rect">
              <a:avLst/>
            </a:prstGeom>
          </p:spPr>
        </p:pic>
        <p:pic>
          <p:nvPicPr>
            <p:cNvPr id="10" name="グラフィックス 9" descr="ピン止めした地図 単色塗りつぶし">
              <a:extLst>
                <a:ext uri="{FF2B5EF4-FFF2-40B4-BE49-F238E27FC236}">
                  <a16:creationId xmlns:a16="http://schemas.microsoft.com/office/drawing/2014/main" id="{703E554A-C7F0-80AE-0060-90D18AD3B1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183526" y="2127168"/>
              <a:ext cx="820882" cy="820882"/>
            </a:xfrm>
            <a:prstGeom prst="rect">
              <a:avLst/>
            </a:prstGeom>
          </p:spPr>
        </p:pic>
        <p:pic>
          <p:nvPicPr>
            <p:cNvPr id="14" name="グラフィックス 13" descr="ドキュメント 単色塗りつぶし">
              <a:extLst>
                <a:ext uri="{FF2B5EF4-FFF2-40B4-BE49-F238E27FC236}">
                  <a16:creationId xmlns:a16="http://schemas.microsoft.com/office/drawing/2014/main" id="{730EC5AF-684B-D687-3B51-97DCCA6DDD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421757" y="2163536"/>
              <a:ext cx="748146" cy="748146"/>
            </a:xfrm>
            <a:prstGeom prst="rect">
              <a:avLst/>
            </a:prstGeom>
          </p:spPr>
        </p:pic>
        <p:pic>
          <p:nvPicPr>
            <p:cNvPr id="20" name="グラフィックス 19" descr="疑問符 単色塗りつぶし">
              <a:extLst>
                <a:ext uri="{FF2B5EF4-FFF2-40B4-BE49-F238E27FC236}">
                  <a16:creationId xmlns:a16="http://schemas.microsoft.com/office/drawing/2014/main" id="{12041A1D-5DE9-E78D-0CAE-954B324758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590151" y="2123346"/>
              <a:ext cx="769402" cy="769402"/>
            </a:xfrm>
            <a:prstGeom prst="rect">
              <a:avLst/>
            </a:prstGeom>
          </p:spPr>
        </p:pic>
        <p:sp>
          <p:nvSpPr>
            <p:cNvPr id="15" name="Google Shape;105;p2">
              <a:extLst>
                <a:ext uri="{FF2B5EF4-FFF2-40B4-BE49-F238E27FC236}">
                  <a16:creationId xmlns:a16="http://schemas.microsoft.com/office/drawing/2014/main" id="{46656363-2623-5B19-CE72-A2B699A3FC54}"/>
                </a:ext>
              </a:extLst>
            </p:cNvPr>
            <p:cNvSpPr txBox="1">
              <a:spLocks/>
            </p:cNvSpPr>
            <p:nvPr/>
          </p:nvSpPr>
          <p:spPr>
            <a:xfrm>
              <a:off x="2162643" y="3854984"/>
              <a:ext cx="1626177" cy="4598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55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  <a:defRPr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L="914400" marR="0" lvl="1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2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L="1371600" marR="0" lvl="2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L="1828800" marR="0" lvl="3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L="2286000" marR="0" lvl="4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»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L="2743200" marR="0" lvl="5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L="3200400" marR="0" lvl="6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L="3657600" marR="0" lvl="7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L="4114800" marR="0" lvl="8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indent="0">
                <a:spcBef>
                  <a:spcPts val="0"/>
                </a:spcBef>
                <a:buFont typeface="Arial"/>
                <a:buNone/>
              </a:pPr>
              <a:r>
                <a:rPr lang="en-US" altLang="ja-JP" sz="1800" b="1" dirty="0"/>
                <a:t>Beer &amp; chips</a:t>
              </a:r>
              <a:endParaRPr lang="ja-JP" altLang="ja-JP" sz="1800" b="1"/>
            </a:p>
          </p:txBody>
        </p:sp>
        <p:sp>
          <p:nvSpPr>
            <p:cNvPr id="16" name="Google Shape;105;p2">
              <a:extLst>
                <a:ext uri="{FF2B5EF4-FFF2-40B4-BE49-F238E27FC236}">
                  <a16:creationId xmlns:a16="http://schemas.microsoft.com/office/drawing/2014/main" id="{DAB0CFEE-B9B3-3743-7767-2007D55E8DE1}"/>
                </a:ext>
              </a:extLst>
            </p:cNvPr>
            <p:cNvSpPr txBox="1">
              <a:spLocks/>
            </p:cNvSpPr>
            <p:nvPr/>
          </p:nvSpPr>
          <p:spPr>
            <a:xfrm>
              <a:off x="3998142" y="3854985"/>
              <a:ext cx="1257300" cy="4598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55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  <a:defRPr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L="914400" marR="0" lvl="1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2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L="1371600" marR="0" lvl="2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L="1828800" marR="0" lvl="3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L="2286000" marR="0" lvl="4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»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L="2743200" marR="0" lvl="5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L="3200400" marR="0" lvl="6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L="3657600" marR="0" lvl="7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L="4114800" marR="0" lvl="8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indent="0">
                <a:spcBef>
                  <a:spcPts val="0"/>
                </a:spcBef>
                <a:buFont typeface="Arial"/>
                <a:buNone/>
              </a:pPr>
              <a:r>
                <a:rPr lang="en-US" altLang="ja-JP" sz="1800" b="1" dirty="0"/>
                <a:t>In Area A</a:t>
              </a:r>
              <a:endParaRPr lang="ja-JP" altLang="ja-JP" sz="1800" b="1"/>
            </a:p>
          </p:txBody>
        </p:sp>
        <p:sp>
          <p:nvSpPr>
            <p:cNvPr id="17" name="Google Shape;105;p2">
              <a:extLst>
                <a:ext uri="{FF2B5EF4-FFF2-40B4-BE49-F238E27FC236}">
                  <a16:creationId xmlns:a16="http://schemas.microsoft.com/office/drawing/2014/main" id="{6231A3D2-6EB9-7591-851A-0E92D179E47D}"/>
                </a:ext>
              </a:extLst>
            </p:cNvPr>
            <p:cNvSpPr txBox="1">
              <a:spLocks/>
            </p:cNvSpPr>
            <p:nvPr/>
          </p:nvSpPr>
          <p:spPr>
            <a:xfrm>
              <a:off x="5548445" y="3854985"/>
              <a:ext cx="1454725" cy="4598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55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  <a:defRPr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L="914400" marR="0" lvl="1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2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L="1371600" marR="0" lvl="2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L="1828800" marR="0" lvl="3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L="2286000" marR="0" lvl="4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»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L="2743200" marR="0" lvl="5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L="3200400" marR="0" lvl="6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L="3657600" marR="0" lvl="7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L="4114800" marR="0" lvl="8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indent="0">
                <a:spcBef>
                  <a:spcPts val="0"/>
                </a:spcBef>
                <a:buFont typeface="Arial"/>
                <a:buNone/>
              </a:pPr>
              <a:r>
                <a:rPr lang="en-US" altLang="ja-JP" sz="1800" b="1" dirty="0"/>
                <a:t>Friday night</a:t>
              </a:r>
              <a:endParaRPr lang="ja-JP" altLang="ja-JP" sz="1800" b="1"/>
            </a:p>
          </p:txBody>
        </p:sp>
        <p:sp>
          <p:nvSpPr>
            <p:cNvPr id="18" name="Google Shape;105;p2">
              <a:extLst>
                <a:ext uri="{FF2B5EF4-FFF2-40B4-BE49-F238E27FC236}">
                  <a16:creationId xmlns:a16="http://schemas.microsoft.com/office/drawing/2014/main" id="{33B6FADF-17DD-982B-7378-92AE99B1BC62}"/>
                </a:ext>
              </a:extLst>
            </p:cNvPr>
            <p:cNvSpPr txBox="1">
              <a:spLocks/>
            </p:cNvSpPr>
            <p:nvPr/>
          </p:nvSpPr>
          <p:spPr>
            <a:xfrm>
              <a:off x="7296173" y="3854985"/>
              <a:ext cx="1257300" cy="4598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55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  <a:defRPr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L="914400" marR="0" lvl="1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2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L="1371600" marR="0" lvl="2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L="1828800" marR="0" lvl="3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L="2286000" marR="0" lvl="4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»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L="2743200" marR="0" lvl="5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L="3200400" marR="0" lvl="6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L="3657600" marR="0" lvl="7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L="4114800" marR="0" lvl="8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indent="0">
                <a:spcBef>
                  <a:spcPts val="0"/>
                </a:spcBef>
                <a:buFont typeface="Arial"/>
                <a:buNone/>
              </a:pPr>
              <a:r>
                <a:rPr lang="en-US" altLang="ja-JP" sz="1800" b="1" dirty="0"/>
                <a:t>Coupon</a:t>
              </a:r>
              <a:endParaRPr lang="ja-JP" altLang="ja-JP" sz="1800" b="1"/>
            </a:p>
          </p:txBody>
        </p:sp>
        <p:sp>
          <p:nvSpPr>
            <p:cNvPr id="7" name="Google Shape;105;p2">
              <a:extLst>
                <a:ext uri="{FF2B5EF4-FFF2-40B4-BE49-F238E27FC236}">
                  <a16:creationId xmlns:a16="http://schemas.microsoft.com/office/drawing/2014/main" id="{65C9654A-9ED6-70DC-FE03-5B536331C4DA}"/>
                </a:ext>
              </a:extLst>
            </p:cNvPr>
            <p:cNvSpPr txBox="1">
              <a:spLocks/>
            </p:cNvSpPr>
            <p:nvPr/>
          </p:nvSpPr>
          <p:spPr>
            <a:xfrm>
              <a:off x="1931496" y="4539291"/>
              <a:ext cx="1945147" cy="5999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 fontScale="92500" lnSpcReduction="10000"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55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  <a:defRPr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L="914400" marR="0" lvl="1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2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L="1371600" marR="0" lvl="2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L="1828800" marR="0" lvl="3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L="2286000" marR="0" lvl="4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»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L="2743200" marR="0" lvl="5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L="3200400" marR="0" lvl="6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L="3657600" marR="0" lvl="7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L="4114800" marR="0" lvl="8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indent="0" algn="ctr">
                <a:spcBef>
                  <a:spcPts val="0"/>
                </a:spcBef>
                <a:buFont typeface="Arial"/>
                <a:buNone/>
              </a:pPr>
              <a:r>
                <a:rPr lang="en-US" altLang="ja-JP" sz="1800" b="1" dirty="0"/>
                <a:t>Assault &amp; </a:t>
              </a:r>
            </a:p>
            <a:p>
              <a:pPr marL="0" indent="0" algn="ctr">
                <a:spcBef>
                  <a:spcPts val="0"/>
                </a:spcBef>
                <a:buFont typeface="Arial"/>
                <a:buNone/>
              </a:pPr>
              <a:r>
                <a:rPr lang="en-US" altLang="ja-JP" sz="1800" b="1" dirty="0"/>
                <a:t>Battery</a:t>
              </a:r>
              <a:endParaRPr lang="ja-JP" altLang="ja-JP" sz="1800" b="1"/>
            </a:p>
          </p:txBody>
        </p:sp>
        <p:sp>
          <p:nvSpPr>
            <p:cNvPr id="9" name="Google Shape;105;p2">
              <a:extLst>
                <a:ext uri="{FF2B5EF4-FFF2-40B4-BE49-F238E27FC236}">
                  <a16:creationId xmlns:a16="http://schemas.microsoft.com/office/drawing/2014/main" id="{70ED4464-B996-F1A3-DEA0-84CB47327649}"/>
                </a:ext>
              </a:extLst>
            </p:cNvPr>
            <p:cNvSpPr txBox="1">
              <a:spLocks/>
            </p:cNvSpPr>
            <p:nvPr/>
          </p:nvSpPr>
          <p:spPr>
            <a:xfrm>
              <a:off x="3874774" y="4632937"/>
              <a:ext cx="1733279" cy="4598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55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  <a:defRPr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L="914400" marR="0" lvl="1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2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L="1371600" marR="0" lvl="2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L="1828800" marR="0" lvl="3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L="2286000" marR="0" lvl="4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»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L="2743200" marR="0" lvl="5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L="3200400" marR="0" lvl="6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L="3657600" marR="0" lvl="7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L="4114800" marR="0" lvl="8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indent="0">
                <a:spcBef>
                  <a:spcPts val="0"/>
                </a:spcBef>
                <a:buFont typeface="Arial"/>
                <a:buNone/>
              </a:pPr>
              <a:r>
                <a:rPr lang="en-US" altLang="ja-JP" sz="1800" b="1" dirty="0"/>
                <a:t>In Downtown</a:t>
              </a:r>
              <a:endParaRPr lang="ja-JP" altLang="ja-JP" sz="1800" b="1"/>
            </a:p>
          </p:txBody>
        </p:sp>
        <p:sp>
          <p:nvSpPr>
            <p:cNvPr id="11" name="Google Shape;105;p2">
              <a:extLst>
                <a:ext uri="{FF2B5EF4-FFF2-40B4-BE49-F238E27FC236}">
                  <a16:creationId xmlns:a16="http://schemas.microsoft.com/office/drawing/2014/main" id="{F22EB8B1-0A88-AC71-5F55-4FB843A57BCA}"/>
                </a:ext>
              </a:extLst>
            </p:cNvPr>
            <p:cNvSpPr txBox="1">
              <a:spLocks/>
            </p:cNvSpPr>
            <p:nvPr/>
          </p:nvSpPr>
          <p:spPr>
            <a:xfrm>
              <a:off x="5698924" y="4609382"/>
              <a:ext cx="1304246" cy="4598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55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  <a:defRPr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L="914400" marR="0" lvl="1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2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L="1371600" marR="0" lvl="2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L="1828800" marR="0" lvl="3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L="2286000" marR="0" lvl="4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»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L="2743200" marR="0" lvl="5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L="3200400" marR="0" lvl="6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L="3657600" marR="0" lvl="7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L="4114800" marR="0" lvl="8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indent="0">
                <a:spcBef>
                  <a:spcPts val="0"/>
                </a:spcBef>
                <a:buFont typeface="Arial"/>
                <a:buNone/>
              </a:pPr>
              <a:r>
                <a:rPr lang="en-US" altLang="ja-JP" sz="1800" b="1" dirty="0"/>
                <a:t>midnight</a:t>
              </a:r>
              <a:endParaRPr lang="ja-JP" altLang="ja-JP" sz="1800" b="1"/>
            </a:p>
          </p:txBody>
        </p:sp>
        <p:sp>
          <p:nvSpPr>
            <p:cNvPr id="12" name="Google Shape;105;p2">
              <a:extLst>
                <a:ext uri="{FF2B5EF4-FFF2-40B4-BE49-F238E27FC236}">
                  <a16:creationId xmlns:a16="http://schemas.microsoft.com/office/drawing/2014/main" id="{3E027276-9E10-A88D-0582-8A7F7509E9DA}"/>
                </a:ext>
              </a:extLst>
            </p:cNvPr>
            <p:cNvSpPr txBox="1">
              <a:spLocks/>
            </p:cNvSpPr>
            <p:nvPr/>
          </p:nvSpPr>
          <p:spPr>
            <a:xfrm>
              <a:off x="7087795" y="4609381"/>
              <a:ext cx="1685974" cy="4598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55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  <a:defRPr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L="914400" marR="0" lvl="1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2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L="1371600" marR="0" lvl="2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L="1828800" marR="0" lvl="3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L="2286000" marR="0" lvl="4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»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L="2743200" marR="0" lvl="5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L="3200400" marR="0" lvl="6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L="3657600" marR="0" lvl="7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L="4114800" marR="0" lvl="8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indent="0">
                <a:spcBef>
                  <a:spcPts val="0"/>
                </a:spcBef>
                <a:buFont typeface="Arial"/>
                <a:buNone/>
              </a:pPr>
              <a:r>
                <a:rPr lang="en-US" altLang="ja-JP" sz="1800" b="1" dirty="0"/>
                <a:t>Deploy Patrol</a:t>
              </a:r>
              <a:endParaRPr lang="ja-JP" altLang="ja-JP" sz="1800" b="1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EB44943A-B44B-6810-95C1-763F51752BE4}"/>
                </a:ext>
              </a:extLst>
            </p:cNvPr>
            <p:cNvSpPr/>
            <p:nvPr/>
          </p:nvSpPr>
          <p:spPr>
            <a:xfrm>
              <a:off x="256889" y="3594364"/>
              <a:ext cx="1733279" cy="72042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Retail</a:t>
              </a:r>
              <a:endParaRPr kumimoji="1" lang="ja-JP" altLang="en-US" sz="1800" b="1"/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A44CD027-8577-D04E-34E9-8ED912AEBCEC}"/>
                </a:ext>
              </a:extLst>
            </p:cNvPr>
            <p:cNvSpPr/>
            <p:nvPr/>
          </p:nvSpPr>
          <p:spPr>
            <a:xfrm>
              <a:off x="256889" y="4452400"/>
              <a:ext cx="1733279" cy="72042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Crime</a:t>
              </a:r>
              <a:endParaRPr kumimoji="1" lang="ja-JP" altLang="en-US" sz="1800" b="1"/>
            </a:p>
          </p:txBody>
        </p:sp>
        <p:sp>
          <p:nvSpPr>
            <p:cNvPr id="30" name="Google Shape;105;p2">
              <a:extLst>
                <a:ext uri="{FF2B5EF4-FFF2-40B4-BE49-F238E27FC236}">
                  <a16:creationId xmlns:a16="http://schemas.microsoft.com/office/drawing/2014/main" id="{F52E2208-56A0-1099-9A3A-7DCAB4F1EBC9}"/>
                </a:ext>
              </a:extLst>
            </p:cNvPr>
            <p:cNvSpPr txBox="1">
              <a:spLocks/>
            </p:cNvSpPr>
            <p:nvPr/>
          </p:nvSpPr>
          <p:spPr>
            <a:xfrm>
              <a:off x="1931496" y="5501131"/>
              <a:ext cx="1945147" cy="4260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55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  <a:defRPr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L="914400" marR="0" lvl="1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2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L="1371600" marR="0" lvl="2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L="1828800" marR="0" lvl="3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L="2286000" marR="0" lvl="4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»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L="2743200" marR="0" lvl="5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L="3200400" marR="0" lvl="6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L="3657600" marR="0" lvl="7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L="4114800" marR="0" lvl="8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indent="0" algn="ctr">
                <a:spcBef>
                  <a:spcPts val="0"/>
                </a:spcBef>
                <a:buNone/>
              </a:pPr>
              <a:r>
                <a:rPr lang="en" altLang="ja-JP" sz="1800" b="1" dirty="0"/>
                <a:t>Fever &amp; Cough</a:t>
              </a:r>
              <a:endParaRPr lang="ja-JP" altLang="ja-JP" sz="1800" b="1"/>
            </a:p>
          </p:txBody>
        </p:sp>
        <p:sp>
          <p:nvSpPr>
            <p:cNvPr id="31" name="Google Shape;105;p2">
              <a:extLst>
                <a:ext uri="{FF2B5EF4-FFF2-40B4-BE49-F238E27FC236}">
                  <a16:creationId xmlns:a16="http://schemas.microsoft.com/office/drawing/2014/main" id="{4CEE096D-0A64-1439-ADFD-3563CE07730E}"/>
                </a:ext>
              </a:extLst>
            </p:cNvPr>
            <p:cNvSpPr txBox="1">
              <a:spLocks/>
            </p:cNvSpPr>
            <p:nvPr/>
          </p:nvSpPr>
          <p:spPr>
            <a:xfrm>
              <a:off x="3998142" y="5490973"/>
              <a:ext cx="1609911" cy="4598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55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  <a:defRPr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L="914400" marR="0" lvl="1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2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L="1371600" marR="0" lvl="2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L="1828800" marR="0" lvl="3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L="2286000" marR="0" lvl="4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»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L="2743200" marR="0" lvl="5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L="3200400" marR="0" lvl="6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L="3657600" marR="0" lvl="7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L="4114800" marR="0" lvl="8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indent="0">
                <a:spcBef>
                  <a:spcPts val="0"/>
                </a:spcBef>
                <a:buNone/>
              </a:pPr>
              <a:r>
                <a:rPr lang="en-US" altLang="ja-JP" sz="1800" b="1" dirty="0"/>
                <a:t>In District 7</a:t>
              </a:r>
              <a:endParaRPr lang="ja-JP" altLang="ja-JP" sz="1800" b="1"/>
            </a:p>
          </p:txBody>
        </p:sp>
        <p:sp>
          <p:nvSpPr>
            <p:cNvPr id="32" name="Google Shape;105;p2">
              <a:extLst>
                <a:ext uri="{FF2B5EF4-FFF2-40B4-BE49-F238E27FC236}">
                  <a16:creationId xmlns:a16="http://schemas.microsoft.com/office/drawing/2014/main" id="{8EA6361D-DCB9-9182-00AE-EB7E88AB9F5B}"/>
                </a:ext>
              </a:extLst>
            </p:cNvPr>
            <p:cNvSpPr txBox="1">
              <a:spLocks/>
            </p:cNvSpPr>
            <p:nvPr/>
          </p:nvSpPr>
          <p:spPr>
            <a:xfrm>
              <a:off x="5608053" y="5467418"/>
              <a:ext cx="1395117" cy="4598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55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  <a:defRPr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L="914400" marR="0" lvl="1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2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L="1371600" marR="0" lvl="2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L="1828800" marR="0" lvl="3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L="2286000" marR="0" lvl="4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»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L="2743200" marR="0" lvl="5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L="3200400" marR="0" lvl="6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L="3657600" marR="0" lvl="7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L="4114800" marR="0" lvl="8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indent="0">
                <a:spcBef>
                  <a:spcPts val="0"/>
                </a:spcBef>
                <a:buFont typeface="Arial"/>
                <a:buNone/>
              </a:pPr>
              <a:r>
                <a:rPr lang="en-US" altLang="ja-JP" sz="1800" b="1" dirty="0"/>
                <a:t>week 12-14</a:t>
              </a:r>
              <a:endParaRPr lang="ja-JP" altLang="ja-JP" sz="1800" b="1"/>
            </a:p>
          </p:txBody>
        </p:sp>
        <p:sp>
          <p:nvSpPr>
            <p:cNvPr id="33" name="Google Shape;105;p2">
              <a:extLst>
                <a:ext uri="{FF2B5EF4-FFF2-40B4-BE49-F238E27FC236}">
                  <a16:creationId xmlns:a16="http://schemas.microsoft.com/office/drawing/2014/main" id="{418985CB-7A27-7682-23A4-E3A8AE51513D}"/>
                </a:ext>
              </a:extLst>
            </p:cNvPr>
            <p:cNvSpPr txBox="1">
              <a:spLocks/>
            </p:cNvSpPr>
            <p:nvPr/>
          </p:nvSpPr>
          <p:spPr>
            <a:xfrm>
              <a:off x="7011726" y="5312035"/>
              <a:ext cx="1685974" cy="7204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55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  <a:defRPr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L="914400" marR="0" lvl="1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2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L="1371600" marR="0" lvl="2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L="1828800" marR="0" lvl="3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L="2286000" marR="0" lvl="4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»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L="2743200" marR="0" lvl="5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L="3200400" marR="0" lvl="6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L="3657600" marR="0" lvl="7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L="4114800" marR="0" lvl="8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indent="0" algn="ctr">
                <a:spcBef>
                  <a:spcPts val="0"/>
                </a:spcBef>
                <a:buNone/>
              </a:pPr>
              <a:r>
                <a:rPr lang="en-US" altLang="ja-JP" sz="1800" b="1" dirty="0"/>
                <a:t>Dispatch Medical Team</a:t>
              </a:r>
              <a:endParaRPr lang="ja-JP" altLang="ja-JP" sz="1800" b="1"/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4FE26161-0DA2-AB7B-D03B-1A87D2F3FFA4}"/>
                </a:ext>
              </a:extLst>
            </p:cNvPr>
            <p:cNvSpPr/>
            <p:nvPr/>
          </p:nvSpPr>
          <p:spPr>
            <a:xfrm>
              <a:off x="256889" y="5310436"/>
              <a:ext cx="1733279" cy="72042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Epidemiology</a:t>
              </a:r>
              <a:endParaRPr kumimoji="1" lang="ja-JP" altLang="en-US" sz="1800" b="1"/>
            </a:p>
          </p:txBody>
        </p:sp>
      </p:grpSp>
    </p:spTree>
    <p:extLst>
      <p:ext uri="{BB962C8B-B14F-4D97-AF65-F5344CB8AC3E}">
        <p14:creationId xmlns:p14="http://schemas.microsoft.com/office/powerpoint/2010/main" val="1273810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7340B0FB-C896-CB17-CEE5-146915B1E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92926050-BFD1-0572-BCD7-EAF47B2F66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09" y="1122218"/>
            <a:ext cx="8821882" cy="1070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Pattern mining cannot output regions. Region detection cannot enumerate itemsets. This is a </a:t>
            </a:r>
            <a:r>
              <a:rPr lang="ja-JP" altLang="ja-JP" b="1">
                <a:solidFill>
                  <a:srgbClr val="C00000"/>
                </a:solidFill>
              </a:rPr>
              <a:t>structural</a:t>
            </a:r>
            <a:r>
              <a:rPr lang="ja-JP" altLang="ja-JP"/>
              <a:t> incompatibility — not fixable by tuning parameters.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819028A9-4B39-E7E5-9DB3-5087AABBCB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Existing Methods Cannot Answer Both Question</a:t>
            </a:r>
            <a:endParaRPr b="1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C8A0F5B-BF3F-EE7B-D8A6-F54DFB0F5C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641"/>
          <a:stretch>
            <a:fillRect/>
          </a:stretch>
        </p:blipFill>
        <p:spPr>
          <a:xfrm>
            <a:off x="1798268" y="2353729"/>
            <a:ext cx="5547464" cy="338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045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93CFAC2B-941E-6DD4-FE28-F391AA6A7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864FC9EE-A037-A2FE-EBC5-D286C03605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09" y="1122218"/>
            <a:ext cx="8821882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We propose three techniques that together exactly enumerate </a:t>
            </a:r>
            <a:r>
              <a:rPr lang="ja-JP" altLang="ja-JP" b="1">
                <a:solidFill>
                  <a:srgbClr val="C00000"/>
                </a:solidFill>
              </a:rPr>
              <a:t>all dense itemsets </a:t>
            </a:r>
            <a:r>
              <a:rPr lang="ja-JP" altLang="ja-JP"/>
              <a:t>and their </a:t>
            </a:r>
            <a:r>
              <a:rPr lang="ja-JP" altLang="ja-JP" b="1">
                <a:solidFill>
                  <a:srgbClr val="C00000"/>
                </a:solidFill>
              </a:rPr>
              <a:t>arbitrary-shaped dense regions</a:t>
            </a:r>
            <a:r>
              <a:rPr lang="ja-JP" altLang="ja-JP"/>
              <a:t> over </a:t>
            </a:r>
            <a:r>
              <a:rPr lang="ja-JP" altLang="ja-JP" b="1">
                <a:solidFill>
                  <a:srgbClr val="C00000"/>
                </a:solidFill>
              </a:rPr>
              <a:t>any d-dimensional grid</a:t>
            </a:r>
            <a:r>
              <a:rPr lang="ja-JP" altLang="ja-JP"/>
              <a:t>.</a:t>
            </a:r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80938299-F65A-518A-F411-170AD3C817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This Paper - </a:t>
            </a:r>
            <a:r>
              <a:rPr lang="en" altLang="ja-JP" b="1" dirty="0"/>
              <a:t>Multi-Dimensional </a:t>
            </a:r>
            <a:r>
              <a:rPr lang="en" altLang="ja-JP" b="1" dirty="0" err="1"/>
              <a:t>Apriori</a:t>
            </a:r>
            <a:r>
              <a:rPr lang="en" altLang="ja-JP" b="1" dirty="0"/>
              <a:t>-Window</a:t>
            </a:r>
            <a:endParaRPr b="1" dirty="0"/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B91F27CC-AF22-B1D2-0994-6758ACE71323}"/>
              </a:ext>
            </a:extLst>
          </p:cNvPr>
          <p:cNvGrpSpPr/>
          <p:nvPr/>
        </p:nvGrpSpPr>
        <p:grpSpPr>
          <a:xfrm>
            <a:off x="1338525" y="2429736"/>
            <a:ext cx="6352649" cy="930390"/>
            <a:chOff x="1439509" y="2530482"/>
            <a:chExt cx="6436799" cy="810491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4504DFD1-FFFE-E7DE-5813-69203AAAA74B}"/>
                </a:ext>
              </a:extLst>
            </p:cNvPr>
            <p:cNvSpPr/>
            <p:nvPr/>
          </p:nvSpPr>
          <p:spPr>
            <a:xfrm>
              <a:off x="1439509" y="2530482"/>
              <a:ext cx="6436799" cy="81049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ja-JP" sz="1800" b="1" dirty="0">
                <a:solidFill>
                  <a:schemeClr val="bg1"/>
                </a:solidFill>
              </a:endParaRPr>
            </a:p>
          </p:txBody>
        </p:sp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D8FDF003-306B-E4BE-AEA8-A513CD81D240}"/>
                </a:ext>
              </a:extLst>
            </p:cNvPr>
            <p:cNvSpPr/>
            <p:nvPr/>
          </p:nvSpPr>
          <p:spPr>
            <a:xfrm>
              <a:off x="1439509" y="2690155"/>
              <a:ext cx="6436799" cy="4911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900" b="1" dirty="0">
                  <a:solidFill>
                    <a:schemeClr val="bg1"/>
                  </a:solidFill>
                </a:rPr>
                <a:t>Reduction to 1D per fixed spatial start point</a:t>
              </a:r>
            </a:p>
          </p:txBody>
        </p:sp>
      </p:grp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F8C7B22B-050C-FBC1-4ED9-991637B986DF}"/>
              </a:ext>
            </a:extLst>
          </p:cNvPr>
          <p:cNvGrpSpPr/>
          <p:nvPr/>
        </p:nvGrpSpPr>
        <p:grpSpPr>
          <a:xfrm>
            <a:off x="1338524" y="3617564"/>
            <a:ext cx="6352650" cy="930390"/>
            <a:chOff x="1439509" y="2530482"/>
            <a:chExt cx="6436800" cy="810491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3D408EFA-EE6D-3A92-4271-0A47940E571E}"/>
                </a:ext>
              </a:extLst>
            </p:cNvPr>
            <p:cNvSpPr/>
            <p:nvPr/>
          </p:nvSpPr>
          <p:spPr>
            <a:xfrm>
              <a:off x="1439509" y="2530482"/>
              <a:ext cx="6436799" cy="81049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ja-JP" sz="1800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E4E74EEE-4288-7E54-116E-04A6F97F9031}"/>
                </a:ext>
              </a:extLst>
            </p:cNvPr>
            <p:cNvSpPr/>
            <p:nvPr/>
          </p:nvSpPr>
          <p:spPr>
            <a:xfrm>
              <a:off x="1439510" y="2690155"/>
              <a:ext cx="6436799" cy="4911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900" b="1" dirty="0" err="1">
                  <a:solidFill>
                    <a:schemeClr val="bg1"/>
                  </a:solidFill>
                </a:rPr>
                <a:t>Apriori</a:t>
              </a:r>
              <a:r>
                <a:rPr lang="en-US" altLang="ja-JP" sz="1900" b="1" dirty="0">
                  <a:solidFill>
                    <a:schemeClr val="bg1"/>
                  </a:solidFill>
                </a:rPr>
                <a:t> pruning via (k-1)-subset </a:t>
              </a:r>
            </a:p>
            <a:p>
              <a:pPr algn="ctr"/>
              <a:r>
                <a:rPr lang="en-US" altLang="ja-JP" sz="1900" b="1" dirty="0">
                  <a:solidFill>
                    <a:schemeClr val="bg1"/>
                  </a:solidFill>
                </a:rPr>
                <a:t>interval map intersection</a:t>
              </a:r>
            </a:p>
          </p:txBody>
        </p:sp>
      </p:grp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B6DA00E6-79BF-FCE8-5173-67AA726A0BEF}"/>
              </a:ext>
            </a:extLst>
          </p:cNvPr>
          <p:cNvGrpSpPr/>
          <p:nvPr/>
        </p:nvGrpSpPr>
        <p:grpSpPr>
          <a:xfrm>
            <a:off x="1338524" y="4805392"/>
            <a:ext cx="6352650" cy="930390"/>
            <a:chOff x="1439509" y="2530482"/>
            <a:chExt cx="6436800" cy="810491"/>
          </a:xfrm>
        </p:grpSpPr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E5991B3E-467A-5D61-7C79-680409C1C990}"/>
                </a:ext>
              </a:extLst>
            </p:cNvPr>
            <p:cNvSpPr/>
            <p:nvPr/>
          </p:nvSpPr>
          <p:spPr>
            <a:xfrm>
              <a:off x="1439509" y="2530482"/>
              <a:ext cx="6436799" cy="81049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ja-JP" sz="1800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B0CD887D-BFE6-C4AB-98CF-C6F850C43AF5}"/>
                </a:ext>
              </a:extLst>
            </p:cNvPr>
            <p:cNvSpPr/>
            <p:nvPr/>
          </p:nvSpPr>
          <p:spPr>
            <a:xfrm>
              <a:off x="1439510" y="2690155"/>
              <a:ext cx="6436799" cy="4911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900" b="1" dirty="0">
                  <a:solidFill>
                    <a:schemeClr val="bg1"/>
                  </a:solidFill>
                </a:rPr>
                <a:t>Duplicate-aware t-axis stride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28802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E498A468-3C83-E34F-AF9E-07FB23AF3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FAA40A5B-0BE3-FE37-15FC-51FD83A1B8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704109"/>
            <a:ext cx="8229600" cy="4422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57175" indent="-257175">
              <a:spcBef>
                <a:spcPts val="0"/>
              </a:spcBef>
            </a:pPr>
            <a:r>
              <a:rPr lang="en-US" dirty="0">
                <a:solidFill>
                  <a:schemeClr val="tx1"/>
                </a:solidFill>
              </a:rPr>
              <a:t>Introduction</a:t>
            </a:r>
          </a:p>
          <a:p>
            <a:pPr marL="257175" indent="-257175"/>
            <a:r>
              <a:rPr lang="en-US" altLang="ja-JP" b="1" dirty="0">
                <a:solidFill>
                  <a:schemeClr val="tx1"/>
                </a:solidFill>
              </a:rPr>
              <a:t>Background</a:t>
            </a:r>
          </a:p>
          <a:p>
            <a:pPr lvl="1">
              <a:spcBef>
                <a:spcPts val="420"/>
              </a:spcBef>
            </a:pPr>
            <a:r>
              <a:rPr lang="en-US" altLang="ja-JP" b="1" dirty="0">
                <a:solidFill>
                  <a:schemeClr val="tx1"/>
                </a:solidFill>
              </a:rPr>
              <a:t>Multi-</a:t>
            </a:r>
            <a:r>
              <a:rPr lang="en-US" altLang="ja-JP" b="1" dirty="0" err="1">
                <a:solidFill>
                  <a:schemeClr val="tx1"/>
                </a:solidFill>
              </a:rPr>
              <a:t>Dimentional</a:t>
            </a:r>
            <a:r>
              <a:rPr lang="en-US" altLang="ja-JP" b="1" dirty="0">
                <a:solidFill>
                  <a:schemeClr val="tx1"/>
                </a:solidFill>
              </a:rPr>
              <a:t> Transaction Data</a:t>
            </a:r>
          </a:p>
          <a:p>
            <a:pPr lvl="1">
              <a:spcBef>
                <a:spcPts val="420"/>
              </a:spcBef>
            </a:pPr>
            <a:r>
              <a:rPr lang="en-US" altLang="ja-JP" b="1" dirty="0">
                <a:solidFill>
                  <a:schemeClr val="tx1"/>
                </a:solidFill>
              </a:rPr>
              <a:t>Frequent Pattern &amp; Dense Pattern</a:t>
            </a:r>
          </a:p>
          <a:p>
            <a:pPr lvl="1">
              <a:spcBef>
                <a:spcPts val="420"/>
              </a:spcBef>
            </a:pPr>
            <a:r>
              <a:rPr lang="en-US" altLang="ja-JP" b="1" dirty="0">
                <a:solidFill>
                  <a:schemeClr val="tx1"/>
                </a:solidFill>
              </a:rPr>
              <a:t>The </a:t>
            </a:r>
            <a:r>
              <a:rPr lang="en-US" altLang="ja-JP" b="1" dirty="0" err="1">
                <a:solidFill>
                  <a:schemeClr val="tx1"/>
                </a:solidFill>
              </a:rPr>
              <a:t>Apriori</a:t>
            </a:r>
            <a:r>
              <a:rPr lang="en-US" altLang="ja-JP" b="1" dirty="0">
                <a:solidFill>
                  <a:schemeClr val="tx1"/>
                </a:solidFill>
              </a:rPr>
              <a:t> Property</a:t>
            </a:r>
            <a:endParaRPr lang="en" altLang="ja-JP" b="1" dirty="0">
              <a:solidFill>
                <a:schemeClr val="tx1"/>
              </a:solidFill>
            </a:endParaRPr>
          </a:p>
          <a:p>
            <a:pPr marL="257175" indent="-257175"/>
            <a:r>
              <a:rPr lang="en-US" altLang="ja-JP" dirty="0">
                <a:solidFill>
                  <a:schemeClr val="tx1"/>
                </a:solidFill>
              </a:rPr>
              <a:t>Proposed Method</a:t>
            </a:r>
          </a:p>
          <a:p>
            <a:pPr marL="257175" indent="-257175"/>
            <a:r>
              <a:rPr lang="en-US" altLang="ja-JP" dirty="0">
                <a:solidFill>
                  <a:schemeClr val="tx1"/>
                </a:solidFill>
              </a:rPr>
              <a:t>Experiments</a:t>
            </a:r>
          </a:p>
          <a:p>
            <a:pPr marL="257175" indent="-257175"/>
            <a:r>
              <a:rPr lang="en-US" altLang="ja-JP" dirty="0">
                <a:solidFill>
                  <a:schemeClr val="tx1"/>
                </a:solidFill>
              </a:rPr>
              <a:t>Conclusion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0EEA6C32-FA2E-729F-E6F6-9A16552731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09708"/>
            <a:ext cx="7886700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800" b="1" dirty="0"/>
              <a:t>Agenda</a:t>
            </a:r>
            <a:endParaRPr sz="2800" b="1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F7A2E62-7829-4C3A-3676-AC579270FC0D}"/>
              </a:ext>
            </a:extLst>
          </p:cNvPr>
          <p:cNvSpPr/>
          <p:nvPr/>
        </p:nvSpPr>
        <p:spPr>
          <a:xfrm>
            <a:off x="457200" y="1579419"/>
            <a:ext cx="7377545" cy="509690"/>
          </a:xfrm>
          <a:prstGeom prst="rect">
            <a:avLst/>
          </a:prstGeom>
          <a:solidFill>
            <a:srgbClr val="FFFFFF">
              <a:alpha val="8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E846F4F-1AF9-F642-18CF-AAEFEC0D134E}"/>
              </a:ext>
            </a:extLst>
          </p:cNvPr>
          <p:cNvSpPr/>
          <p:nvPr/>
        </p:nvSpPr>
        <p:spPr>
          <a:xfrm>
            <a:off x="457200" y="3579048"/>
            <a:ext cx="7377545" cy="1057179"/>
          </a:xfrm>
          <a:prstGeom prst="rect">
            <a:avLst/>
          </a:prstGeom>
          <a:solidFill>
            <a:srgbClr val="FFFFFF">
              <a:alpha val="8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9725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60DB4EAB-E30C-FA70-B4D8-C5D9AEAF8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A0BDDA8D-63B4-7ECA-BE8E-D5CB4A946D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09" y="1122218"/>
            <a:ext cx="8821882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1A transaction = coordinate vector + itemset. Extend from 1D time to d-dim by adding spatial axes. </a:t>
            </a:r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CB4E0A94-4926-7AC6-52EB-5E71508918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Multi-Dimensional Transaction Data</a:t>
            </a:r>
            <a:endParaRPr b="1" dirty="0"/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5F6588A4-EF67-56EE-4AED-95627F7CD81C}"/>
              </a:ext>
            </a:extLst>
          </p:cNvPr>
          <p:cNvGrpSpPr/>
          <p:nvPr/>
        </p:nvGrpSpPr>
        <p:grpSpPr>
          <a:xfrm>
            <a:off x="750322" y="2189977"/>
            <a:ext cx="1770002" cy="3985174"/>
            <a:chOff x="980297" y="2219241"/>
            <a:chExt cx="1770002" cy="3985174"/>
          </a:xfrm>
        </p:grpSpPr>
        <p:grpSp>
          <p:nvGrpSpPr>
            <p:cNvPr id="35" name="グループ化 34">
              <a:extLst>
                <a:ext uri="{FF2B5EF4-FFF2-40B4-BE49-F238E27FC236}">
                  <a16:creationId xmlns:a16="http://schemas.microsoft.com/office/drawing/2014/main" id="{AD3AE2C4-50DF-ED4F-75F6-C89BE71A2CE8}"/>
                </a:ext>
              </a:extLst>
            </p:cNvPr>
            <p:cNvGrpSpPr/>
            <p:nvPr/>
          </p:nvGrpSpPr>
          <p:grpSpPr>
            <a:xfrm>
              <a:off x="980297" y="2219241"/>
              <a:ext cx="1376867" cy="3240480"/>
              <a:chOff x="283978" y="2235529"/>
              <a:chExt cx="1376867" cy="3240480"/>
            </a:xfrm>
          </p:grpSpPr>
          <p:sp>
            <p:nvSpPr>
              <p:cNvPr id="5" name="Google Shape;105;p2">
                <a:extLst>
                  <a:ext uri="{FF2B5EF4-FFF2-40B4-BE49-F238E27FC236}">
                    <a16:creationId xmlns:a16="http://schemas.microsoft.com/office/drawing/2014/main" id="{FABCFF79-7F64-4131-9368-403B90BA8C1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3978" y="2235529"/>
                <a:ext cx="956424" cy="5750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2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»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en-US" altLang="ja-JP" sz="2400" b="1" dirty="0">
                    <a:solidFill>
                      <a:schemeClr val="tx1"/>
                    </a:solidFill>
                  </a:rPr>
                  <a:t>t</a:t>
                </a:r>
                <a:endParaRPr lang="ja-JP" altLang="ja-JP" sz="24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3" name="グループ化 32">
                <a:extLst>
                  <a:ext uri="{FF2B5EF4-FFF2-40B4-BE49-F238E27FC236}">
                    <a16:creationId xmlns:a16="http://schemas.microsoft.com/office/drawing/2014/main" id="{EF57340C-6F6E-614C-E1EE-3B2AFB829F50}"/>
                  </a:ext>
                </a:extLst>
              </p:cNvPr>
              <p:cNvGrpSpPr/>
              <p:nvPr/>
            </p:nvGrpSpPr>
            <p:grpSpPr>
              <a:xfrm>
                <a:off x="762190" y="2639291"/>
                <a:ext cx="898655" cy="2836718"/>
                <a:chOff x="762190" y="2639291"/>
                <a:chExt cx="898655" cy="2836718"/>
              </a:xfrm>
            </p:grpSpPr>
            <p:cxnSp>
              <p:nvCxnSpPr>
                <p:cNvPr id="2" name="直線矢印コネクタ 1">
                  <a:extLst>
                    <a:ext uri="{FF2B5EF4-FFF2-40B4-BE49-F238E27FC236}">
                      <a16:creationId xmlns:a16="http://schemas.microsoft.com/office/drawing/2014/main" id="{F244DF88-EEEB-9E79-747D-0DA6D28DD4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62190" y="2639291"/>
                  <a:ext cx="0" cy="2836718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2" name="正方形/長方形 11">
                  <a:extLst>
                    <a:ext uri="{FF2B5EF4-FFF2-40B4-BE49-F238E27FC236}">
                      <a16:creationId xmlns:a16="http://schemas.microsoft.com/office/drawing/2014/main" id="{8AFDD98C-84AD-54ED-395D-6389B6798921}"/>
                    </a:ext>
                  </a:extLst>
                </p:cNvPr>
                <p:cNvSpPr/>
                <p:nvPr/>
              </p:nvSpPr>
              <p:spPr>
                <a:xfrm>
                  <a:off x="978246" y="4793263"/>
                  <a:ext cx="673272" cy="46863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800" b="1" dirty="0"/>
                    <a:t>AB</a:t>
                  </a:r>
                  <a:endParaRPr kumimoji="1" lang="ja-JP" altLang="en-US" sz="1800" b="1"/>
                </a:p>
              </p:txBody>
            </p:sp>
            <p:sp>
              <p:nvSpPr>
                <p:cNvPr id="13" name="正方形/長方形 12">
                  <a:extLst>
                    <a:ext uri="{FF2B5EF4-FFF2-40B4-BE49-F238E27FC236}">
                      <a16:creationId xmlns:a16="http://schemas.microsoft.com/office/drawing/2014/main" id="{23BEC5A8-FAD8-768C-FB33-641B8EAC0C84}"/>
                    </a:ext>
                  </a:extLst>
                </p:cNvPr>
                <p:cNvSpPr/>
                <p:nvPr/>
              </p:nvSpPr>
              <p:spPr>
                <a:xfrm>
                  <a:off x="978246" y="4199214"/>
                  <a:ext cx="673272" cy="46863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800" b="1" dirty="0"/>
                    <a:t>A</a:t>
                  </a:r>
                  <a:endParaRPr kumimoji="1" lang="ja-JP" altLang="en-US" sz="1800" b="1"/>
                </a:p>
              </p:txBody>
            </p:sp>
            <p:sp>
              <p:nvSpPr>
                <p:cNvPr id="14" name="正方形/長方形 13">
                  <a:extLst>
                    <a:ext uri="{FF2B5EF4-FFF2-40B4-BE49-F238E27FC236}">
                      <a16:creationId xmlns:a16="http://schemas.microsoft.com/office/drawing/2014/main" id="{E226E4EE-0471-58E4-889F-5375EB860A4E}"/>
                    </a:ext>
                  </a:extLst>
                </p:cNvPr>
                <p:cNvSpPr/>
                <p:nvPr/>
              </p:nvSpPr>
              <p:spPr>
                <a:xfrm>
                  <a:off x="987573" y="3605165"/>
                  <a:ext cx="673272" cy="46863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800" b="1" dirty="0"/>
                    <a:t>BC</a:t>
                  </a:r>
                  <a:endParaRPr kumimoji="1" lang="ja-JP" altLang="en-US" sz="1800" b="1"/>
                </a:p>
              </p:txBody>
            </p:sp>
            <p:sp>
              <p:nvSpPr>
                <p:cNvPr id="15" name="正方形/長方形 14">
                  <a:extLst>
                    <a:ext uri="{FF2B5EF4-FFF2-40B4-BE49-F238E27FC236}">
                      <a16:creationId xmlns:a16="http://schemas.microsoft.com/office/drawing/2014/main" id="{72F47D06-43F0-D1DE-20C9-43FF5F1BBA92}"/>
                    </a:ext>
                  </a:extLst>
                </p:cNvPr>
                <p:cNvSpPr/>
                <p:nvPr/>
              </p:nvSpPr>
              <p:spPr>
                <a:xfrm>
                  <a:off x="978246" y="3024698"/>
                  <a:ext cx="673272" cy="46863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800" b="1" dirty="0"/>
                    <a:t>C</a:t>
                  </a:r>
                  <a:endParaRPr kumimoji="1" lang="ja-JP" altLang="en-US" sz="1800" b="1"/>
                </a:p>
              </p:txBody>
            </p:sp>
          </p:grpSp>
        </p:grpSp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86C7A5A2-6A43-BADC-5B11-329FAC2DE79B}"/>
                </a:ext>
              </a:extLst>
            </p:cNvPr>
            <p:cNvSpPr/>
            <p:nvPr/>
          </p:nvSpPr>
          <p:spPr>
            <a:xfrm>
              <a:off x="1123142" y="5735782"/>
              <a:ext cx="1627157" cy="4686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u="sng" dirty="0">
                  <a:solidFill>
                    <a:schemeClr val="tx1"/>
                  </a:solidFill>
                </a:rPr>
                <a:t>1-Dimension</a:t>
              </a:r>
              <a:endParaRPr kumimoji="1" lang="ja-JP" altLang="en-US" sz="1800" b="1" u="sng">
                <a:solidFill>
                  <a:schemeClr val="tx1"/>
                </a:solidFill>
              </a:endParaRPr>
            </a:p>
          </p:txBody>
        </p:sp>
      </p:grp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180F012A-6C82-C3BB-EF3A-BBA58B23D4AE}"/>
              </a:ext>
            </a:extLst>
          </p:cNvPr>
          <p:cNvGrpSpPr/>
          <p:nvPr/>
        </p:nvGrpSpPr>
        <p:grpSpPr>
          <a:xfrm>
            <a:off x="2902820" y="2206265"/>
            <a:ext cx="3948582" cy="3968886"/>
            <a:chOff x="4572000" y="2219241"/>
            <a:chExt cx="3948582" cy="3968886"/>
          </a:xfrm>
        </p:grpSpPr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62F48186-BEF5-71A8-F8DD-37F5F11038C8}"/>
                </a:ext>
              </a:extLst>
            </p:cNvPr>
            <p:cNvGrpSpPr/>
            <p:nvPr/>
          </p:nvGrpSpPr>
          <p:grpSpPr>
            <a:xfrm>
              <a:off x="4572000" y="2219241"/>
              <a:ext cx="3948582" cy="3475262"/>
              <a:chOff x="4977205" y="2235529"/>
              <a:chExt cx="3948582" cy="3475262"/>
            </a:xfrm>
          </p:grpSpPr>
          <p:cxnSp>
            <p:nvCxnSpPr>
              <p:cNvPr id="6" name="直線矢印コネクタ 5">
                <a:extLst>
                  <a:ext uri="{FF2B5EF4-FFF2-40B4-BE49-F238E27FC236}">
                    <a16:creationId xmlns:a16="http://schemas.microsoft.com/office/drawing/2014/main" id="{C53C30E4-2CC6-FFF6-6C83-C7811E840CA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55417" y="2639291"/>
                <a:ext cx="0" cy="2836718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Google Shape;105;p2">
                <a:extLst>
                  <a:ext uri="{FF2B5EF4-FFF2-40B4-BE49-F238E27FC236}">
                    <a16:creationId xmlns:a16="http://schemas.microsoft.com/office/drawing/2014/main" id="{CD7674B0-EA19-05A6-00FD-8527173AE0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77205" y="2235529"/>
                <a:ext cx="956424" cy="5750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2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»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en-US" altLang="ja-JP" sz="2400" b="1" dirty="0">
                    <a:solidFill>
                      <a:schemeClr val="tx1"/>
                    </a:solidFill>
                  </a:rPr>
                  <a:t>t</a:t>
                </a:r>
                <a:endParaRPr lang="ja-JP" altLang="ja-JP" sz="2400" b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直線矢印コネクタ 7">
                <a:extLst>
                  <a:ext uri="{FF2B5EF4-FFF2-40B4-BE49-F238E27FC236}">
                    <a16:creationId xmlns:a16="http://schemas.microsoft.com/office/drawing/2014/main" id="{761B239D-3903-0CE5-8387-EE42C42344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55417" y="5476009"/>
                <a:ext cx="2867213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" name="Google Shape;105;p2">
                <a:extLst>
                  <a:ext uri="{FF2B5EF4-FFF2-40B4-BE49-F238E27FC236}">
                    <a16:creationId xmlns:a16="http://schemas.microsoft.com/office/drawing/2014/main" id="{58F8A82E-292F-EC29-0CB2-5310E2AA695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75459" y="5241226"/>
                <a:ext cx="850328" cy="469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2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»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en-US" altLang="ja-JP" sz="2400" b="1" dirty="0">
                    <a:solidFill>
                      <a:schemeClr val="tx1"/>
                    </a:solidFill>
                  </a:rPr>
                  <a:t>x</a:t>
                </a:r>
                <a:endParaRPr lang="ja-JP" altLang="ja-JP" sz="2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正方形/長方形 19">
                <a:extLst>
                  <a:ext uri="{FF2B5EF4-FFF2-40B4-BE49-F238E27FC236}">
                    <a16:creationId xmlns:a16="http://schemas.microsoft.com/office/drawing/2014/main" id="{DAD7F335-38F3-5645-B5AA-5EC11947D40B}"/>
                  </a:ext>
                </a:extLst>
              </p:cNvPr>
              <p:cNvSpPr/>
              <p:nvPr/>
            </p:nvSpPr>
            <p:spPr>
              <a:xfrm>
                <a:off x="5671472" y="4793263"/>
                <a:ext cx="673272" cy="468633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800" b="1" dirty="0"/>
                  <a:t>AB</a:t>
                </a:r>
                <a:endParaRPr kumimoji="1" lang="ja-JP" altLang="en-US" sz="1800" b="1"/>
              </a:p>
            </p:txBody>
          </p:sp>
          <p:sp>
            <p:nvSpPr>
              <p:cNvPr id="21" name="正方形/長方形 20">
                <a:extLst>
                  <a:ext uri="{FF2B5EF4-FFF2-40B4-BE49-F238E27FC236}">
                    <a16:creationId xmlns:a16="http://schemas.microsoft.com/office/drawing/2014/main" id="{DD64D49F-87C2-736B-F521-C5FDC0C524A5}"/>
                  </a:ext>
                </a:extLst>
              </p:cNvPr>
              <p:cNvSpPr/>
              <p:nvPr/>
            </p:nvSpPr>
            <p:spPr>
              <a:xfrm>
                <a:off x="5671472" y="4199214"/>
                <a:ext cx="673272" cy="468633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800" b="1" dirty="0"/>
                  <a:t>A</a:t>
                </a:r>
                <a:endParaRPr kumimoji="1" lang="ja-JP" altLang="en-US" sz="1800" b="1"/>
              </a:p>
            </p:txBody>
          </p:sp>
          <p:sp>
            <p:nvSpPr>
              <p:cNvPr id="22" name="正方形/長方形 21">
                <a:extLst>
                  <a:ext uri="{FF2B5EF4-FFF2-40B4-BE49-F238E27FC236}">
                    <a16:creationId xmlns:a16="http://schemas.microsoft.com/office/drawing/2014/main" id="{4DB3D75C-5CF3-85EB-2199-2C0297A91157}"/>
                  </a:ext>
                </a:extLst>
              </p:cNvPr>
              <p:cNvSpPr/>
              <p:nvPr/>
            </p:nvSpPr>
            <p:spPr>
              <a:xfrm>
                <a:off x="5680799" y="3605165"/>
                <a:ext cx="673272" cy="468633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800" b="1" dirty="0"/>
                  <a:t>BC</a:t>
                </a:r>
                <a:endParaRPr kumimoji="1" lang="ja-JP" altLang="en-US" sz="1800" b="1"/>
              </a:p>
            </p:txBody>
          </p:sp>
          <p:sp>
            <p:nvSpPr>
              <p:cNvPr id="23" name="正方形/長方形 22">
                <a:extLst>
                  <a:ext uri="{FF2B5EF4-FFF2-40B4-BE49-F238E27FC236}">
                    <a16:creationId xmlns:a16="http://schemas.microsoft.com/office/drawing/2014/main" id="{0C3172A6-1B58-DC4C-3347-341F8E1AA311}"/>
                  </a:ext>
                </a:extLst>
              </p:cNvPr>
              <p:cNvSpPr/>
              <p:nvPr/>
            </p:nvSpPr>
            <p:spPr>
              <a:xfrm>
                <a:off x="5671472" y="3024698"/>
                <a:ext cx="673272" cy="468633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800" b="1" dirty="0"/>
                  <a:t>C</a:t>
                </a:r>
                <a:endParaRPr kumimoji="1" lang="ja-JP" altLang="en-US" sz="1800" b="1"/>
              </a:p>
            </p:txBody>
          </p:sp>
          <p:sp>
            <p:nvSpPr>
              <p:cNvPr id="24" name="正方形/長方形 23">
                <a:extLst>
                  <a:ext uri="{FF2B5EF4-FFF2-40B4-BE49-F238E27FC236}">
                    <a16:creationId xmlns:a16="http://schemas.microsoft.com/office/drawing/2014/main" id="{8A0FDF06-9A0C-3523-654B-B4B937737BD9}"/>
                  </a:ext>
                </a:extLst>
              </p:cNvPr>
              <p:cNvSpPr/>
              <p:nvPr/>
            </p:nvSpPr>
            <p:spPr>
              <a:xfrm>
                <a:off x="6532166" y="4793263"/>
                <a:ext cx="673272" cy="468633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800" b="1" dirty="0"/>
                  <a:t>BC</a:t>
                </a:r>
                <a:endParaRPr kumimoji="1" lang="ja-JP" altLang="en-US" sz="1800" b="1"/>
              </a:p>
            </p:txBody>
          </p:sp>
          <p:sp>
            <p:nvSpPr>
              <p:cNvPr id="25" name="正方形/長方形 24">
                <a:extLst>
                  <a:ext uri="{FF2B5EF4-FFF2-40B4-BE49-F238E27FC236}">
                    <a16:creationId xmlns:a16="http://schemas.microsoft.com/office/drawing/2014/main" id="{73607458-9AB5-9858-5B81-A6321C0C2B51}"/>
                  </a:ext>
                </a:extLst>
              </p:cNvPr>
              <p:cNvSpPr/>
              <p:nvPr/>
            </p:nvSpPr>
            <p:spPr>
              <a:xfrm>
                <a:off x="6532166" y="4199214"/>
                <a:ext cx="673272" cy="468633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800" b="1" dirty="0"/>
                  <a:t>B</a:t>
                </a:r>
                <a:endParaRPr kumimoji="1" lang="ja-JP" altLang="en-US" sz="1800" b="1"/>
              </a:p>
            </p:txBody>
          </p:sp>
          <p:sp>
            <p:nvSpPr>
              <p:cNvPr id="26" name="正方形/長方形 25">
                <a:extLst>
                  <a:ext uri="{FF2B5EF4-FFF2-40B4-BE49-F238E27FC236}">
                    <a16:creationId xmlns:a16="http://schemas.microsoft.com/office/drawing/2014/main" id="{2E7DCCFF-9C16-C911-3C99-3EB809556B93}"/>
                  </a:ext>
                </a:extLst>
              </p:cNvPr>
              <p:cNvSpPr/>
              <p:nvPr/>
            </p:nvSpPr>
            <p:spPr>
              <a:xfrm>
                <a:off x="6541493" y="3605165"/>
                <a:ext cx="673272" cy="468633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800" b="1" dirty="0"/>
                  <a:t>BC</a:t>
                </a:r>
                <a:endParaRPr kumimoji="1" lang="ja-JP" altLang="en-US" sz="1800" b="1"/>
              </a:p>
            </p:txBody>
          </p:sp>
          <p:sp>
            <p:nvSpPr>
              <p:cNvPr id="27" name="正方形/長方形 26">
                <a:extLst>
                  <a:ext uri="{FF2B5EF4-FFF2-40B4-BE49-F238E27FC236}">
                    <a16:creationId xmlns:a16="http://schemas.microsoft.com/office/drawing/2014/main" id="{DBD9E18F-CA3E-E40D-5C8E-3A82359C6DA2}"/>
                  </a:ext>
                </a:extLst>
              </p:cNvPr>
              <p:cNvSpPr/>
              <p:nvPr/>
            </p:nvSpPr>
            <p:spPr>
              <a:xfrm>
                <a:off x="6532166" y="3024698"/>
                <a:ext cx="673272" cy="468633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800" b="1" dirty="0"/>
                  <a:t>AC</a:t>
                </a:r>
                <a:endParaRPr kumimoji="1" lang="ja-JP" altLang="en-US" sz="1800" b="1"/>
              </a:p>
            </p:txBody>
          </p:sp>
          <p:sp>
            <p:nvSpPr>
              <p:cNvPr id="28" name="正方形/長方形 27">
                <a:extLst>
                  <a:ext uri="{FF2B5EF4-FFF2-40B4-BE49-F238E27FC236}">
                    <a16:creationId xmlns:a16="http://schemas.microsoft.com/office/drawing/2014/main" id="{60E7E117-1355-9800-757E-3B901D2C0F87}"/>
                  </a:ext>
                </a:extLst>
              </p:cNvPr>
              <p:cNvSpPr/>
              <p:nvPr/>
            </p:nvSpPr>
            <p:spPr>
              <a:xfrm>
                <a:off x="7402187" y="4793263"/>
                <a:ext cx="673272" cy="468633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800" b="1" dirty="0"/>
                  <a:t>C</a:t>
                </a:r>
                <a:endParaRPr kumimoji="1" lang="ja-JP" altLang="en-US" sz="1800" b="1"/>
              </a:p>
            </p:txBody>
          </p:sp>
          <p:sp>
            <p:nvSpPr>
              <p:cNvPr id="29" name="正方形/長方形 28">
                <a:extLst>
                  <a:ext uri="{FF2B5EF4-FFF2-40B4-BE49-F238E27FC236}">
                    <a16:creationId xmlns:a16="http://schemas.microsoft.com/office/drawing/2014/main" id="{FA11E69A-FB6D-CE96-53E3-0B7EEAC76FA8}"/>
                  </a:ext>
                </a:extLst>
              </p:cNvPr>
              <p:cNvSpPr/>
              <p:nvPr/>
            </p:nvSpPr>
            <p:spPr>
              <a:xfrm>
                <a:off x="7402187" y="4199214"/>
                <a:ext cx="673272" cy="468633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800" b="1" dirty="0"/>
                  <a:t>B</a:t>
                </a:r>
                <a:endParaRPr kumimoji="1" lang="ja-JP" altLang="en-US" sz="1800" b="1"/>
              </a:p>
            </p:txBody>
          </p:sp>
          <p:sp>
            <p:nvSpPr>
              <p:cNvPr id="30" name="正方形/長方形 29">
                <a:extLst>
                  <a:ext uri="{FF2B5EF4-FFF2-40B4-BE49-F238E27FC236}">
                    <a16:creationId xmlns:a16="http://schemas.microsoft.com/office/drawing/2014/main" id="{84BBDF61-DF28-8277-AFBA-B3BBC2166513}"/>
                  </a:ext>
                </a:extLst>
              </p:cNvPr>
              <p:cNvSpPr/>
              <p:nvPr/>
            </p:nvSpPr>
            <p:spPr>
              <a:xfrm>
                <a:off x="7411514" y="3605165"/>
                <a:ext cx="673272" cy="468633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800" b="1" dirty="0"/>
                  <a:t>BC</a:t>
                </a:r>
                <a:endParaRPr kumimoji="1" lang="ja-JP" altLang="en-US" sz="1800" b="1"/>
              </a:p>
            </p:txBody>
          </p:sp>
          <p:sp>
            <p:nvSpPr>
              <p:cNvPr id="31" name="正方形/長方形 30">
                <a:extLst>
                  <a:ext uri="{FF2B5EF4-FFF2-40B4-BE49-F238E27FC236}">
                    <a16:creationId xmlns:a16="http://schemas.microsoft.com/office/drawing/2014/main" id="{D8E3A618-BCB6-70FF-6D56-479202448754}"/>
                  </a:ext>
                </a:extLst>
              </p:cNvPr>
              <p:cNvSpPr/>
              <p:nvPr/>
            </p:nvSpPr>
            <p:spPr>
              <a:xfrm>
                <a:off x="7402187" y="3024698"/>
                <a:ext cx="673272" cy="468633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800" b="1" dirty="0"/>
                  <a:t>AB</a:t>
                </a:r>
                <a:endParaRPr kumimoji="1" lang="ja-JP" altLang="en-US" sz="1800" b="1"/>
              </a:p>
            </p:txBody>
          </p:sp>
        </p:grpSp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D45A056D-0B99-564F-F3B4-D0BCF861DDF7}"/>
                </a:ext>
              </a:extLst>
            </p:cNvPr>
            <p:cNvSpPr/>
            <p:nvPr/>
          </p:nvSpPr>
          <p:spPr>
            <a:xfrm>
              <a:off x="5491889" y="5719494"/>
              <a:ext cx="2178365" cy="4686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u="sng">
                  <a:solidFill>
                    <a:schemeClr val="tx1"/>
                  </a:solidFill>
                </a:rPr>
                <a:t>2-Dimension</a:t>
              </a:r>
              <a:endParaRPr kumimoji="1" lang="ja-JP" altLang="en-US" sz="1800" b="1" u="sng">
                <a:solidFill>
                  <a:schemeClr val="tx1"/>
                </a:solidFill>
              </a:endParaRPr>
            </a:p>
          </p:txBody>
        </p:sp>
      </p:grp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83A559E8-97F4-75A3-E23C-8357176F2AA5}"/>
              </a:ext>
            </a:extLst>
          </p:cNvPr>
          <p:cNvGrpSpPr/>
          <p:nvPr/>
        </p:nvGrpSpPr>
        <p:grpSpPr>
          <a:xfrm>
            <a:off x="6890400" y="4925292"/>
            <a:ext cx="2059227" cy="491922"/>
            <a:chOff x="7321220" y="3001409"/>
            <a:chExt cx="2059227" cy="491922"/>
          </a:xfrm>
        </p:grpSpPr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4A554D0E-C9DB-BD95-F9D6-78936C83695F}"/>
                </a:ext>
              </a:extLst>
            </p:cNvPr>
            <p:cNvSpPr/>
            <p:nvPr/>
          </p:nvSpPr>
          <p:spPr>
            <a:xfrm>
              <a:off x="7321220" y="3024698"/>
              <a:ext cx="684445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C350F228-E9EA-DE25-96FC-12CF63602949}"/>
                </a:ext>
              </a:extLst>
            </p:cNvPr>
            <p:cNvSpPr/>
            <p:nvPr/>
          </p:nvSpPr>
          <p:spPr>
            <a:xfrm>
              <a:off x="7931029" y="3001409"/>
              <a:ext cx="1449418" cy="4686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</a:rPr>
                <a:t>：</a:t>
              </a:r>
              <a:r>
                <a:rPr kumimoji="1" lang="en-US" altLang="ja-JP" sz="1600" dirty="0">
                  <a:solidFill>
                    <a:schemeClr val="tx1"/>
                  </a:solidFill>
                </a:rPr>
                <a:t>Transaction</a:t>
              </a:r>
              <a:endParaRPr kumimoji="1" lang="ja-JP" altLang="en-US" sz="1600">
                <a:solidFill>
                  <a:schemeClr val="tx1"/>
                </a:solidFill>
              </a:endParaRPr>
            </a:p>
          </p:txBody>
        </p:sp>
      </p:grp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BA8A9233-BA5C-1D5E-E003-9E4CFF647959}"/>
              </a:ext>
            </a:extLst>
          </p:cNvPr>
          <p:cNvSpPr/>
          <p:nvPr/>
        </p:nvSpPr>
        <p:spPr>
          <a:xfrm>
            <a:off x="6746126" y="3664432"/>
            <a:ext cx="972991" cy="4686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b="1">
                <a:solidFill>
                  <a:schemeClr val="tx1"/>
                </a:solidFill>
              </a:rPr>
              <a:t>・・・</a:t>
            </a:r>
          </a:p>
        </p:txBody>
      </p:sp>
    </p:spTree>
    <p:extLst>
      <p:ext uri="{BB962C8B-B14F-4D97-AF65-F5344CB8AC3E}">
        <p14:creationId xmlns:p14="http://schemas.microsoft.com/office/powerpoint/2010/main" val="57460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830A600E-0187-1C05-2198-D1C4D2467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ED7DC5BA-659D-B6D3-A097-BB5DE41B9D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ja-JP" b="1" dirty="0"/>
              <a:t>Frequent</a:t>
            </a:r>
            <a:r>
              <a:rPr lang="ja-JP" altLang="ja-JP" b="1"/>
              <a:t> Pattern </a:t>
            </a:r>
            <a:r>
              <a:rPr lang="en-US" altLang="ja-JP" b="1" dirty="0"/>
              <a:t>&amp;</a:t>
            </a:r>
            <a:r>
              <a:rPr lang="ja-JP" altLang="ja-JP" b="1"/>
              <a:t> Dense </a:t>
            </a:r>
            <a:r>
              <a:rPr lang="en-US" altLang="ja-JP" b="1" dirty="0"/>
              <a:t>Pattern</a:t>
            </a:r>
            <a:endParaRPr b="1" dirty="0"/>
          </a:p>
        </p:txBody>
      </p:sp>
      <p:sp>
        <p:nvSpPr>
          <p:cNvPr id="9" name="Google Shape;105;p2">
            <a:extLst>
              <a:ext uri="{FF2B5EF4-FFF2-40B4-BE49-F238E27FC236}">
                <a16:creationId xmlns:a16="http://schemas.microsoft.com/office/drawing/2014/main" id="{8997DE59-D6E8-D729-57FD-4469DA6F96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09" y="1122218"/>
            <a:ext cx="8821882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Frequent pattern = </a:t>
            </a:r>
            <a:r>
              <a:rPr lang="ja-JP" altLang="ja-JP" b="1">
                <a:solidFill>
                  <a:srgbClr val="C00000"/>
                </a:solidFill>
              </a:rPr>
              <a:t>global</a:t>
            </a:r>
            <a:r>
              <a:rPr lang="ja-JP" altLang="ja-JP"/>
              <a:t> count ≥ θ, no time info. Dense pattern = window count ≥ θ somewhere — gives both </a:t>
            </a:r>
            <a:r>
              <a:rPr lang="ja-JP" altLang="ja-JP" b="1">
                <a:solidFill>
                  <a:srgbClr val="C00000"/>
                </a:solidFill>
              </a:rPr>
              <a:t>what</a:t>
            </a:r>
            <a:r>
              <a:rPr lang="ja-JP" altLang="ja-JP"/>
              <a:t> and </a:t>
            </a:r>
            <a:r>
              <a:rPr lang="ja-JP" altLang="ja-JP" b="1">
                <a:solidFill>
                  <a:srgbClr val="C00000"/>
                </a:solidFill>
              </a:rPr>
              <a:t>when/where</a:t>
            </a:r>
            <a:r>
              <a:rPr lang="ja-JP" altLang="ja-JP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 1">
                <a:extLst>
                  <a:ext uri="{FF2B5EF4-FFF2-40B4-BE49-F238E27FC236}">
                    <a16:creationId xmlns:a16="http://schemas.microsoft.com/office/drawing/2014/main" id="{C6F4D3E5-DA1F-8A22-A04D-BF38A0CA23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9487450"/>
                  </p:ext>
                </p:extLst>
              </p:nvPr>
            </p:nvGraphicFramePr>
            <p:xfrm>
              <a:off x="1186970" y="2744576"/>
              <a:ext cx="6770059" cy="2519680"/>
            </p:xfrm>
            <a:graphic>
              <a:graphicData uri="http://schemas.openxmlformats.org/drawingml/2006/table">
                <a:tbl>
                  <a:tblPr firstRow="1" bandRow="1">
                    <a:tableStyleId>{B301B821-A1FF-4177-AEE7-76D212191A09}</a:tableStyleId>
                  </a:tblPr>
                  <a:tblGrid>
                    <a:gridCol w="1396781">
                      <a:extLst>
                        <a:ext uri="{9D8B030D-6E8A-4147-A177-3AD203B41FA5}">
                          <a16:colId xmlns:a16="http://schemas.microsoft.com/office/drawing/2014/main" val="4213485655"/>
                        </a:ext>
                      </a:extLst>
                    </a:gridCol>
                    <a:gridCol w="2733773">
                      <a:extLst>
                        <a:ext uri="{9D8B030D-6E8A-4147-A177-3AD203B41FA5}">
                          <a16:colId xmlns:a16="http://schemas.microsoft.com/office/drawing/2014/main" val="2338784053"/>
                        </a:ext>
                      </a:extLst>
                    </a:gridCol>
                    <a:gridCol w="2639505">
                      <a:extLst>
                        <a:ext uri="{9D8B030D-6E8A-4147-A177-3AD203B41FA5}">
                          <a16:colId xmlns:a16="http://schemas.microsoft.com/office/drawing/2014/main" val="15485932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Frequent Pattern</a:t>
                          </a:r>
                          <a:endParaRPr kumimoji="1" lang="ja-JP" alt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Dense Pattern</a:t>
                          </a:r>
                          <a:endParaRPr kumimoji="1" lang="ja-JP" altLang="en-US"/>
                        </a:p>
                      </a:txBody>
                      <a:tcPr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80147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Support</a:t>
                          </a:r>
                          <a:endParaRPr kumimoji="1" lang="ja-JP" altLang="en-US"/>
                        </a:p>
                      </a:txBody>
                      <a:tcPr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unc>
                                  <m:funcPr>
                                    <m:ctrlPr>
                                      <a:rPr kumimoji="1" lang="en-US" altLang="ja-JP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b="0" i="0" smtClean="0">
                                        <a:latin typeface="Cambria Math" panose="02040503050406030204" pitchFamily="18" charset="0"/>
                                      </a:rPr>
                                      <m:t>sup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</m:d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kumimoji="1" lang="en-US" altLang="ja-JP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𝑡𝑜𝑡𝑎𝑙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𝑜𝑐𝑐𝑢𝑟𝑟𝑒𝑛𝑐𝑒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𝑐𝑜𝑢𝑛𝑡</m:t>
                                </m:r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unc>
                                  <m:funcPr>
                                    <m:ctrlPr>
                                      <a:rPr kumimoji="1" lang="en-US" altLang="ja-JP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b="0" i="0" smtClean="0">
                                        <a:latin typeface="Cambria Math" panose="02040503050406030204" pitchFamily="18" charset="0"/>
                                      </a:rPr>
                                      <m:t>sup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, [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]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kumimoji="1" lang="en-US" altLang="ja-JP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𝑐𝑜𝑢𝑛𝑡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𝑤𝑖𝑡ℎ𝑖𝑛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𝑤𝑖𝑛𝑑𝑜𝑤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 [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kumimoji="1" lang="ja-JP" altLang="en-US"/>
                        </a:p>
                      </a:txBody>
                      <a:tcPr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732164711"/>
                      </a:ext>
                    </a:extLst>
                  </a:tr>
                  <a:tr h="4091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Condition</a:t>
                          </a:r>
                          <a:endParaRPr kumimoji="1" lang="ja-JP" altLang="en-US"/>
                        </a:p>
                      </a:txBody>
                      <a:tcPr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unc>
                                  <m:funcPr>
                                    <m:ctrlPr>
                                      <a:rPr kumimoji="1" lang="en-US" altLang="ja-JP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b="0" i="0" smtClean="0">
                                        <a:latin typeface="Cambria Math" panose="02040503050406030204" pitchFamily="18" charset="0"/>
                                      </a:rPr>
                                      <m:t>sup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 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kumimoji="1" lang="en-US" altLang="ja-JP" dirty="0"/>
                        </a:p>
                        <a:p>
                          <a:pPr algn="ctr"/>
                          <a:r>
                            <a:rPr kumimoji="1" lang="en-US" altLang="ja-JP" dirty="0"/>
                            <a:t>(globally)</a:t>
                          </a:r>
                          <a:endParaRPr kumimoji="1" lang="ja-JP" alt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ja-JP" altLang="en-US" i="1" smtClean="0">
                                    <a:latin typeface="Cambria Math" panose="02040503050406030204" pitchFamily="18" charset="0"/>
                                  </a:rPr>
                                  <m:t>∃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 :</m:t>
                                </m:r>
                                <m:func>
                                  <m:funcPr>
                                    <m:ctrlPr>
                                      <a:rPr kumimoji="1" lang="en-US" altLang="ja-JP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b="0" i="0" smtClean="0">
                                        <a:latin typeface="Cambria Math" panose="02040503050406030204" pitchFamily="18" charset="0"/>
                                      </a:rPr>
                                      <m:t>sup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, [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]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 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kumimoji="1" lang="en-US" altLang="ja-JP" dirty="0"/>
                        </a:p>
                        <a:p>
                          <a:pPr algn="ctr"/>
                          <a:r>
                            <a:rPr kumimoji="1" lang="en-US" altLang="ja-JP" dirty="0"/>
                            <a:t>(locally)</a:t>
                          </a:r>
                          <a:endParaRPr kumimoji="1" lang="ja-JP" altLang="en-US"/>
                        </a:p>
                      </a:txBody>
                      <a:tcPr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34082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Output</a:t>
                          </a:r>
                          <a:endParaRPr kumimoji="1" lang="ja-JP" altLang="en-US"/>
                        </a:p>
                      </a:txBody>
                      <a:tcPr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Pattern only</a:t>
                          </a:r>
                          <a:endParaRPr kumimoji="1" lang="ja-JP" alt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Pattern &amp; Dense Region</a:t>
                          </a:r>
                          <a:endParaRPr kumimoji="1" lang="ja-JP" altLang="en-US"/>
                        </a:p>
                      </a:txBody>
                      <a:tcPr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8689497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Temporal info</a:t>
                          </a:r>
                          <a:endParaRPr kumimoji="1" lang="ja-JP" altLang="en-US"/>
                        </a:p>
                      </a:txBody>
                      <a:tcPr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None</a:t>
                          </a:r>
                          <a:endParaRPr kumimoji="1" lang="ja-JP" alt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b="1" dirty="0">
                              <a:solidFill>
                                <a:srgbClr val="C00000"/>
                              </a:solidFill>
                            </a:rPr>
                            <a:t>when</a:t>
                          </a:r>
                          <a:r>
                            <a:rPr kumimoji="1" lang="en-US" altLang="ja-JP" dirty="0"/>
                            <a:t> it is dense</a:t>
                          </a:r>
                          <a:endParaRPr kumimoji="1" lang="ja-JP" altLang="en-US"/>
                        </a:p>
                      </a:txBody>
                      <a:tcPr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169708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Spatial info</a:t>
                          </a:r>
                          <a:endParaRPr kumimoji="1" lang="ja-JP" altLang="en-US"/>
                        </a:p>
                      </a:txBody>
                      <a:tcPr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None</a:t>
                          </a:r>
                          <a:endParaRPr kumimoji="1" lang="ja-JP" alt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b="1" dirty="0">
                              <a:solidFill>
                                <a:srgbClr val="C00000"/>
                              </a:solidFill>
                            </a:rPr>
                            <a:t>where</a:t>
                          </a:r>
                          <a:r>
                            <a:rPr kumimoji="1" lang="en-US" altLang="ja-JP" dirty="0"/>
                            <a:t> it is dense</a:t>
                          </a:r>
                          <a:endParaRPr kumimoji="1" lang="ja-JP" altLang="en-US"/>
                        </a:p>
                      </a:txBody>
                      <a:tcPr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30354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 1">
                <a:extLst>
                  <a:ext uri="{FF2B5EF4-FFF2-40B4-BE49-F238E27FC236}">
                    <a16:creationId xmlns:a16="http://schemas.microsoft.com/office/drawing/2014/main" id="{C6F4D3E5-DA1F-8A22-A04D-BF38A0CA23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9487450"/>
                  </p:ext>
                </p:extLst>
              </p:nvPr>
            </p:nvGraphicFramePr>
            <p:xfrm>
              <a:off x="1186970" y="2744576"/>
              <a:ext cx="6770059" cy="2519680"/>
            </p:xfrm>
            <a:graphic>
              <a:graphicData uri="http://schemas.openxmlformats.org/drawingml/2006/table">
                <a:tbl>
                  <a:tblPr firstRow="1" bandRow="1">
                    <a:tableStyleId>{B301B821-A1FF-4177-AEE7-76D212191A09}</a:tableStyleId>
                  </a:tblPr>
                  <a:tblGrid>
                    <a:gridCol w="1396781">
                      <a:extLst>
                        <a:ext uri="{9D8B030D-6E8A-4147-A177-3AD203B41FA5}">
                          <a16:colId xmlns:a16="http://schemas.microsoft.com/office/drawing/2014/main" val="4213485655"/>
                        </a:ext>
                      </a:extLst>
                    </a:gridCol>
                    <a:gridCol w="2733773">
                      <a:extLst>
                        <a:ext uri="{9D8B030D-6E8A-4147-A177-3AD203B41FA5}">
                          <a16:colId xmlns:a16="http://schemas.microsoft.com/office/drawing/2014/main" val="2338784053"/>
                        </a:ext>
                      </a:extLst>
                    </a:gridCol>
                    <a:gridCol w="2639505">
                      <a:extLst>
                        <a:ext uri="{9D8B030D-6E8A-4147-A177-3AD203B41FA5}">
                          <a16:colId xmlns:a16="http://schemas.microsoft.com/office/drawing/2014/main" val="15485932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/>
                        </a:p>
                      </a:txBody>
                      <a:tcPr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Frequent Pattern</a:t>
                          </a:r>
                          <a:endParaRPr kumimoji="1" lang="ja-JP" alt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Dense Pattern</a:t>
                          </a:r>
                          <a:endParaRPr kumimoji="1" lang="ja-JP" altLang="en-US"/>
                        </a:p>
                      </a:txBody>
                      <a:tcPr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8014700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Support</a:t>
                          </a:r>
                          <a:endParaRPr kumimoji="1" lang="ja-JP" altLang="en-US"/>
                        </a:p>
                      </a:txBody>
                      <a:tcPr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0926" t="-73171" r="-96296" b="-314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56731" t="-73171" b="-3146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216471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Condition</a:t>
                          </a:r>
                          <a:endParaRPr kumimoji="1" lang="ja-JP" altLang="en-US"/>
                        </a:p>
                      </a:txBody>
                      <a:tcPr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0926" t="-173171" r="-96296" b="-214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56731" t="-173171" b="-2146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82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Output</a:t>
                          </a:r>
                          <a:endParaRPr kumimoji="1" lang="ja-JP" altLang="en-US"/>
                        </a:p>
                      </a:txBody>
                      <a:tcPr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Pattern only</a:t>
                          </a:r>
                          <a:endParaRPr kumimoji="1" lang="ja-JP" alt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Pattern &amp; Dense Region</a:t>
                          </a:r>
                          <a:endParaRPr kumimoji="1" lang="ja-JP" altLang="en-US"/>
                        </a:p>
                      </a:txBody>
                      <a:tcPr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8689497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Temporal info</a:t>
                          </a:r>
                          <a:endParaRPr kumimoji="1" lang="ja-JP" altLang="en-US"/>
                        </a:p>
                      </a:txBody>
                      <a:tcPr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None</a:t>
                          </a:r>
                          <a:endParaRPr kumimoji="1" lang="ja-JP" alt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b="1" dirty="0">
                              <a:solidFill>
                                <a:srgbClr val="C00000"/>
                              </a:solidFill>
                            </a:rPr>
                            <a:t>when</a:t>
                          </a:r>
                          <a:r>
                            <a:rPr kumimoji="1" lang="en-US" altLang="ja-JP" dirty="0"/>
                            <a:t> it is dense</a:t>
                          </a:r>
                          <a:endParaRPr kumimoji="1" lang="ja-JP" altLang="en-US"/>
                        </a:p>
                      </a:txBody>
                      <a:tcPr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169708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Spatial info</a:t>
                          </a:r>
                          <a:endParaRPr kumimoji="1" lang="ja-JP" altLang="en-US"/>
                        </a:p>
                      </a:txBody>
                      <a:tcPr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None</a:t>
                          </a:r>
                          <a:endParaRPr kumimoji="1" lang="ja-JP" alt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b="1" dirty="0">
                              <a:solidFill>
                                <a:srgbClr val="C00000"/>
                              </a:solidFill>
                            </a:rPr>
                            <a:t>where</a:t>
                          </a:r>
                          <a:r>
                            <a:rPr kumimoji="1" lang="en-US" altLang="ja-JP" dirty="0"/>
                            <a:t> it is dense</a:t>
                          </a:r>
                          <a:endParaRPr kumimoji="1" lang="ja-JP" altLang="en-US"/>
                        </a:p>
                      </a:txBody>
                      <a:tcPr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303541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16264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66BDDC21-37C3-DB4B-23D3-5F22BEAD5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6729FA10-A65E-322F-B105-3ECCEDE780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ja-JP" b="1" dirty="0"/>
              <a:t>Frequent</a:t>
            </a:r>
            <a:r>
              <a:rPr lang="ja-JP" altLang="ja-JP" b="1"/>
              <a:t> Pattern </a:t>
            </a:r>
            <a:r>
              <a:rPr lang="en-US" altLang="ja-JP" b="1" dirty="0"/>
              <a:t>&amp;</a:t>
            </a:r>
            <a:r>
              <a:rPr lang="ja-JP" altLang="ja-JP" b="1"/>
              <a:t> Dense </a:t>
            </a:r>
            <a:r>
              <a:rPr lang="en-US" altLang="ja-JP" b="1" dirty="0"/>
              <a:t>Pattern</a:t>
            </a:r>
            <a:endParaRPr b="1" dirty="0"/>
          </a:p>
        </p:txBody>
      </p:sp>
      <p:sp>
        <p:nvSpPr>
          <p:cNvPr id="9" name="Google Shape;105;p2">
            <a:extLst>
              <a:ext uri="{FF2B5EF4-FFF2-40B4-BE49-F238E27FC236}">
                <a16:creationId xmlns:a16="http://schemas.microsoft.com/office/drawing/2014/main" id="{8852E708-DEDF-1C22-DA26-61C4E51717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09" y="1122218"/>
            <a:ext cx="8821882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Frequent pattern = </a:t>
            </a:r>
            <a:r>
              <a:rPr lang="ja-JP" altLang="ja-JP" b="1">
                <a:solidFill>
                  <a:srgbClr val="C00000"/>
                </a:solidFill>
              </a:rPr>
              <a:t>global</a:t>
            </a:r>
            <a:r>
              <a:rPr lang="ja-JP" altLang="ja-JP"/>
              <a:t> count ≥ θ, no time info. Dense pattern = window count ≥ θ somewhere — gives both </a:t>
            </a:r>
            <a:r>
              <a:rPr lang="ja-JP" altLang="ja-JP" b="1">
                <a:solidFill>
                  <a:srgbClr val="C00000"/>
                </a:solidFill>
              </a:rPr>
              <a:t>what</a:t>
            </a:r>
            <a:r>
              <a:rPr lang="ja-JP" altLang="ja-JP"/>
              <a:t> and </a:t>
            </a:r>
            <a:r>
              <a:rPr lang="ja-JP" altLang="ja-JP" b="1">
                <a:solidFill>
                  <a:srgbClr val="C00000"/>
                </a:solidFill>
              </a:rPr>
              <a:t>when/where</a:t>
            </a:r>
            <a:r>
              <a:rPr lang="ja-JP" altLang="ja-JP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C1290384-CCC5-5A08-F5A4-705365438481}"/>
                  </a:ext>
                </a:extLst>
              </p:cNvPr>
              <p:cNvSpPr txBox="1"/>
              <p:nvPr/>
            </p:nvSpPr>
            <p:spPr>
              <a:xfrm>
                <a:off x="1046328" y="2944714"/>
                <a:ext cx="13833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kumimoji="1" lang="en-US" altLang="ja-JP" sz="1800" dirty="0"/>
              </a:p>
            </p:txBody>
          </p:sp>
        </mc:Choice>
        <mc:Fallback xmlns="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C1290384-CCC5-5A08-F5A4-705365438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328" y="2944714"/>
                <a:ext cx="138338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23EE0C91-2002-C6B9-96E9-497963907B7E}"/>
                  </a:ext>
                </a:extLst>
              </p:cNvPr>
              <p:cNvSpPr txBox="1"/>
              <p:nvPr/>
            </p:nvSpPr>
            <p:spPr>
              <a:xfrm>
                <a:off x="6679357" y="2738237"/>
                <a:ext cx="138338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kumimoji="1" lang="en-US" altLang="ja-JP" sz="1800" dirty="0"/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kumimoji="1" lang="en-US" altLang="ja-JP" sz="1800" dirty="0"/>
              </a:p>
            </p:txBody>
          </p:sp>
        </mc:Choice>
        <mc:Fallback xmlns=""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23EE0C91-2002-C6B9-96E9-497963907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9357" y="2738237"/>
                <a:ext cx="1383382" cy="646331"/>
              </a:xfrm>
              <a:prstGeom prst="rect">
                <a:avLst/>
              </a:prstGeom>
              <a:blipFill>
                <a:blip r:embed="rId4"/>
                <a:stretch>
                  <a:fillRect b="-96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05D6CCC7-3D41-AC87-69FD-8A2404F98D4B}"/>
              </a:ext>
            </a:extLst>
          </p:cNvPr>
          <p:cNvSpPr/>
          <p:nvPr/>
        </p:nvSpPr>
        <p:spPr>
          <a:xfrm>
            <a:off x="593717" y="2289697"/>
            <a:ext cx="2288604" cy="4686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u="sng" dirty="0">
                <a:solidFill>
                  <a:schemeClr val="tx1"/>
                </a:solidFill>
              </a:rPr>
              <a:t>Frequent Pattern</a:t>
            </a:r>
            <a:endParaRPr kumimoji="1" lang="ja-JP" altLang="en-US" sz="1800" b="1" u="sng">
              <a:solidFill>
                <a:schemeClr val="tx1"/>
              </a:solidFill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89CE02DF-CEB6-0FA7-5317-37FB7F2FDD49}"/>
              </a:ext>
            </a:extLst>
          </p:cNvPr>
          <p:cNvSpPr/>
          <p:nvPr/>
        </p:nvSpPr>
        <p:spPr>
          <a:xfrm>
            <a:off x="6226746" y="2235529"/>
            <a:ext cx="2288604" cy="4686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u="sng" dirty="0">
                <a:solidFill>
                  <a:schemeClr val="tx1"/>
                </a:solidFill>
              </a:rPr>
              <a:t>Dense Pattern</a:t>
            </a:r>
            <a:endParaRPr kumimoji="1" lang="ja-JP" altLang="en-US" sz="1800" b="1" u="sng">
              <a:solidFill>
                <a:schemeClr val="tx1"/>
              </a:solidFill>
            </a:endParaRP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A7B4982E-EC04-7B15-0E53-3B5202CF4FC1}"/>
              </a:ext>
            </a:extLst>
          </p:cNvPr>
          <p:cNvGrpSpPr/>
          <p:nvPr/>
        </p:nvGrpSpPr>
        <p:grpSpPr>
          <a:xfrm>
            <a:off x="3966419" y="2335407"/>
            <a:ext cx="619775" cy="3642470"/>
            <a:chOff x="1520004" y="2235529"/>
            <a:chExt cx="619775" cy="3642470"/>
          </a:xfrm>
        </p:grpSpPr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D9FC53EA-5A92-E32A-AB52-510B97FD2311}"/>
                </a:ext>
              </a:extLst>
            </p:cNvPr>
            <p:cNvSpPr/>
            <p:nvPr/>
          </p:nvSpPr>
          <p:spPr>
            <a:xfrm>
              <a:off x="1529331" y="3643720"/>
              <a:ext cx="601121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527DFA20-5195-875A-F8AD-8C8CD93E4D13}"/>
                </a:ext>
              </a:extLst>
            </p:cNvPr>
            <p:cNvSpPr/>
            <p:nvPr/>
          </p:nvSpPr>
          <p:spPr>
            <a:xfrm>
              <a:off x="1529331" y="3174323"/>
              <a:ext cx="601121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4E0E0F34-79D8-588C-7AE1-9BF791B6279E}"/>
                </a:ext>
              </a:extLst>
            </p:cNvPr>
            <p:cNvSpPr/>
            <p:nvPr/>
          </p:nvSpPr>
          <p:spPr>
            <a:xfrm>
              <a:off x="1529331" y="2704926"/>
              <a:ext cx="601121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DD99CBD1-C33C-D8C9-0A35-CA432438C4AC}"/>
                </a:ext>
              </a:extLst>
            </p:cNvPr>
            <p:cNvSpPr/>
            <p:nvPr/>
          </p:nvSpPr>
          <p:spPr>
            <a:xfrm>
              <a:off x="1520004" y="2235529"/>
              <a:ext cx="601121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B043CA89-52FA-D7A1-435E-041BC021490C}"/>
                </a:ext>
              </a:extLst>
            </p:cNvPr>
            <p:cNvSpPr/>
            <p:nvPr/>
          </p:nvSpPr>
          <p:spPr>
            <a:xfrm>
              <a:off x="1538658" y="5521308"/>
              <a:ext cx="601121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8B2C7337-4010-1056-9586-054DC6AB391A}"/>
                </a:ext>
              </a:extLst>
            </p:cNvPr>
            <p:cNvSpPr/>
            <p:nvPr/>
          </p:nvSpPr>
          <p:spPr>
            <a:xfrm>
              <a:off x="1538658" y="5051911"/>
              <a:ext cx="601121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ED1F6523-DB98-E871-CA5E-A54AC1354134}"/>
                </a:ext>
              </a:extLst>
            </p:cNvPr>
            <p:cNvSpPr/>
            <p:nvPr/>
          </p:nvSpPr>
          <p:spPr>
            <a:xfrm>
              <a:off x="1538658" y="4582514"/>
              <a:ext cx="601121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61B772E5-D219-44E2-86BA-8A9957716352}"/>
                </a:ext>
              </a:extLst>
            </p:cNvPr>
            <p:cNvSpPr/>
            <p:nvPr/>
          </p:nvSpPr>
          <p:spPr>
            <a:xfrm>
              <a:off x="1529331" y="4113117"/>
              <a:ext cx="601121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</p:grp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D104372D-6BDA-AC75-665C-4CFF2690C818}"/>
              </a:ext>
            </a:extLst>
          </p:cNvPr>
          <p:cNvSpPr/>
          <p:nvPr/>
        </p:nvSpPr>
        <p:spPr>
          <a:xfrm>
            <a:off x="3774390" y="2372147"/>
            <a:ext cx="167480" cy="283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1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0FA0676-3792-EE3F-F732-2CF4B27D3196}"/>
              </a:ext>
            </a:extLst>
          </p:cNvPr>
          <p:cNvSpPr/>
          <p:nvPr/>
        </p:nvSpPr>
        <p:spPr>
          <a:xfrm>
            <a:off x="3774390" y="2826732"/>
            <a:ext cx="167480" cy="283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2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A044DB18-D48D-887F-9A08-44794EEC4112}"/>
              </a:ext>
            </a:extLst>
          </p:cNvPr>
          <p:cNvSpPr/>
          <p:nvPr/>
        </p:nvSpPr>
        <p:spPr>
          <a:xfrm>
            <a:off x="3772163" y="3297747"/>
            <a:ext cx="167480" cy="283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3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45CC6734-2DEE-D698-6C75-B0D5A9C545A0}"/>
              </a:ext>
            </a:extLst>
          </p:cNvPr>
          <p:cNvSpPr/>
          <p:nvPr/>
        </p:nvSpPr>
        <p:spPr>
          <a:xfrm>
            <a:off x="3772163" y="3780338"/>
            <a:ext cx="167480" cy="283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4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8C899CEA-87E6-FDF0-2364-75D1DD252ACA}"/>
              </a:ext>
            </a:extLst>
          </p:cNvPr>
          <p:cNvSpPr/>
          <p:nvPr/>
        </p:nvSpPr>
        <p:spPr>
          <a:xfrm>
            <a:off x="3775750" y="4212995"/>
            <a:ext cx="167480" cy="283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5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68825122-B433-0D75-AE57-2C679DDDF437}"/>
              </a:ext>
            </a:extLst>
          </p:cNvPr>
          <p:cNvSpPr/>
          <p:nvPr/>
        </p:nvSpPr>
        <p:spPr>
          <a:xfrm>
            <a:off x="3774390" y="4701286"/>
            <a:ext cx="167480" cy="283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6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28CB5E47-55FA-4036-6786-43F83641221B}"/>
              </a:ext>
            </a:extLst>
          </p:cNvPr>
          <p:cNvSpPr/>
          <p:nvPr/>
        </p:nvSpPr>
        <p:spPr>
          <a:xfrm>
            <a:off x="3772163" y="5166601"/>
            <a:ext cx="167480" cy="283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7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2D34DA30-D5DF-3DC0-8D71-FE1239735140}"/>
              </a:ext>
            </a:extLst>
          </p:cNvPr>
          <p:cNvSpPr/>
          <p:nvPr/>
        </p:nvSpPr>
        <p:spPr>
          <a:xfrm>
            <a:off x="3772163" y="5652645"/>
            <a:ext cx="167480" cy="283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8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" name="大かっこ 1">
            <a:extLst>
              <a:ext uri="{FF2B5EF4-FFF2-40B4-BE49-F238E27FC236}">
                <a16:creationId xmlns:a16="http://schemas.microsoft.com/office/drawing/2014/main" id="{586981FD-9B07-6488-678D-2C4E98BB2CA4}"/>
              </a:ext>
            </a:extLst>
          </p:cNvPr>
          <p:cNvSpPr/>
          <p:nvPr/>
        </p:nvSpPr>
        <p:spPr>
          <a:xfrm>
            <a:off x="1262485" y="2878765"/>
            <a:ext cx="925889" cy="557836"/>
          </a:xfrm>
          <a:prstGeom prst="bracketPair">
            <a:avLst>
              <a:gd name="adj" fmla="val 12286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大かっこ 2">
            <a:extLst>
              <a:ext uri="{FF2B5EF4-FFF2-40B4-BE49-F238E27FC236}">
                <a16:creationId xmlns:a16="http://schemas.microsoft.com/office/drawing/2014/main" id="{608195DD-B621-975B-C4D1-6486AB4ED522}"/>
              </a:ext>
            </a:extLst>
          </p:cNvPr>
          <p:cNvSpPr/>
          <p:nvPr/>
        </p:nvSpPr>
        <p:spPr>
          <a:xfrm>
            <a:off x="6826928" y="2692098"/>
            <a:ext cx="1054586" cy="810491"/>
          </a:xfrm>
          <a:prstGeom prst="bracketPair">
            <a:avLst>
              <a:gd name="adj" fmla="val 12286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1865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A652CD91-2D2A-79C7-4E63-7C5854600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大かっこ 2">
            <a:extLst>
              <a:ext uri="{FF2B5EF4-FFF2-40B4-BE49-F238E27FC236}">
                <a16:creationId xmlns:a16="http://schemas.microsoft.com/office/drawing/2014/main" id="{46F2766F-06FC-52FE-6946-59E984E3D008}"/>
              </a:ext>
            </a:extLst>
          </p:cNvPr>
          <p:cNvSpPr/>
          <p:nvPr/>
        </p:nvSpPr>
        <p:spPr>
          <a:xfrm>
            <a:off x="6826928" y="2692098"/>
            <a:ext cx="1054586" cy="810491"/>
          </a:xfrm>
          <a:prstGeom prst="bracketPair">
            <a:avLst>
              <a:gd name="adj" fmla="val 12286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D9F38DFA-2AA5-1B95-6D8E-0BABD112B1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ja-JP" b="1" dirty="0"/>
              <a:t>Frequent</a:t>
            </a:r>
            <a:r>
              <a:rPr lang="ja-JP" altLang="ja-JP" b="1"/>
              <a:t> Pattern </a:t>
            </a:r>
            <a:r>
              <a:rPr lang="en-US" altLang="ja-JP" b="1" dirty="0"/>
              <a:t>&amp;</a:t>
            </a:r>
            <a:r>
              <a:rPr lang="ja-JP" altLang="ja-JP" b="1"/>
              <a:t> Dense </a:t>
            </a:r>
            <a:r>
              <a:rPr lang="en-US" altLang="ja-JP" b="1" dirty="0"/>
              <a:t>Pattern</a:t>
            </a:r>
            <a:endParaRPr b="1" dirty="0"/>
          </a:p>
        </p:txBody>
      </p:sp>
      <p:sp>
        <p:nvSpPr>
          <p:cNvPr id="9" name="Google Shape;105;p2">
            <a:extLst>
              <a:ext uri="{FF2B5EF4-FFF2-40B4-BE49-F238E27FC236}">
                <a16:creationId xmlns:a16="http://schemas.microsoft.com/office/drawing/2014/main" id="{6557BB52-52DC-2D56-0AB5-861A0B9CB9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09" y="1122218"/>
            <a:ext cx="8821882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Frequent pattern = </a:t>
            </a:r>
            <a:r>
              <a:rPr lang="ja-JP" altLang="ja-JP" b="1">
                <a:solidFill>
                  <a:srgbClr val="C00000"/>
                </a:solidFill>
              </a:rPr>
              <a:t>global</a:t>
            </a:r>
            <a:r>
              <a:rPr lang="ja-JP" altLang="ja-JP"/>
              <a:t> count ≥ θ, no time info. Dense pattern = window count ≥ θ somewhere — gives both </a:t>
            </a:r>
            <a:r>
              <a:rPr lang="ja-JP" altLang="ja-JP" b="1">
                <a:solidFill>
                  <a:srgbClr val="C00000"/>
                </a:solidFill>
              </a:rPr>
              <a:t>what</a:t>
            </a:r>
            <a:r>
              <a:rPr lang="ja-JP" altLang="ja-JP"/>
              <a:t> and </a:t>
            </a:r>
            <a:r>
              <a:rPr lang="ja-JP" altLang="ja-JP" b="1">
                <a:solidFill>
                  <a:srgbClr val="C00000"/>
                </a:solidFill>
              </a:rPr>
              <a:t>when/where</a:t>
            </a:r>
            <a:r>
              <a:rPr lang="ja-JP" altLang="ja-JP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12D5BF69-DED9-23A7-BE4A-5635F539FF8E}"/>
                  </a:ext>
                </a:extLst>
              </p:cNvPr>
              <p:cNvSpPr txBox="1"/>
              <p:nvPr/>
            </p:nvSpPr>
            <p:spPr>
              <a:xfrm>
                <a:off x="1046328" y="2944714"/>
                <a:ext cx="13833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kumimoji="1" lang="en-US" altLang="ja-JP" sz="1800" dirty="0"/>
              </a:p>
            </p:txBody>
          </p:sp>
        </mc:Choice>
        <mc:Fallback xmlns="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12D5BF69-DED9-23A7-BE4A-5635F539FF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328" y="2944714"/>
                <a:ext cx="138338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51E3BE35-D8EB-14B5-C127-084A42FD7D1D}"/>
                  </a:ext>
                </a:extLst>
              </p:cNvPr>
              <p:cNvSpPr txBox="1"/>
              <p:nvPr/>
            </p:nvSpPr>
            <p:spPr>
              <a:xfrm>
                <a:off x="6679357" y="2738237"/>
                <a:ext cx="138338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kumimoji="1" lang="en-US" altLang="ja-JP" sz="1800" dirty="0"/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kumimoji="1" lang="en-US" altLang="ja-JP" sz="1800" dirty="0"/>
              </a:p>
            </p:txBody>
          </p:sp>
        </mc:Choice>
        <mc:Fallback xmlns=""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51E3BE35-D8EB-14B5-C127-084A42FD7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9357" y="2738237"/>
                <a:ext cx="1383382" cy="646331"/>
              </a:xfrm>
              <a:prstGeom prst="rect">
                <a:avLst/>
              </a:prstGeom>
              <a:blipFill>
                <a:blip r:embed="rId4"/>
                <a:stretch>
                  <a:fillRect b="-96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727793D8-8CA5-D372-6ABF-0A100D42D832}"/>
              </a:ext>
            </a:extLst>
          </p:cNvPr>
          <p:cNvSpPr/>
          <p:nvPr/>
        </p:nvSpPr>
        <p:spPr>
          <a:xfrm>
            <a:off x="593717" y="2289697"/>
            <a:ext cx="2288604" cy="4686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u="sng" dirty="0">
                <a:solidFill>
                  <a:schemeClr val="tx1"/>
                </a:solidFill>
              </a:rPr>
              <a:t>Frequent Pattern</a:t>
            </a:r>
            <a:endParaRPr kumimoji="1" lang="ja-JP" altLang="en-US" sz="1800" b="1" u="sng">
              <a:solidFill>
                <a:schemeClr val="tx1"/>
              </a:solidFill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F6C71DD0-9223-1729-8F5A-0EFFEC86501E}"/>
              </a:ext>
            </a:extLst>
          </p:cNvPr>
          <p:cNvSpPr/>
          <p:nvPr/>
        </p:nvSpPr>
        <p:spPr>
          <a:xfrm>
            <a:off x="6226746" y="2235529"/>
            <a:ext cx="2288604" cy="4686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u="sng" dirty="0">
                <a:solidFill>
                  <a:schemeClr val="tx1"/>
                </a:solidFill>
              </a:rPr>
              <a:t>Dense Pattern</a:t>
            </a:r>
            <a:endParaRPr kumimoji="1" lang="ja-JP" altLang="en-US" sz="1800" b="1" u="sng">
              <a:solidFill>
                <a:schemeClr val="tx1"/>
              </a:solidFill>
            </a:endParaRP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9C93DFEA-EB6B-EBE4-280C-436C02134840}"/>
              </a:ext>
            </a:extLst>
          </p:cNvPr>
          <p:cNvGrpSpPr/>
          <p:nvPr/>
        </p:nvGrpSpPr>
        <p:grpSpPr>
          <a:xfrm>
            <a:off x="3966419" y="2335407"/>
            <a:ext cx="619775" cy="3642470"/>
            <a:chOff x="1520004" y="2235529"/>
            <a:chExt cx="619775" cy="3642470"/>
          </a:xfrm>
        </p:grpSpPr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5F96CAB9-107B-66B7-F33D-AE9BD02380CA}"/>
                </a:ext>
              </a:extLst>
            </p:cNvPr>
            <p:cNvSpPr/>
            <p:nvPr/>
          </p:nvSpPr>
          <p:spPr>
            <a:xfrm>
              <a:off x="1529331" y="3643720"/>
              <a:ext cx="601121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0548D199-9C14-D086-DBEA-2846E558A96A}"/>
                </a:ext>
              </a:extLst>
            </p:cNvPr>
            <p:cNvSpPr/>
            <p:nvPr/>
          </p:nvSpPr>
          <p:spPr>
            <a:xfrm>
              <a:off x="1529331" y="3174323"/>
              <a:ext cx="601121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BDDE1020-614A-7A99-FE90-8200B6ACB05E}"/>
                </a:ext>
              </a:extLst>
            </p:cNvPr>
            <p:cNvSpPr/>
            <p:nvPr/>
          </p:nvSpPr>
          <p:spPr>
            <a:xfrm>
              <a:off x="1529331" y="2704926"/>
              <a:ext cx="601121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115D9A0A-F20E-E5AA-9989-AA8E21B018EE}"/>
                </a:ext>
              </a:extLst>
            </p:cNvPr>
            <p:cNvSpPr/>
            <p:nvPr/>
          </p:nvSpPr>
          <p:spPr>
            <a:xfrm>
              <a:off x="1520004" y="2235529"/>
              <a:ext cx="601121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C8D18934-F5E3-747F-7DAF-175417FF1206}"/>
                </a:ext>
              </a:extLst>
            </p:cNvPr>
            <p:cNvSpPr/>
            <p:nvPr/>
          </p:nvSpPr>
          <p:spPr>
            <a:xfrm>
              <a:off x="1538658" y="5521308"/>
              <a:ext cx="601121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AC8D1635-D6B9-B889-FB9F-ABB66F5C73C1}"/>
                </a:ext>
              </a:extLst>
            </p:cNvPr>
            <p:cNvSpPr/>
            <p:nvPr/>
          </p:nvSpPr>
          <p:spPr>
            <a:xfrm>
              <a:off x="1538658" y="5051911"/>
              <a:ext cx="601121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111182ED-03F2-3691-5655-E85ED16A1A4C}"/>
                </a:ext>
              </a:extLst>
            </p:cNvPr>
            <p:cNvSpPr/>
            <p:nvPr/>
          </p:nvSpPr>
          <p:spPr>
            <a:xfrm>
              <a:off x="1538658" y="4582514"/>
              <a:ext cx="601121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6D31F5BC-B9AB-B6B5-7187-62619CCF3CD1}"/>
                </a:ext>
              </a:extLst>
            </p:cNvPr>
            <p:cNvSpPr/>
            <p:nvPr/>
          </p:nvSpPr>
          <p:spPr>
            <a:xfrm>
              <a:off x="1529331" y="4113117"/>
              <a:ext cx="601121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</p:grpSp>
      <p:sp>
        <p:nvSpPr>
          <p:cNvPr id="43" name="右大かっこ 42">
            <a:extLst>
              <a:ext uri="{FF2B5EF4-FFF2-40B4-BE49-F238E27FC236}">
                <a16:creationId xmlns:a16="http://schemas.microsoft.com/office/drawing/2014/main" id="{90CC0D24-D142-E070-441F-DDC66A2874D7}"/>
              </a:ext>
            </a:extLst>
          </p:cNvPr>
          <p:cNvSpPr/>
          <p:nvPr/>
        </p:nvSpPr>
        <p:spPr>
          <a:xfrm flipH="1">
            <a:off x="3317762" y="2235529"/>
            <a:ext cx="438143" cy="3903161"/>
          </a:xfrm>
          <a:prstGeom prst="rightBracket">
            <a:avLst>
              <a:gd name="adj" fmla="val 0"/>
            </a:avLst>
          </a:prstGeom>
          <a:noFill/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2C2ED53E-3A46-4879-5F66-09E7981FD81D}"/>
              </a:ext>
            </a:extLst>
          </p:cNvPr>
          <p:cNvSpPr txBox="1"/>
          <p:nvPr/>
        </p:nvSpPr>
        <p:spPr>
          <a:xfrm>
            <a:off x="2573518" y="5330134"/>
            <a:ext cx="7114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ja-JP" sz="2000" b="1" dirty="0">
                <a:solidFill>
                  <a:schemeClr val="accent1"/>
                </a:solidFill>
              </a:rPr>
              <a:t>AB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376F0EAB-5B0C-7331-EFA6-87BAD791E367}"/>
                  </a:ext>
                </a:extLst>
              </p:cNvPr>
              <p:cNvSpPr txBox="1"/>
              <p:nvPr/>
            </p:nvSpPr>
            <p:spPr>
              <a:xfrm>
                <a:off x="649076" y="4287175"/>
                <a:ext cx="22886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sup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𝐴𝐵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 ≥</m:t>
                      </m:r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kumimoji="1" lang="en-US" altLang="ja-JP" sz="18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376F0EAB-5B0C-7331-EFA6-87BAD791E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076" y="4287175"/>
                <a:ext cx="2288604" cy="369332"/>
              </a:xfrm>
              <a:prstGeom prst="rect">
                <a:avLst/>
              </a:prstGeom>
              <a:blipFill>
                <a:blip r:embed="rId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6316F14-6D8F-6793-B701-611F27482862}"/>
              </a:ext>
            </a:extLst>
          </p:cNvPr>
          <p:cNvSpPr/>
          <p:nvPr/>
        </p:nvSpPr>
        <p:spPr>
          <a:xfrm>
            <a:off x="716438" y="4099671"/>
            <a:ext cx="2165884" cy="74322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9007F2C-3972-DA0A-7300-CE00102A2939}"/>
              </a:ext>
            </a:extLst>
          </p:cNvPr>
          <p:cNvSpPr/>
          <p:nvPr/>
        </p:nvSpPr>
        <p:spPr>
          <a:xfrm>
            <a:off x="3774390" y="2372147"/>
            <a:ext cx="167480" cy="283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1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AB13D92-B874-8B65-B5B6-CE0F8736141B}"/>
              </a:ext>
            </a:extLst>
          </p:cNvPr>
          <p:cNvSpPr/>
          <p:nvPr/>
        </p:nvSpPr>
        <p:spPr>
          <a:xfrm>
            <a:off x="3774390" y="2826732"/>
            <a:ext cx="167480" cy="283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2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FA8594FE-9CFC-A344-18A1-FD0BC8EAEF49}"/>
              </a:ext>
            </a:extLst>
          </p:cNvPr>
          <p:cNvSpPr/>
          <p:nvPr/>
        </p:nvSpPr>
        <p:spPr>
          <a:xfrm>
            <a:off x="3772163" y="3297747"/>
            <a:ext cx="167480" cy="283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3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CAD5ECFA-8B98-3C4F-229F-371BB52F2AAF}"/>
              </a:ext>
            </a:extLst>
          </p:cNvPr>
          <p:cNvSpPr/>
          <p:nvPr/>
        </p:nvSpPr>
        <p:spPr>
          <a:xfrm>
            <a:off x="3772163" y="3780338"/>
            <a:ext cx="167480" cy="283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4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AA651FB1-40F8-4D18-7B39-D7EF754F6FFA}"/>
              </a:ext>
            </a:extLst>
          </p:cNvPr>
          <p:cNvSpPr/>
          <p:nvPr/>
        </p:nvSpPr>
        <p:spPr>
          <a:xfrm>
            <a:off x="3775750" y="4212995"/>
            <a:ext cx="167480" cy="283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5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72F30087-3241-7169-2F83-07FEA9941253}"/>
              </a:ext>
            </a:extLst>
          </p:cNvPr>
          <p:cNvSpPr/>
          <p:nvPr/>
        </p:nvSpPr>
        <p:spPr>
          <a:xfrm>
            <a:off x="3774390" y="4701286"/>
            <a:ext cx="167480" cy="283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6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9D8ED527-7701-FC8A-5DDE-271C5FE37C2A}"/>
              </a:ext>
            </a:extLst>
          </p:cNvPr>
          <p:cNvSpPr/>
          <p:nvPr/>
        </p:nvSpPr>
        <p:spPr>
          <a:xfrm>
            <a:off x="3772163" y="5166601"/>
            <a:ext cx="167480" cy="283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7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C7721120-14E0-2DDD-8329-8A53F5AE6FCC}"/>
              </a:ext>
            </a:extLst>
          </p:cNvPr>
          <p:cNvSpPr/>
          <p:nvPr/>
        </p:nvSpPr>
        <p:spPr>
          <a:xfrm>
            <a:off x="3772163" y="5652645"/>
            <a:ext cx="167480" cy="283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8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5750B9F-4E60-BBFA-5CD6-F47F50A04B3D}"/>
              </a:ext>
            </a:extLst>
          </p:cNvPr>
          <p:cNvSpPr/>
          <p:nvPr/>
        </p:nvSpPr>
        <p:spPr>
          <a:xfrm>
            <a:off x="4914279" y="1932629"/>
            <a:ext cx="4002085" cy="1847709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大かっこ 1">
            <a:extLst>
              <a:ext uri="{FF2B5EF4-FFF2-40B4-BE49-F238E27FC236}">
                <a16:creationId xmlns:a16="http://schemas.microsoft.com/office/drawing/2014/main" id="{3EA90215-EE43-6C36-5A17-8E8AF282596C}"/>
              </a:ext>
            </a:extLst>
          </p:cNvPr>
          <p:cNvSpPr/>
          <p:nvPr/>
        </p:nvSpPr>
        <p:spPr>
          <a:xfrm>
            <a:off x="1262485" y="2878765"/>
            <a:ext cx="925889" cy="557836"/>
          </a:xfrm>
          <a:prstGeom prst="bracketPair">
            <a:avLst>
              <a:gd name="adj" fmla="val 12286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67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D48B74E2-3D48-D886-D2A5-BA4CB0387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大かっこ 32">
            <a:extLst>
              <a:ext uri="{FF2B5EF4-FFF2-40B4-BE49-F238E27FC236}">
                <a16:creationId xmlns:a16="http://schemas.microsoft.com/office/drawing/2014/main" id="{7FAFDB2E-9369-62E4-88EB-3208FA413326}"/>
              </a:ext>
            </a:extLst>
          </p:cNvPr>
          <p:cNvSpPr/>
          <p:nvPr/>
        </p:nvSpPr>
        <p:spPr>
          <a:xfrm>
            <a:off x="1262485" y="2878765"/>
            <a:ext cx="925889" cy="557836"/>
          </a:xfrm>
          <a:prstGeom prst="bracketPair">
            <a:avLst>
              <a:gd name="adj" fmla="val 12286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BDC0FCCA-823E-AC00-5CD5-B18A17C4A8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ja-JP" b="1" dirty="0"/>
              <a:t>Frequent</a:t>
            </a:r>
            <a:r>
              <a:rPr lang="ja-JP" altLang="ja-JP" b="1"/>
              <a:t> Pattern </a:t>
            </a:r>
            <a:r>
              <a:rPr lang="en-US" altLang="ja-JP" b="1" dirty="0"/>
              <a:t>&amp;</a:t>
            </a:r>
            <a:r>
              <a:rPr lang="ja-JP" altLang="ja-JP" b="1"/>
              <a:t> Dense </a:t>
            </a:r>
            <a:r>
              <a:rPr lang="en-US" altLang="ja-JP" b="1" dirty="0"/>
              <a:t>Pattern</a:t>
            </a:r>
            <a:endParaRPr b="1" dirty="0"/>
          </a:p>
        </p:txBody>
      </p:sp>
      <p:sp>
        <p:nvSpPr>
          <p:cNvPr id="9" name="Google Shape;105;p2">
            <a:extLst>
              <a:ext uri="{FF2B5EF4-FFF2-40B4-BE49-F238E27FC236}">
                <a16:creationId xmlns:a16="http://schemas.microsoft.com/office/drawing/2014/main" id="{83E477E6-0292-A399-B165-A11EF17472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09" y="1122218"/>
            <a:ext cx="8821882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Frequent pattern = </a:t>
            </a:r>
            <a:r>
              <a:rPr lang="ja-JP" altLang="ja-JP" b="1">
                <a:solidFill>
                  <a:srgbClr val="C00000"/>
                </a:solidFill>
              </a:rPr>
              <a:t>global</a:t>
            </a:r>
            <a:r>
              <a:rPr lang="ja-JP" altLang="ja-JP"/>
              <a:t> count ≥ θ, no time info. Dense pattern = window count ≥ θ somewhere — gives both </a:t>
            </a:r>
            <a:r>
              <a:rPr lang="ja-JP" altLang="ja-JP" b="1">
                <a:solidFill>
                  <a:srgbClr val="C00000"/>
                </a:solidFill>
              </a:rPr>
              <a:t>what</a:t>
            </a:r>
            <a:r>
              <a:rPr lang="ja-JP" altLang="ja-JP"/>
              <a:t> and </a:t>
            </a:r>
            <a:r>
              <a:rPr lang="ja-JP" altLang="ja-JP" b="1">
                <a:solidFill>
                  <a:srgbClr val="C00000"/>
                </a:solidFill>
              </a:rPr>
              <a:t>when/where</a:t>
            </a:r>
            <a:r>
              <a:rPr lang="ja-JP" altLang="ja-JP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538E016C-ECC6-3301-5538-50F1C8588AC7}"/>
                  </a:ext>
                </a:extLst>
              </p:cNvPr>
              <p:cNvSpPr txBox="1"/>
              <p:nvPr/>
            </p:nvSpPr>
            <p:spPr>
              <a:xfrm>
                <a:off x="1046328" y="2944714"/>
                <a:ext cx="13833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kumimoji="1" lang="en-US" altLang="ja-JP" sz="1800" dirty="0"/>
              </a:p>
            </p:txBody>
          </p:sp>
        </mc:Choice>
        <mc:Fallback xmlns="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538E016C-ECC6-3301-5538-50F1C8588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328" y="2944714"/>
                <a:ext cx="138338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AED33218-0E6F-B84C-0B3F-40DE94560B02}"/>
                  </a:ext>
                </a:extLst>
              </p:cNvPr>
              <p:cNvSpPr txBox="1"/>
              <p:nvPr/>
            </p:nvSpPr>
            <p:spPr>
              <a:xfrm>
                <a:off x="6679357" y="2738237"/>
                <a:ext cx="138338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kumimoji="1" lang="en-US" altLang="ja-JP" sz="1800" dirty="0"/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kumimoji="1" lang="en-US" altLang="ja-JP" sz="1800" dirty="0"/>
              </a:p>
            </p:txBody>
          </p:sp>
        </mc:Choice>
        <mc:Fallback xmlns=""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AED33218-0E6F-B84C-0B3F-40DE94560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9357" y="2738237"/>
                <a:ext cx="1383382" cy="646331"/>
              </a:xfrm>
              <a:prstGeom prst="rect">
                <a:avLst/>
              </a:prstGeom>
              <a:blipFill>
                <a:blip r:embed="rId4"/>
                <a:stretch>
                  <a:fillRect b="-96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30AD499C-E425-5ECE-A663-C8B464BEF293}"/>
              </a:ext>
            </a:extLst>
          </p:cNvPr>
          <p:cNvSpPr/>
          <p:nvPr/>
        </p:nvSpPr>
        <p:spPr>
          <a:xfrm>
            <a:off x="593717" y="2289697"/>
            <a:ext cx="2288604" cy="4686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u="sng" dirty="0">
                <a:solidFill>
                  <a:schemeClr val="tx1"/>
                </a:solidFill>
              </a:rPr>
              <a:t>Frequent Pattern</a:t>
            </a:r>
            <a:endParaRPr kumimoji="1" lang="ja-JP" altLang="en-US" sz="1800" b="1" u="sng">
              <a:solidFill>
                <a:schemeClr val="tx1"/>
              </a:solidFill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BBC58DDE-3741-3960-1197-080C97CA3CF3}"/>
              </a:ext>
            </a:extLst>
          </p:cNvPr>
          <p:cNvSpPr/>
          <p:nvPr/>
        </p:nvSpPr>
        <p:spPr>
          <a:xfrm>
            <a:off x="6226746" y="2235529"/>
            <a:ext cx="2288604" cy="4686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u="sng" dirty="0">
                <a:solidFill>
                  <a:schemeClr val="tx1"/>
                </a:solidFill>
              </a:rPr>
              <a:t>Dense Pattern</a:t>
            </a:r>
            <a:endParaRPr kumimoji="1" lang="ja-JP" altLang="en-US" sz="1800" b="1" u="sng">
              <a:solidFill>
                <a:schemeClr val="tx1"/>
              </a:solidFill>
            </a:endParaRP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0949465E-2792-854B-3F66-DCDD241ACA7F}"/>
              </a:ext>
            </a:extLst>
          </p:cNvPr>
          <p:cNvGrpSpPr/>
          <p:nvPr/>
        </p:nvGrpSpPr>
        <p:grpSpPr>
          <a:xfrm>
            <a:off x="2573518" y="2235529"/>
            <a:ext cx="3407626" cy="3742348"/>
            <a:chOff x="2888970" y="2069663"/>
            <a:chExt cx="3407626" cy="3742348"/>
          </a:xfrm>
        </p:grpSpPr>
        <p:grpSp>
          <p:nvGrpSpPr>
            <p:cNvPr id="2" name="グループ化 1">
              <a:extLst>
                <a:ext uri="{FF2B5EF4-FFF2-40B4-BE49-F238E27FC236}">
                  <a16:creationId xmlns:a16="http://schemas.microsoft.com/office/drawing/2014/main" id="{46681D29-1C71-E1FB-A3C9-E60B6080A629}"/>
                </a:ext>
              </a:extLst>
            </p:cNvPr>
            <p:cNvGrpSpPr/>
            <p:nvPr/>
          </p:nvGrpSpPr>
          <p:grpSpPr>
            <a:xfrm>
              <a:off x="2888970" y="2069663"/>
              <a:ext cx="2465986" cy="3742348"/>
              <a:chOff x="2888970" y="2069663"/>
              <a:chExt cx="2465986" cy="3742348"/>
            </a:xfrm>
          </p:grpSpPr>
          <p:grpSp>
            <p:nvGrpSpPr>
              <p:cNvPr id="29" name="グループ化 28">
                <a:extLst>
                  <a:ext uri="{FF2B5EF4-FFF2-40B4-BE49-F238E27FC236}">
                    <a16:creationId xmlns:a16="http://schemas.microsoft.com/office/drawing/2014/main" id="{8D0DC4C6-4CE0-7327-202C-3693A99CCF78}"/>
                  </a:ext>
                </a:extLst>
              </p:cNvPr>
              <p:cNvGrpSpPr/>
              <p:nvPr/>
            </p:nvGrpSpPr>
            <p:grpSpPr>
              <a:xfrm>
                <a:off x="4281871" y="2169541"/>
                <a:ext cx="619775" cy="3642470"/>
                <a:chOff x="1520004" y="2235529"/>
                <a:chExt cx="619775" cy="3642470"/>
              </a:xfrm>
            </p:grpSpPr>
            <p:sp>
              <p:nvSpPr>
                <p:cNvPr id="10" name="正方形/長方形 9">
                  <a:extLst>
                    <a:ext uri="{FF2B5EF4-FFF2-40B4-BE49-F238E27FC236}">
                      <a16:creationId xmlns:a16="http://schemas.microsoft.com/office/drawing/2014/main" id="{C4B306AF-F889-C484-496E-CE2D57404D3D}"/>
                    </a:ext>
                  </a:extLst>
                </p:cNvPr>
                <p:cNvSpPr/>
                <p:nvPr/>
              </p:nvSpPr>
              <p:spPr>
                <a:xfrm>
                  <a:off x="1529331" y="3643720"/>
                  <a:ext cx="601121" cy="35669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800" b="1" dirty="0"/>
                    <a:t>C</a:t>
                  </a:r>
                  <a:endParaRPr kumimoji="1" lang="ja-JP" altLang="en-US" sz="1800" b="1"/>
                </a:p>
              </p:txBody>
            </p:sp>
            <p:sp>
              <p:nvSpPr>
                <p:cNvPr id="11" name="正方形/長方形 10">
                  <a:extLst>
                    <a:ext uri="{FF2B5EF4-FFF2-40B4-BE49-F238E27FC236}">
                      <a16:creationId xmlns:a16="http://schemas.microsoft.com/office/drawing/2014/main" id="{43E9D19D-C510-B5DA-1C2E-9D7A58A88991}"/>
                    </a:ext>
                  </a:extLst>
                </p:cNvPr>
                <p:cNvSpPr/>
                <p:nvPr/>
              </p:nvSpPr>
              <p:spPr>
                <a:xfrm>
                  <a:off x="1529331" y="3174323"/>
                  <a:ext cx="601121" cy="35669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800" b="1" dirty="0"/>
                    <a:t>AB</a:t>
                  </a:r>
                  <a:endParaRPr kumimoji="1" lang="ja-JP" altLang="en-US" sz="1800" b="1"/>
                </a:p>
              </p:txBody>
            </p:sp>
            <p:sp>
              <p:nvSpPr>
                <p:cNvPr id="12" name="正方形/長方形 11">
                  <a:extLst>
                    <a:ext uri="{FF2B5EF4-FFF2-40B4-BE49-F238E27FC236}">
                      <a16:creationId xmlns:a16="http://schemas.microsoft.com/office/drawing/2014/main" id="{5064771D-3F07-9478-E726-AA326D87F48A}"/>
                    </a:ext>
                  </a:extLst>
                </p:cNvPr>
                <p:cNvSpPr/>
                <p:nvPr/>
              </p:nvSpPr>
              <p:spPr>
                <a:xfrm>
                  <a:off x="1529331" y="2704926"/>
                  <a:ext cx="601121" cy="35669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800" b="1" dirty="0"/>
                    <a:t>AB</a:t>
                  </a:r>
                  <a:endParaRPr kumimoji="1" lang="ja-JP" altLang="en-US" sz="1800" b="1"/>
                </a:p>
              </p:txBody>
            </p:sp>
            <p:sp>
              <p:nvSpPr>
                <p:cNvPr id="13" name="正方形/長方形 12">
                  <a:extLst>
                    <a:ext uri="{FF2B5EF4-FFF2-40B4-BE49-F238E27FC236}">
                      <a16:creationId xmlns:a16="http://schemas.microsoft.com/office/drawing/2014/main" id="{8B4E6A3A-E06E-0499-C4AB-480F365365F4}"/>
                    </a:ext>
                  </a:extLst>
                </p:cNvPr>
                <p:cNvSpPr/>
                <p:nvPr/>
              </p:nvSpPr>
              <p:spPr>
                <a:xfrm>
                  <a:off x="1520004" y="2235529"/>
                  <a:ext cx="601121" cy="35669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800" b="1" dirty="0"/>
                    <a:t>AB</a:t>
                  </a:r>
                  <a:endParaRPr kumimoji="1" lang="ja-JP" altLang="en-US" sz="1800" b="1"/>
                </a:p>
              </p:txBody>
            </p:sp>
            <p:sp>
              <p:nvSpPr>
                <p:cNvPr id="15" name="正方形/長方形 14">
                  <a:extLst>
                    <a:ext uri="{FF2B5EF4-FFF2-40B4-BE49-F238E27FC236}">
                      <a16:creationId xmlns:a16="http://schemas.microsoft.com/office/drawing/2014/main" id="{ADF708F8-C11B-DF53-24F7-F4A17FF708E1}"/>
                    </a:ext>
                  </a:extLst>
                </p:cNvPr>
                <p:cNvSpPr/>
                <p:nvPr/>
              </p:nvSpPr>
              <p:spPr>
                <a:xfrm>
                  <a:off x="1538658" y="5521308"/>
                  <a:ext cx="601121" cy="35669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800" b="1" dirty="0"/>
                    <a:t>AB</a:t>
                  </a:r>
                  <a:endParaRPr kumimoji="1" lang="ja-JP" altLang="en-US" sz="1800" b="1"/>
                </a:p>
              </p:txBody>
            </p:sp>
            <p:sp>
              <p:nvSpPr>
                <p:cNvPr id="16" name="正方形/長方形 15">
                  <a:extLst>
                    <a:ext uri="{FF2B5EF4-FFF2-40B4-BE49-F238E27FC236}">
                      <a16:creationId xmlns:a16="http://schemas.microsoft.com/office/drawing/2014/main" id="{B73E10AB-C585-76B9-292D-323E3A0B9D2F}"/>
                    </a:ext>
                  </a:extLst>
                </p:cNvPr>
                <p:cNvSpPr/>
                <p:nvPr/>
              </p:nvSpPr>
              <p:spPr>
                <a:xfrm>
                  <a:off x="1538658" y="5051911"/>
                  <a:ext cx="601121" cy="35669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800" b="1" dirty="0"/>
                    <a:t>D</a:t>
                  </a:r>
                  <a:endParaRPr kumimoji="1" lang="ja-JP" altLang="en-US" sz="1800" b="1"/>
                </a:p>
              </p:txBody>
            </p:sp>
            <p:sp>
              <p:nvSpPr>
                <p:cNvPr id="17" name="正方形/長方形 16">
                  <a:extLst>
                    <a:ext uri="{FF2B5EF4-FFF2-40B4-BE49-F238E27FC236}">
                      <a16:creationId xmlns:a16="http://schemas.microsoft.com/office/drawing/2014/main" id="{1BA5A31E-DC3E-0275-D38C-F89B8D155E9A}"/>
                    </a:ext>
                  </a:extLst>
                </p:cNvPr>
                <p:cNvSpPr/>
                <p:nvPr/>
              </p:nvSpPr>
              <p:spPr>
                <a:xfrm>
                  <a:off x="1538658" y="4582514"/>
                  <a:ext cx="601121" cy="35669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800" b="1" dirty="0"/>
                    <a:t>C</a:t>
                  </a:r>
                  <a:endParaRPr kumimoji="1" lang="ja-JP" altLang="en-US" sz="1800" b="1"/>
                </a:p>
              </p:txBody>
            </p:sp>
            <p:sp>
              <p:nvSpPr>
                <p:cNvPr id="18" name="正方形/長方形 17">
                  <a:extLst>
                    <a:ext uri="{FF2B5EF4-FFF2-40B4-BE49-F238E27FC236}">
                      <a16:creationId xmlns:a16="http://schemas.microsoft.com/office/drawing/2014/main" id="{2E4DCA65-869F-47A4-2D1C-D0CA02754D25}"/>
                    </a:ext>
                  </a:extLst>
                </p:cNvPr>
                <p:cNvSpPr/>
                <p:nvPr/>
              </p:nvSpPr>
              <p:spPr>
                <a:xfrm>
                  <a:off x="1529331" y="4113117"/>
                  <a:ext cx="601121" cy="35669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800" b="1" dirty="0"/>
                    <a:t>D</a:t>
                  </a:r>
                  <a:endParaRPr kumimoji="1" lang="ja-JP" altLang="en-US" sz="1800" b="1"/>
                </a:p>
              </p:txBody>
            </p:sp>
          </p:grpSp>
          <p:sp>
            <p:nvSpPr>
              <p:cNvPr id="44" name="右大かっこ 43">
                <a:extLst>
                  <a:ext uri="{FF2B5EF4-FFF2-40B4-BE49-F238E27FC236}">
                    <a16:creationId xmlns:a16="http://schemas.microsoft.com/office/drawing/2014/main" id="{FABA289A-F8B1-AFD2-A88F-0198D5724EC1}"/>
                  </a:ext>
                </a:extLst>
              </p:cNvPr>
              <p:cNvSpPr/>
              <p:nvPr/>
            </p:nvSpPr>
            <p:spPr>
              <a:xfrm>
                <a:off x="4991281" y="2069663"/>
                <a:ext cx="363675" cy="2420978"/>
              </a:xfrm>
              <a:prstGeom prst="rightBracket">
                <a:avLst>
                  <a:gd name="adj" fmla="val 0"/>
                </a:avLst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2" name="テキスト ボックス 51">
                <a:extLst>
                  <a:ext uri="{FF2B5EF4-FFF2-40B4-BE49-F238E27FC236}">
                    <a16:creationId xmlns:a16="http://schemas.microsoft.com/office/drawing/2014/main" id="{A539F933-321D-C075-4D9D-0FABF1AF5641}"/>
                  </a:ext>
                </a:extLst>
              </p:cNvPr>
              <p:cNvSpPr txBox="1"/>
              <p:nvPr/>
            </p:nvSpPr>
            <p:spPr>
              <a:xfrm>
                <a:off x="2888970" y="5164268"/>
                <a:ext cx="71141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ja-JP" sz="2000" b="1" dirty="0">
                    <a:solidFill>
                      <a:schemeClr val="accent1"/>
                    </a:solidFill>
                  </a:rPr>
                  <a:t>AB</a:t>
                </a:r>
              </a:p>
            </p:txBody>
          </p:sp>
        </p:grp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572EF96C-2902-E8BD-B04B-8A5B8190A7E2}"/>
                </a:ext>
              </a:extLst>
            </p:cNvPr>
            <p:cNvSpPr txBox="1"/>
            <p:nvPr/>
          </p:nvSpPr>
          <p:spPr>
            <a:xfrm>
              <a:off x="5002926" y="4593406"/>
              <a:ext cx="129367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000" b="1" dirty="0">
                  <a:solidFill>
                    <a:schemeClr val="accent1"/>
                  </a:solidFill>
                </a:rPr>
                <a:t>AB [1, 5]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DE28031-8ED8-FB38-58C6-E3FF60DBD7D4}"/>
                  </a:ext>
                </a:extLst>
              </p:cNvPr>
              <p:cNvSpPr txBox="1"/>
              <p:nvPr/>
            </p:nvSpPr>
            <p:spPr>
              <a:xfrm>
                <a:off x="649076" y="4287175"/>
                <a:ext cx="22886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sup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𝐴𝐵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 ≥</m:t>
                      </m:r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kumimoji="1" lang="en-US" altLang="ja-JP" sz="18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DE28031-8ED8-FB38-58C6-E3FF60DBD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076" y="4287175"/>
                <a:ext cx="2288604" cy="369332"/>
              </a:xfrm>
              <a:prstGeom prst="rect">
                <a:avLst/>
              </a:prstGeom>
              <a:blipFill>
                <a:blip r:embed="rId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B9CC519A-AD33-629F-2E5E-CB3F5D6AB5E5}"/>
              </a:ext>
            </a:extLst>
          </p:cNvPr>
          <p:cNvGrpSpPr/>
          <p:nvPr/>
        </p:nvGrpSpPr>
        <p:grpSpPr>
          <a:xfrm>
            <a:off x="6082424" y="3851202"/>
            <a:ext cx="2683811" cy="1300587"/>
            <a:chOff x="6045409" y="3622764"/>
            <a:chExt cx="2683811" cy="13005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615CBBB0-7440-B28C-89BF-DED4D73624E4}"/>
                    </a:ext>
                  </a:extLst>
                </p:cNvPr>
                <p:cNvSpPr txBox="1"/>
                <p:nvPr/>
              </p:nvSpPr>
              <p:spPr>
                <a:xfrm>
                  <a:off x="6045409" y="3622764"/>
                  <a:ext cx="268381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func>
                          <m:funcPr>
                            <m:ctrlPr>
                              <a:rPr kumimoji="1" lang="en-US" altLang="ja-JP" sz="18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ja-JP" sz="18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sup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ja-JP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kumimoji="1" lang="en-US" altLang="ja-JP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[1, 4]</m:t>
                                </m:r>
                              </m:e>
                            </m:d>
                          </m:e>
                        </m:func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=3 ≥ 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kumimoji="1" lang="en-US" altLang="ja-JP" sz="1800" dirty="0"/>
                </a:p>
              </p:txBody>
            </p:sp>
          </mc:Choice>
          <mc:Fallback xmlns="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615CBBB0-7440-B28C-89BF-DED4D73624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5409" y="3622764"/>
                  <a:ext cx="2683811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7505AF31-AA7C-BD3F-7253-F7E15E034903}"/>
                    </a:ext>
                  </a:extLst>
                </p:cNvPr>
                <p:cNvSpPr txBox="1"/>
                <p:nvPr/>
              </p:nvSpPr>
              <p:spPr>
                <a:xfrm>
                  <a:off x="6045409" y="4101029"/>
                  <a:ext cx="268381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func>
                          <m:funcPr>
                            <m:ctrlPr>
                              <a:rPr kumimoji="1" lang="en-US" altLang="ja-JP" sz="18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ja-JP" sz="18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sup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ja-JP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kumimoji="1" lang="en-US" altLang="ja-JP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[2, 5]</m:t>
                                </m:r>
                              </m:e>
                            </m:d>
                          </m:e>
                        </m:func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 ≥ 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kumimoji="1" lang="en-US" altLang="ja-JP" sz="1800" dirty="0"/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7505AF31-AA7C-BD3F-7253-F7E15E0349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5409" y="4101029"/>
                  <a:ext cx="2683811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612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E34B0B09-D128-87F4-007C-21FB63073F6E}"/>
                    </a:ext>
                  </a:extLst>
                </p:cNvPr>
                <p:cNvSpPr txBox="1"/>
                <p:nvPr/>
              </p:nvSpPr>
              <p:spPr>
                <a:xfrm>
                  <a:off x="6045409" y="4554019"/>
                  <a:ext cx="268381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func>
                          <m:funcPr>
                            <m:ctrlPr>
                              <a:rPr kumimoji="1" lang="en-US" altLang="ja-JP" sz="18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ja-JP" sz="18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sup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ja-JP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kumimoji="1" lang="en-US" altLang="ja-JP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[3, 6]</m:t>
                                </m:r>
                              </m:e>
                            </m:d>
                          </m:e>
                        </m:func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 &lt; 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kumimoji="1" lang="en-US" altLang="ja-JP" sz="1800" dirty="0"/>
                </a:p>
              </p:txBody>
            </p:sp>
          </mc:Choice>
          <mc:Fallback xmlns="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E34B0B09-D128-87F4-007C-21FB63073F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5409" y="4554019"/>
                  <a:ext cx="2683811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BCAEDBD5-A0DE-2A5A-3B74-AC51971B024E}"/>
              </a:ext>
            </a:extLst>
          </p:cNvPr>
          <p:cNvSpPr/>
          <p:nvPr/>
        </p:nvSpPr>
        <p:spPr>
          <a:xfrm>
            <a:off x="716438" y="4099671"/>
            <a:ext cx="2165884" cy="74322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75FB19E9-C527-3E7A-0C3E-48BF2178AF23}"/>
              </a:ext>
            </a:extLst>
          </p:cNvPr>
          <p:cNvSpPr/>
          <p:nvPr/>
        </p:nvSpPr>
        <p:spPr>
          <a:xfrm>
            <a:off x="5981144" y="3756815"/>
            <a:ext cx="2785091" cy="151463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C3B6FECD-DD36-CDC9-DD4D-943332FA524D}"/>
              </a:ext>
            </a:extLst>
          </p:cNvPr>
          <p:cNvSpPr/>
          <p:nvPr/>
        </p:nvSpPr>
        <p:spPr>
          <a:xfrm>
            <a:off x="3774390" y="2372147"/>
            <a:ext cx="167480" cy="283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1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84D2ACA-6C3E-22B9-17E0-091F80BA282B}"/>
              </a:ext>
            </a:extLst>
          </p:cNvPr>
          <p:cNvSpPr/>
          <p:nvPr/>
        </p:nvSpPr>
        <p:spPr>
          <a:xfrm>
            <a:off x="3774390" y="2826732"/>
            <a:ext cx="167480" cy="283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2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A35B4D1A-238F-11E5-D3CA-66F4A01DCF85}"/>
              </a:ext>
            </a:extLst>
          </p:cNvPr>
          <p:cNvSpPr/>
          <p:nvPr/>
        </p:nvSpPr>
        <p:spPr>
          <a:xfrm>
            <a:off x="3772163" y="3297747"/>
            <a:ext cx="167480" cy="283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3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52FE002C-DD79-6392-B04D-D48D8C3212EA}"/>
              </a:ext>
            </a:extLst>
          </p:cNvPr>
          <p:cNvSpPr/>
          <p:nvPr/>
        </p:nvSpPr>
        <p:spPr>
          <a:xfrm>
            <a:off x="3772163" y="3780338"/>
            <a:ext cx="167480" cy="283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4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25C5F1C6-C9CA-A093-849B-C32AC860B9D7}"/>
              </a:ext>
            </a:extLst>
          </p:cNvPr>
          <p:cNvSpPr/>
          <p:nvPr/>
        </p:nvSpPr>
        <p:spPr>
          <a:xfrm>
            <a:off x="3775750" y="4212995"/>
            <a:ext cx="167480" cy="283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5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217D73A9-7D9E-4CFB-7075-907C9B978B6D}"/>
              </a:ext>
            </a:extLst>
          </p:cNvPr>
          <p:cNvSpPr/>
          <p:nvPr/>
        </p:nvSpPr>
        <p:spPr>
          <a:xfrm>
            <a:off x="3774390" y="4701286"/>
            <a:ext cx="167480" cy="283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6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FB7A8745-A4E6-EF87-FD69-BD7CEBDD9016}"/>
              </a:ext>
            </a:extLst>
          </p:cNvPr>
          <p:cNvSpPr/>
          <p:nvPr/>
        </p:nvSpPr>
        <p:spPr>
          <a:xfrm>
            <a:off x="3772163" y="5166601"/>
            <a:ext cx="167480" cy="283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7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244E10E9-67D3-A1A6-2837-623E8682DEFE}"/>
              </a:ext>
            </a:extLst>
          </p:cNvPr>
          <p:cNvSpPr/>
          <p:nvPr/>
        </p:nvSpPr>
        <p:spPr>
          <a:xfrm>
            <a:off x="3772163" y="5652645"/>
            <a:ext cx="167480" cy="283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8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" name="右大かっこ 5">
            <a:extLst>
              <a:ext uri="{FF2B5EF4-FFF2-40B4-BE49-F238E27FC236}">
                <a16:creationId xmlns:a16="http://schemas.microsoft.com/office/drawing/2014/main" id="{0256808F-E673-E537-CE3D-D4D84DE3CB08}"/>
              </a:ext>
            </a:extLst>
          </p:cNvPr>
          <p:cNvSpPr/>
          <p:nvPr/>
        </p:nvSpPr>
        <p:spPr>
          <a:xfrm flipH="1">
            <a:off x="3317762" y="2235529"/>
            <a:ext cx="438143" cy="3903161"/>
          </a:xfrm>
          <a:prstGeom prst="rightBracket">
            <a:avLst>
              <a:gd name="adj" fmla="val 0"/>
            </a:avLst>
          </a:prstGeom>
          <a:noFill/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F5C6D6C-01E4-3C64-7BBB-A4AE944BD9DB}"/>
              </a:ext>
            </a:extLst>
          </p:cNvPr>
          <p:cNvSpPr/>
          <p:nvPr/>
        </p:nvSpPr>
        <p:spPr>
          <a:xfrm>
            <a:off x="279206" y="2013512"/>
            <a:ext cx="3501248" cy="4205804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大かっこ 31">
            <a:extLst>
              <a:ext uri="{FF2B5EF4-FFF2-40B4-BE49-F238E27FC236}">
                <a16:creationId xmlns:a16="http://schemas.microsoft.com/office/drawing/2014/main" id="{377346A0-09DA-EBC3-CC2D-0A32029C6E02}"/>
              </a:ext>
            </a:extLst>
          </p:cNvPr>
          <p:cNvSpPr/>
          <p:nvPr/>
        </p:nvSpPr>
        <p:spPr>
          <a:xfrm>
            <a:off x="6826928" y="2692098"/>
            <a:ext cx="1054586" cy="810491"/>
          </a:xfrm>
          <a:prstGeom prst="bracketPair">
            <a:avLst>
              <a:gd name="adj" fmla="val 12286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12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A3B3AC6D-8D21-DF36-1495-824137355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66C7C7E9-D442-873D-3CE9-D7FFA9A088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ja-JP" b="1" dirty="0"/>
              <a:t>Frequent</a:t>
            </a:r>
            <a:r>
              <a:rPr lang="ja-JP" altLang="ja-JP" b="1"/>
              <a:t> Pattern </a:t>
            </a:r>
            <a:r>
              <a:rPr lang="en-US" altLang="ja-JP" b="1" dirty="0"/>
              <a:t>&amp;</a:t>
            </a:r>
            <a:r>
              <a:rPr lang="ja-JP" altLang="ja-JP" b="1"/>
              <a:t> Dense </a:t>
            </a:r>
            <a:r>
              <a:rPr lang="en-US" altLang="ja-JP" b="1" dirty="0"/>
              <a:t>Pattern</a:t>
            </a:r>
            <a:endParaRPr b="1" dirty="0"/>
          </a:p>
        </p:txBody>
      </p:sp>
      <p:sp>
        <p:nvSpPr>
          <p:cNvPr id="9" name="Google Shape;105;p2">
            <a:extLst>
              <a:ext uri="{FF2B5EF4-FFF2-40B4-BE49-F238E27FC236}">
                <a16:creationId xmlns:a16="http://schemas.microsoft.com/office/drawing/2014/main" id="{ED5866FE-125B-5F92-84AC-978DBED235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09" y="1122218"/>
            <a:ext cx="8821882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Frequent pattern = </a:t>
            </a:r>
            <a:r>
              <a:rPr lang="ja-JP" altLang="ja-JP" b="1">
                <a:solidFill>
                  <a:srgbClr val="C00000"/>
                </a:solidFill>
              </a:rPr>
              <a:t>global</a:t>
            </a:r>
            <a:r>
              <a:rPr lang="ja-JP" altLang="ja-JP"/>
              <a:t> count ≥ θ, no time info. Dense pattern = window count ≥ θ somewhere — gives both </a:t>
            </a:r>
            <a:r>
              <a:rPr lang="ja-JP" altLang="ja-JP" b="1">
                <a:solidFill>
                  <a:srgbClr val="C00000"/>
                </a:solidFill>
              </a:rPr>
              <a:t>what</a:t>
            </a:r>
            <a:r>
              <a:rPr lang="ja-JP" altLang="ja-JP"/>
              <a:t> and </a:t>
            </a:r>
            <a:r>
              <a:rPr lang="ja-JP" altLang="ja-JP" b="1">
                <a:solidFill>
                  <a:srgbClr val="C00000"/>
                </a:solidFill>
              </a:rPr>
              <a:t>when/where</a:t>
            </a:r>
            <a:r>
              <a:rPr lang="ja-JP" altLang="ja-JP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4AD931E0-40E2-79A0-1182-A9BB09701840}"/>
                  </a:ext>
                </a:extLst>
              </p:cNvPr>
              <p:cNvSpPr txBox="1"/>
              <p:nvPr/>
            </p:nvSpPr>
            <p:spPr>
              <a:xfrm>
                <a:off x="1046328" y="2944714"/>
                <a:ext cx="13833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kumimoji="1" lang="en-US" altLang="ja-JP" sz="1800" dirty="0"/>
              </a:p>
            </p:txBody>
          </p:sp>
        </mc:Choice>
        <mc:Fallback xmlns="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4AD931E0-40E2-79A0-1182-A9BB097018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328" y="2944714"/>
                <a:ext cx="138338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74FE66D5-C030-0D5E-A909-F6219BFA6FA0}"/>
                  </a:ext>
                </a:extLst>
              </p:cNvPr>
              <p:cNvSpPr txBox="1"/>
              <p:nvPr/>
            </p:nvSpPr>
            <p:spPr>
              <a:xfrm>
                <a:off x="6679357" y="2738237"/>
                <a:ext cx="138338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kumimoji="1" lang="en-US" altLang="ja-JP" sz="1800" dirty="0"/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kumimoji="1" lang="en-US" altLang="ja-JP" sz="1800" dirty="0"/>
              </a:p>
            </p:txBody>
          </p:sp>
        </mc:Choice>
        <mc:Fallback xmlns=""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74FE66D5-C030-0D5E-A909-F6219BFA6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9357" y="2738237"/>
                <a:ext cx="1383382" cy="646331"/>
              </a:xfrm>
              <a:prstGeom prst="rect">
                <a:avLst/>
              </a:prstGeom>
              <a:blipFill>
                <a:blip r:embed="rId4"/>
                <a:stretch>
                  <a:fillRect b="-96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9407F3F7-A2D7-CBD6-93F2-6622DA3A6997}"/>
              </a:ext>
            </a:extLst>
          </p:cNvPr>
          <p:cNvSpPr/>
          <p:nvPr/>
        </p:nvSpPr>
        <p:spPr>
          <a:xfrm>
            <a:off x="593717" y="2289697"/>
            <a:ext cx="2288604" cy="4686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u="sng" dirty="0">
                <a:solidFill>
                  <a:schemeClr val="tx1"/>
                </a:solidFill>
              </a:rPr>
              <a:t>Frequent Pattern</a:t>
            </a:r>
            <a:endParaRPr kumimoji="1" lang="ja-JP" altLang="en-US" sz="1800" b="1" u="sng">
              <a:solidFill>
                <a:schemeClr val="tx1"/>
              </a:solidFill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1BE06E1E-0A0A-8092-914B-D1AB8DBD1E3B}"/>
              </a:ext>
            </a:extLst>
          </p:cNvPr>
          <p:cNvSpPr/>
          <p:nvPr/>
        </p:nvSpPr>
        <p:spPr>
          <a:xfrm>
            <a:off x="6226746" y="2235529"/>
            <a:ext cx="2288604" cy="4686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u="sng" dirty="0">
                <a:solidFill>
                  <a:schemeClr val="tx1"/>
                </a:solidFill>
              </a:rPr>
              <a:t>Dense Pattern</a:t>
            </a:r>
            <a:endParaRPr kumimoji="1" lang="ja-JP" altLang="en-US" sz="1800" b="1" u="sng">
              <a:solidFill>
                <a:schemeClr val="tx1"/>
              </a:solidFill>
            </a:endParaRP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7DF57137-50E5-2358-1BBE-1046DF1D1EE1}"/>
              </a:ext>
            </a:extLst>
          </p:cNvPr>
          <p:cNvGrpSpPr/>
          <p:nvPr/>
        </p:nvGrpSpPr>
        <p:grpSpPr>
          <a:xfrm>
            <a:off x="2573518" y="2235529"/>
            <a:ext cx="3407626" cy="3742348"/>
            <a:chOff x="2888970" y="2069663"/>
            <a:chExt cx="3407626" cy="3742348"/>
          </a:xfrm>
        </p:grpSpPr>
        <p:grpSp>
          <p:nvGrpSpPr>
            <p:cNvPr id="2" name="グループ化 1">
              <a:extLst>
                <a:ext uri="{FF2B5EF4-FFF2-40B4-BE49-F238E27FC236}">
                  <a16:creationId xmlns:a16="http://schemas.microsoft.com/office/drawing/2014/main" id="{D212EB48-4B83-BFB1-C610-EC1A55C12CA5}"/>
                </a:ext>
              </a:extLst>
            </p:cNvPr>
            <p:cNvGrpSpPr/>
            <p:nvPr/>
          </p:nvGrpSpPr>
          <p:grpSpPr>
            <a:xfrm>
              <a:off x="2888970" y="2069663"/>
              <a:ext cx="2465986" cy="3742348"/>
              <a:chOff x="2888970" y="2069663"/>
              <a:chExt cx="2465986" cy="3742348"/>
            </a:xfrm>
          </p:grpSpPr>
          <p:grpSp>
            <p:nvGrpSpPr>
              <p:cNvPr id="29" name="グループ化 28">
                <a:extLst>
                  <a:ext uri="{FF2B5EF4-FFF2-40B4-BE49-F238E27FC236}">
                    <a16:creationId xmlns:a16="http://schemas.microsoft.com/office/drawing/2014/main" id="{7650D55C-6BE2-7847-78DB-05F14595D3D7}"/>
                  </a:ext>
                </a:extLst>
              </p:cNvPr>
              <p:cNvGrpSpPr/>
              <p:nvPr/>
            </p:nvGrpSpPr>
            <p:grpSpPr>
              <a:xfrm>
                <a:off x="4281871" y="2169541"/>
                <a:ext cx="619775" cy="3642470"/>
                <a:chOff x="1520004" y="2235529"/>
                <a:chExt cx="619775" cy="3642470"/>
              </a:xfrm>
            </p:grpSpPr>
            <p:sp>
              <p:nvSpPr>
                <p:cNvPr id="10" name="正方形/長方形 9">
                  <a:extLst>
                    <a:ext uri="{FF2B5EF4-FFF2-40B4-BE49-F238E27FC236}">
                      <a16:creationId xmlns:a16="http://schemas.microsoft.com/office/drawing/2014/main" id="{A1AC139F-21B0-A74D-7DA8-B0F8C888B8AF}"/>
                    </a:ext>
                  </a:extLst>
                </p:cNvPr>
                <p:cNvSpPr/>
                <p:nvPr/>
              </p:nvSpPr>
              <p:spPr>
                <a:xfrm>
                  <a:off x="1529331" y="3643720"/>
                  <a:ext cx="601121" cy="35669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800" b="1" dirty="0"/>
                    <a:t>C</a:t>
                  </a:r>
                  <a:endParaRPr kumimoji="1" lang="ja-JP" altLang="en-US" sz="1800" b="1"/>
                </a:p>
              </p:txBody>
            </p:sp>
            <p:sp>
              <p:nvSpPr>
                <p:cNvPr id="11" name="正方形/長方形 10">
                  <a:extLst>
                    <a:ext uri="{FF2B5EF4-FFF2-40B4-BE49-F238E27FC236}">
                      <a16:creationId xmlns:a16="http://schemas.microsoft.com/office/drawing/2014/main" id="{A06A7A35-6342-F09F-6ED0-C33CE3401A24}"/>
                    </a:ext>
                  </a:extLst>
                </p:cNvPr>
                <p:cNvSpPr/>
                <p:nvPr/>
              </p:nvSpPr>
              <p:spPr>
                <a:xfrm>
                  <a:off x="1529331" y="3174323"/>
                  <a:ext cx="601121" cy="35669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800" b="1" dirty="0"/>
                    <a:t>AB</a:t>
                  </a:r>
                  <a:endParaRPr kumimoji="1" lang="ja-JP" altLang="en-US" sz="1800" b="1"/>
                </a:p>
              </p:txBody>
            </p:sp>
            <p:sp>
              <p:nvSpPr>
                <p:cNvPr id="12" name="正方形/長方形 11">
                  <a:extLst>
                    <a:ext uri="{FF2B5EF4-FFF2-40B4-BE49-F238E27FC236}">
                      <a16:creationId xmlns:a16="http://schemas.microsoft.com/office/drawing/2014/main" id="{80966E85-9066-00B2-F4FC-ADAB044DC778}"/>
                    </a:ext>
                  </a:extLst>
                </p:cNvPr>
                <p:cNvSpPr/>
                <p:nvPr/>
              </p:nvSpPr>
              <p:spPr>
                <a:xfrm>
                  <a:off x="1529331" y="2704926"/>
                  <a:ext cx="601121" cy="35669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800" b="1" dirty="0"/>
                    <a:t>AB</a:t>
                  </a:r>
                  <a:endParaRPr kumimoji="1" lang="ja-JP" altLang="en-US" sz="1800" b="1"/>
                </a:p>
              </p:txBody>
            </p:sp>
            <p:sp>
              <p:nvSpPr>
                <p:cNvPr id="13" name="正方形/長方形 12">
                  <a:extLst>
                    <a:ext uri="{FF2B5EF4-FFF2-40B4-BE49-F238E27FC236}">
                      <a16:creationId xmlns:a16="http://schemas.microsoft.com/office/drawing/2014/main" id="{2EFA33D8-E447-FF9D-3693-6DA95B3D414B}"/>
                    </a:ext>
                  </a:extLst>
                </p:cNvPr>
                <p:cNvSpPr/>
                <p:nvPr/>
              </p:nvSpPr>
              <p:spPr>
                <a:xfrm>
                  <a:off x="1520004" y="2235529"/>
                  <a:ext cx="601121" cy="35669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800" b="1" dirty="0"/>
                    <a:t>AB</a:t>
                  </a:r>
                  <a:endParaRPr kumimoji="1" lang="ja-JP" altLang="en-US" sz="1800" b="1"/>
                </a:p>
              </p:txBody>
            </p:sp>
            <p:sp>
              <p:nvSpPr>
                <p:cNvPr id="15" name="正方形/長方形 14">
                  <a:extLst>
                    <a:ext uri="{FF2B5EF4-FFF2-40B4-BE49-F238E27FC236}">
                      <a16:creationId xmlns:a16="http://schemas.microsoft.com/office/drawing/2014/main" id="{AC3EBF7E-38C2-567A-C019-670F6007E43C}"/>
                    </a:ext>
                  </a:extLst>
                </p:cNvPr>
                <p:cNvSpPr/>
                <p:nvPr/>
              </p:nvSpPr>
              <p:spPr>
                <a:xfrm>
                  <a:off x="1538658" y="5521308"/>
                  <a:ext cx="601121" cy="35669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800" b="1" dirty="0"/>
                    <a:t>AB</a:t>
                  </a:r>
                  <a:endParaRPr kumimoji="1" lang="ja-JP" altLang="en-US" sz="1800" b="1"/>
                </a:p>
              </p:txBody>
            </p:sp>
            <p:sp>
              <p:nvSpPr>
                <p:cNvPr id="16" name="正方形/長方形 15">
                  <a:extLst>
                    <a:ext uri="{FF2B5EF4-FFF2-40B4-BE49-F238E27FC236}">
                      <a16:creationId xmlns:a16="http://schemas.microsoft.com/office/drawing/2014/main" id="{83C5F380-8054-B1AC-DCE8-6B5352B50E50}"/>
                    </a:ext>
                  </a:extLst>
                </p:cNvPr>
                <p:cNvSpPr/>
                <p:nvPr/>
              </p:nvSpPr>
              <p:spPr>
                <a:xfrm>
                  <a:off x="1538658" y="5051911"/>
                  <a:ext cx="601121" cy="35669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800" b="1" dirty="0"/>
                    <a:t>D</a:t>
                  </a:r>
                  <a:endParaRPr kumimoji="1" lang="ja-JP" altLang="en-US" sz="1800" b="1"/>
                </a:p>
              </p:txBody>
            </p:sp>
            <p:sp>
              <p:nvSpPr>
                <p:cNvPr id="17" name="正方形/長方形 16">
                  <a:extLst>
                    <a:ext uri="{FF2B5EF4-FFF2-40B4-BE49-F238E27FC236}">
                      <a16:creationId xmlns:a16="http://schemas.microsoft.com/office/drawing/2014/main" id="{2C014689-F912-4AB0-56F0-56D077B0138E}"/>
                    </a:ext>
                  </a:extLst>
                </p:cNvPr>
                <p:cNvSpPr/>
                <p:nvPr/>
              </p:nvSpPr>
              <p:spPr>
                <a:xfrm>
                  <a:off x="1538658" y="4582514"/>
                  <a:ext cx="601121" cy="35669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800" b="1" dirty="0"/>
                    <a:t>C</a:t>
                  </a:r>
                  <a:endParaRPr kumimoji="1" lang="ja-JP" altLang="en-US" sz="1800" b="1"/>
                </a:p>
              </p:txBody>
            </p:sp>
            <p:sp>
              <p:nvSpPr>
                <p:cNvPr id="18" name="正方形/長方形 17">
                  <a:extLst>
                    <a:ext uri="{FF2B5EF4-FFF2-40B4-BE49-F238E27FC236}">
                      <a16:creationId xmlns:a16="http://schemas.microsoft.com/office/drawing/2014/main" id="{93AD0072-6205-904D-2B10-0D8817473A38}"/>
                    </a:ext>
                  </a:extLst>
                </p:cNvPr>
                <p:cNvSpPr/>
                <p:nvPr/>
              </p:nvSpPr>
              <p:spPr>
                <a:xfrm>
                  <a:off x="1529331" y="4113117"/>
                  <a:ext cx="601121" cy="35669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800" b="1" dirty="0"/>
                    <a:t>D</a:t>
                  </a:r>
                  <a:endParaRPr kumimoji="1" lang="ja-JP" altLang="en-US" sz="1800" b="1"/>
                </a:p>
              </p:txBody>
            </p:sp>
          </p:grpSp>
          <p:sp>
            <p:nvSpPr>
              <p:cNvPr id="44" name="右大かっこ 43">
                <a:extLst>
                  <a:ext uri="{FF2B5EF4-FFF2-40B4-BE49-F238E27FC236}">
                    <a16:creationId xmlns:a16="http://schemas.microsoft.com/office/drawing/2014/main" id="{87E6F9BC-E770-0C2F-B8B7-50C1F30F404C}"/>
                  </a:ext>
                </a:extLst>
              </p:cNvPr>
              <p:cNvSpPr/>
              <p:nvPr/>
            </p:nvSpPr>
            <p:spPr>
              <a:xfrm>
                <a:off x="4991281" y="2069663"/>
                <a:ext cx="363675" cy="2420978"/>
              </a:xfrm>
              <a:prstGeom prst="rightBracket">
                <a:avLst>
                  <a:gd name="adj" fmla="val 0"/>
                </a:avLst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2" name="テキスト ボックス 51">
                <a:extLst>
                  <a:ext uri="{FF2B5EF4-FFF2-40B4-BE49-F238E27FC236}">
                    <a16:creationId xmlns:a16="http://schemas.microsoft.com/office/drawing/2014/main" id="{C270AE8B-E92E-B3E6-87C0-91D9E6A7E68F}"/>
                  </a:ext>
                </a:extLst>
              </p:cNvPr>
              <p:cNvSpPr txBox="1"/>
              <p:nvPr/>
            </p:nvSpPr>
            <p:spPr>
              <a:xfrm>
                <a:off x="2888970" y="5164268"/>
                <a:ext cx="71141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ja-JP" sz="2000" b="1" dirty="0">
                    <a:solidFill>
                      <a:schemeClr val="accent1"/>
                    </a:solidFill>
                  </a:rPr>
                  <a:t>AB</a:t>
                </a:r>
              </a:p>
            </p:txBody>
          </p:sp>
        </p:grp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B3EDF524-2AB5-9FC1-AD7B-EDE8B1F82D2A}"/>
                </a:ext>
              </a:extLst>
            </p:cNvPr>
            <p:cNvSpPr txBox="1"/>
            <p:nvPr/>
          </p:nvSpPr>
          <p:spPr>
            <a:xfrm>
              <a:off x="5002926" y="4593406"/>
              <a:ext cx="129367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000" b="1" dirty="0">
                  <a:solidFill>
                    <a:schemeClr val="accent1"/>
                  </a:solidFill>
                </a:rPr>
                <a:t>AB [1, 5]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A6A6884E-606C-55BD-FED3-47C9FFA9621E}"/>
                  </a:ext>
                </a:extLst>
              </p:cNvPr>
              <p:cNvSpPr txBox="1"/>
              <p:nvPr/>
            </p:nvSpPr>
            <p:spPr>
              <a:xfrm>
                <a:off x="649076" y="4287175"/>
                <a:ext cx="22886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sup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𝐴𝐵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 ≥</m:t>
                      </m:r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kumimoji="1" lang="en-US" altLang="ja-JP" sz="18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A6A6884E-606C-55BD-FED3-47C9FFA96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076" y="4287175"/>
                <a:ext cx="2288604" cy="369332"/>
              </a:xfrm>
              <a:prstGeom prst="rect">
                <a:avLst/>
              </a:prstGeom>
              <a:blipFill>
                <a:blip r:embed="rId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85815841-DBEE-691A-C188-C915B38F3862}"/>
              </a:ext>
            </a:extLst>
          </p:cNvPr>
          <p:cNvGrpSpPr/>
          <p:nvPr/>
        </p:nvGrpSpPr>
        <p:grpSpPr>
          <a:xfrm>
            <a:off x="6082424" y="3851202"/>
            <a:ext cx="2683811" cy="1300587"/>
            <a:chOff x="6045409" y="3622764"/>
            <a:chExt cx="2683811" cy="13005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AA680451-56B1-D068-0632-854E32B8AA18}"/>
                    </a:ext>
                  </a:extLst>
                </p:cNvPr>
                <p:cNvSpPr txBox="1"/>
                <p:nvPr/>
              </p:nvSpPr>
              <p:spPr>
                <a:xfrm>
                  <a:off x="6045409" y="3622764"/>
                  <a:ext cx="268381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func>
                          <m:funcPr>
                            <m:ctrlPr>
                              <a:rPr kumimoji="1" lang="en-US" altLang="ja-JP" sz="18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ja-JP" sz="18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sup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ja-JP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kumimoji="1" lang="en-US" altLang="ja-JP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[1, 4]</m:t>
                                </m:r>
                              </m:e>
                            </m:d>
                          </m:e>
                        </m:func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=3 ≥ 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kumimoji="1" lang="en-US" altLang="ja-JP" sz="1800" dirty="0"/>
                </a:p>
              </p:txBody>
            </p:sp>
          </mc:Choice>
          <mc:Fallback xmlns="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AA680451-56B1-D068-0632-854E32B8AA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5409" y="3622764"/>
                  <a:ext cx="2683811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F85D26CE-9DAC-0E49-571F-C2A35FF4CDEB}"/>
                    </a:ext>
                  </a:extLst>
                </p:cNvPr>
                <p:cNvSpPr txBox="1"/>
                <p:nvPr/>
              </p:nvSpPr>
              <p:spPr>
                <a:xfrm>
                  <a:off x="6045409" y="4101029"/>
                  <a:ext cx="268381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func>
                          <m:funcPr>
                            <m:ctrlPr>
                              <a:rPr kumimoji="1" lang="en-US" altLang="ja-JP" sz="18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ja-JP" sz="18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sup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ja-JP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kumimoji="1" lang="en-US" altLang="ja-JP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[2, 5]</m:t>
                                </m:r>
                              </m:e>
                            </m:d>
                          </m:e>
                        </m:func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 ≥ 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kumimoji="1" lang="en-US" altLang="ja-JP" sz="1800" dirty="0"/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F85D26CE-9DAC-0E49-571F-C2A35FF4CD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5409" y="4101029"/>
                  <a:ext cx="2683811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612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F5FCA191-3FB5-44F2-A7E7-84026CE25AF0}"/>
                    </a:ext>
                  </a:extLst>
                </p:cNvPr>
                <p:cNvSpPr txBox="1"/>
                <p:nvPr/>
              </p:nvSpPr>
              <p:spPr>
                <a:xfrm>
                  <a:off x="6045409" y="4554019"/>
                  <a:ext cx="268381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func>
                          <m:funcPr>
                            <m:ctrlPr>
                              <a:rPr kumimoji="1" lang="en-US" altLang="ja-JP" sz="18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ja-JP" sz="18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sup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ja-JP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kumimoji="1" lang="en-US" altLang="ja-JP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[3, 6]</m:t>
                                </m:r>
                              </m:e>
                            </m:d>
                          </m:e>
                        </m:func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 &lt; 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kumimoji="1" lang="en-US" altLang="ja-JP" sz="1800" dirty="0"/>
                </a:p>
              </p:txBody>
            </p:sp>
          </mc:Choice>
          <mc:Fallback xmlns="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F5FCA191-3FB5-44F2-A7E7-84026CE25A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5409" y="4554019"/>
                  <a:ext cx="2683811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AE9E8D8-F8A9-11FA-80F7-207DE362B96D}"/>
              </a:ext>
            </a:extLst>
          </p:cNvPr>
          <p:cNvSpPr/>
          <p:nvPr/>
        </p:nvSpPr>
        <p:spPr>
          <a:xfrm>
            <a:off x="716438" y="4099671"/>
            <a:ext cx="2165884" cy="74322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11AD9946-2395-FC73-72B3-493038F92171}"/>
              </a:ext>
            </a:extLst>
          </p:cNvPr>
          <p:cNvSpPr/>
          <p:nvPr/>
        </p:nvSpPr>
        <p:spPr>
          <a:xfrm>
            <a:off x="5981144" y="3756815"/>
            <a:ext cx="2785091" cy="151463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8A111D24-0D27-4AD5-A512-701C7D85D58E}"/>
              </a:ext>
            </a:extLst>
          </p:cNvPr>
          <p:cNvSpPr/>
          <p:nvPr/>
        </p:nvSpPr>
        <p:spPr>
          <a:xfrm>
            <a:off x="3774390" y="2372147"/>
            <a:ext cx="167480" cy="283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1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F99E56C8-365A-5BE9-FE99-549F4609CCA2}"/>
              </a:ext>
            </a:extLst>
          </p:cNvPr>
          <p:cNvSpPr/>
          <p:nvPr/>
        </p:nvSpPr>
        <p:spPr>
          <a:xfrm>
            <a:off x="3774390" y="2826732"/>
            <a:ext cx="167480" cy="283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2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9ACE53D6-BE3D-008A-7165-8F213DB4A02C}"/>
              </a:ext>
            </a:extLst>
          </p:cNvPr>
          <p:cNvSpPr/>
          <p:nvPr/>
        </p:nvSpPr>
        <p:spPr>
          <a:xfrm>
            <a:off x="3772163" y="3297747"/>
            <a:ext cx="167480" cy="283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3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AB33BF3B-BDCF-CF7E-16F6-7945E6A2A5E8}"/>
              </a:ext>
            </a:extLst>
          </p:cNvPr>
          <p:cNvSpPr/>
          <p:nvPr/>
        </p:nvSpPr>
        <p:spPr>
          <a:xfrm>
            <a:off x="3772163" y="3780338"/>
            <a:ext cx="167480" cy="283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4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6D6B296C-2ECE-AC35-D132-D44D57EE1EFB}"/>
              </a:ext>
            </a:extLst>
          </p:cNvPr>
          <p:cNvSpPr/>
          <p:nvPr/>
        </p:nvSpPr>
        <p:spPr>
          <a:xfrm>
            <a:off x="3775750" y="4212995"/>
            <a:ext cx="167480" cy="283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5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0E95C3EC-7471-5C97-BC0B-C5747CE571F1}"/>
              </a:ext>
            </a:extLst>
          </p:cNvPr>
          <p:cNvSpPr/>
          <p:nvPr/>
        </p:nvSpPr>
        <p:spPr>
          <a:xfrm>
            <a:off x="3774390" y="4701286"/>
            <a:ext cx="167480" cy="283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6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3FACC5AD-7EA5-F719-6C99-86FAC14BF5A9}"/>
              </a:ext>
            </a:extLst>
          </p:cNvPr>
          <p:cNvSpPr/>
          <p:nvPr/>
        </p:nvSpPr>
        <p:spPr>
          <a:xfrm>
            <a:off x="3772163" y="5166601"/>
            <a:ext cx="167480" cy="283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7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A7AE22E0-F0A3-9656-519C-638DE1561855}"/>
              </a:ext>
            </a:extLst>
          </p:cNvPr>
          <p:cNvSpPr/>
          <p:nvPr/>
        </p:nvSpPr>
        <p:spPr>
          <a:xfrm>
            <a:off x="3772163" y="5652645"/>
            <a:ext cx="167480" cy="283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8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" name="右大かっこ 5">
            <a:extLst>
              <a:ext uri="{FF2B5EF4-FFF2-40B4-BE49-F238E27FC236}">
                <a16:creationId xmlns:a16="http://schemas.microsoft.com/office/drawing/2014/main" id="{D8E97554-1650-F263-C5DB-D11FF528FC91}"/>
              </a:ext>
            </a:extLst>
          </p:cNvPr>
          <p:cNvSpPr/>
          <p:nvPr/>
        </p:nvSpPr>
        <p:spPr>
          <a:xfrm flipH="1">
            <a:off x="3317762" y="2235529"/>
            <a:ext cx="438143" cy="3903161"/>
          </a:xfrm>
          <a:prstGeom prst="rightBracket">
            <a:avLst>
              <a:gd name="adj" fmla="val 0"/>
            </a:avLst>
          </a:prstGeom>
          <a:noFill/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大かっこ 3">
            <a:extLst>
              <a:ext uri="{FF2B5EF4-FFF2-40B4-BE49-F238E27FC236}">
                <a16:creationId xmlns:a16="http://schemas.microsoft.com/office/drawing/2014/main" id="{BF844966-CCB3-83A4-E7CF-5DD4FEC1F0D8}"/>
              </a:ext>
            </a:extLst>
          </p:cNvPr>
          <p:cNvSpPr/>
          <p:nvPr/>
        </p:nvSpPr>
        <p:spPr>
          <a:xfrm>
            <a:off x="6826928" y="2692098"/>
            <a:ext cx="1054586" cy="810491"/>
          </a:xfrm>
          <a:prstGeom prst="bracketPair">
            <a:avLst>
              <a:gd name="adj" fmla="val 12286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大かっこ 30">
            <a:extLst>
              <a:ext uri="{FF2B5EF4-FFF2-40B4-BE49-F238E27FC236}">
                <a16:creationId xmlns:a16="http://schemas.microsoft.com/office/drawing/2014/main" id="{14DBD894-638E-8172-14AA-45B57416B80B}"/>
              </a:ext>
            </a:extLst>
          </p:cNvPr>
          <p:cNvSpPr/>
          <p:nvPr/>
        </p:nvSpPr>
        <p:spPr>
          <a:xfrm>
            <a:off x="1262485" y="2878765"/>
            <a:ext cx="925889" cy="557836"/>
          </a:xfrm>
          <a:prstGeom prst="bracketPair">
            <a:avLst>
              <a:gd name="adj" fmla="val 12286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921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4578DAC5-8EAB-F931-527E-34ABA315F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071374BA-D029-C42F-3020-70281BBC8A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09" y="1122218"/>
            <a:ext cx="8821882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If a pattern is </a:t>
            </a:r>
            <a:r>
              <a:rPr lang="en-US" altLang="ja-JP" dirty="0"/>
              <a:t>frequent</a:t>
            </a:r>
            <a:r>
              <a:rPr lang="ja-JP" altLang="ja-JP"/>
              <a:t>, </a:t>
            </a:r>
            <a:r>
              <a:rPr lang="ja-JP" altLang="ja-JP" b="1">
                <a:solidFill>
                  <a:srgbClr val="C00000"/>
                </a:solidFill>
              </a:rPr>
              <a:t>all its subsets</a:t>
            </a:r>
            <a:r>
              <a:rPr lang="ja-JP" altLang="ja-JP"/>
              <a:t> are </a:t>
            </a:r>
            <a:r>
              <a:rPr lang="en-US" altLang="ja-JP" b="1" dirty="0">
                <a:solidFill>
                  <a:srgbClr val="C00000"/>
                </a:solidFill>
              </a:rPr>
              <a:t>frequent</a:t>
            </a:r>
            <a:r>
              <a:rPr lang="ja-JP" altLang="ja-JP"/>
              <a:t>. Equivalently: if any subset is not </a:t>
            </a:r>
            <a:r>
              <a:rPr lang="en-US" altLang="ja-JP" dirty="0"/>
              <a:t>frequent</a:t>
            </a:r>
            <a:r>
              <a:rPr lang="ja-JP" altLang="ja-JP"/>
              <a:t>, the pattern cannot be </a:t>
            </a:r>
            <a:r>
              <a:rPr lang="en-US" altLang="ja-JP" dirty="0"/>
              <a:t>frequent.</a:t>
            </a:r>
            <a:endParaRPr lang="ja-JP" altLang="ja-JP"/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7D02364F-2D8D-4750-0631-2AF8B2D5B6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The </a:t>
            </a:r>
            <a:r>
              <a:rPr lang="en-US" b="1" dirty="0" err="1"/>
              <a:t>Apriori</a:t>
            </a:r>
            <a:r>
              <a:rPr lang="en-US" b="1" dirty="0"/>
              <a:t> Property </a:t>
            </a:r>
            <a:r>
              <a:rPr lang="en-US" b="1" baseline="30000" dirty="0"/>
              <a:t>[1]</a:t>
            </a:r>
            <a:r>
              <a:rPr lang="en-US" b="1" dirty="0"/>
              <a:t> for Frequent Pattern</a:t>
            </a:r>
            <a:endParaRPr b="1" baseline="30000" dirty="0"/>
          </a:p>
        </p:txBody>
      </p:sp>
      <p:sp>
        <p:nvSpPr>
          <p:cNvPr id="2" name="Google Shape;176;p6">
            <a:extLst>
              <a:ext uri="{FF2B5EF4-FFF2-40B4-BE49-F238E27FC236}">
                <a16:creationId xmlns:a16="http://schemas.microsoft.com/office/drawing/2014/main" id="{524C0B57-F682-8207-1C31-AD1306ADD3F2}"/>
              </a:ext>
            </a:extLst>
          </p:cNvPr>
          <p:cNvSpPr txBox="1">
            <a:spLocks noGrp="1"/>
          </p:cNvSpPr>
          <p:nvPr>
            <p:ph type="ftr" idx="4294967295"/>
          </p:nvPr>
        </p:nvSpPr>
        <p:spPr>
          <a:xfrm>
            <a:off x="706119" y="6458210"/>
            <a:ext cx="628857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ja-JP" sz="1000" dirty="0"/>
              <a:t>[1]Rakesh Agrawal and Ramakrishnan Srikant. Fast algorithms for mining association rules. In Proc. 20th Int. Conf. Very Large Data Bases, </a:t>
            </a:r>
            <a:r>
              <a:rPr lang="en-US" altLang="ja-JP" sz="1000" dirty="0" err="1"/>
              <a:t>VLDB,Vol</a:t>
            </a:r>
            <a:r>
              <a:rPr lang="en-US" altLang="ja-JP" sz="1000" dirty="0"/>
              <a:t>. 1215, pp. 487–499. </a:t>
            </a:r>
            <a:r>
              <a:rPr lang="en-US" altLang="ja-JP" sz="1000" dirty="0" err="1"/>
              <a:t>Citeseer</a:t>
            </a:r>
            <a:r>
              <a:rPr lang="en-US" altLang="ja-JP" sz="1000" dirty="0"/>
              <a:t>, 1994</a:t>
            </a:r>
            <a:endParaRPr dirty="0"/>
          </a:p>
          <a:p>
            <a:endParaRPr sz="1000" dirty="0"/>
          </a:p>
        </p:txBody>
      </p:sp>
      <p:sp>
        <p:nvSpPr>
          <p:cNvPr id="3" name="Google Shape;105;p2">
            <a:extLst>
              <a:ext uri="{FF2B5EF4-FFF2-40B4-BE49-F238E27FC236}">
                <a16:creationId xmlns:a16="http://schemas.microsoft.com/office/drawing/2014/main" id="{EEF92757-9BDA-2694-75C4-3643BD24D63F}"/>
              </a:ext>
            </a:extLst>
          </p:cNvPr>
          <p:cNvSpPr txBox="1">
            <a:spLocks/>
          </p:cNvSpPr>
          <p:nvPr/>
        </p:nvSpPr>
        <p:spPr>
          <a:xfrm>
            <a:off x="1691076" y="3243430"/>
            <a:ext cx="5761847" cy="46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ja-JP" altLang="ja-JP" b="1"/>
              <a:t>P is </a:t>
            </a:r>
            <a:r>
              <a:rPr lang="en-US" altLang="ja-JP" b="1" dirty="0"/>
              <a:t>frequent</a:t>
            </a:r>
            <a:r>
              <a:rPr lang="ja-JP" altLang="ja-JP" b="1"/>
              <a:t> </a:t>
            </a:r>
            <a:r>
              <a:rPr lang="en-US" altLang="ja-JP" b="1" dirty="0"/>
              <a:t> </a:t>
            </a:r>
            <a:r>
              <a:rPr lang="ja-JP" altLang="ja-JP" b="1"/>
              <a:t>⟹</a:t>
            </a:r>
            <a:r>
              <a:rPr lang="en-US" altLang="ja-JP" b="1" dirty="0"/>
              <a:t> </a:t>
            </a:r>
            <a:r>
              <a:rPr lang="ja-JP" altLang="ja-JP" b="1"/>
              <a:t> every subset Q ⊂ P is also </a:t>
            </a:r>
            <a:r>
              <a:rPr lang="en-US" altLang="ja-JP" b="1" dirty="0"/>
              <a:t>frequent</a:t>
            </a:r>
            <a:endParaRPr lang="ja-JP" altLang="ja-JP" b="1"/>
          </a:p>
        </p:txBody>
      </p:sp>
      <p:sp>
        <p:nvSpPr>
          <p:cNvPr id="4" name="Google Shape;105;p2">
            <a:extLst>
              <a:ext uri="{FF2B5EF4-FFF2-40B4-BE49-F238E27FC236}">
                <a16:creationId xmlns:a16="http://schemas.microsoft.com/office/drawing/2014/main" id="{CF24F94C-2E8A-6DCB-EBA2-47D3508A17FE}"/>
              </a:ext>
            </a:extLst>
          </p:cNvPr>
          <p:cNvSpPr txBox="1">
            <a:spLocks/>
          </p:cNvSpPr>
          <p:nvPr/>
        </p:nvSpPr>
        <p:spPr>
          <a:xfrm>
            <a:off x="1387480" y="4215761"/>
            <a:ext cx="6369039" cy="46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ja-JP" altLang="ja-JP" b="1"/>
              <a:t>Some subset Q ⊂ P is </a:t>
            </a:r>
            <a:r>
              <a:rPr lang="ja-JP" altLang="ja-JP" b="1" i="1">
                <a:solidFill>
                  <a:srgbClr val="C00000"/>
                </a:solidFill>
              </a:rPr>
              <a:t>not</a:t>
            </a:r>
            <a:r>
              <a:rPr lang="ja-JP" altLang="ja-JP" b="1"/>
              <a:t> </a:t>
            </a:r>
            <a:r>
              <a:rPr lang="en-US" altLang="ja-JP" b="1" dirty="0"/>
              <a:t>frequent</a:t>
            </a:r>
            <a:r>
              <a:rPr lang="ja-JP" altLang="ja-JP" b="1"/>
              <a:t> </a:t>
            </a:r>
            <a:r>
              <a:rPr lang="en-US" altLang="ja-JP" b="1" dirty="0"/>
              <a:t> </a:t>
            </a:r>
            <a:r>
              <a:rPr lang="ja-JP" altLang="ja-JP" b="1"/>
              <a:t>⟹ </a:t>
            </a:r>
            <a:r>
              <a:rPr lang="en-US" altLang="ja-JP" b="1" dirty="0"/>
              <a:t> </a:t>
            </a:r>
            <a:r>
              <a:rPr lang="ja-JP" altLang="ja-JP" b="1"/>
              <a:t>P cannot be </a:t>
            </a:r>
            <a:r>
              <a:rPr lang="en-US" altLang="ja-JP" b="1" dirty="0"/>
              <a:t>frequent</a:t>
            </a:r>
            <a:endParaRPr lang="ja-JP" altLang="ja-JP" b="1"/>
          </a:p>
        </p:txBody>
      </p:sp>
      <p:sp>
        <p:nvSpPr>
          <p:cNvPr id="5" name="三角形 4">
            <a:extLst>
              <a:ext uri="{FF2B5EF4-FFF2-40B4-BE49-F238E27FC236}">
                <a16:creationId xmlns:a16="http://schemas.microsoft.com/office/drawing/2014/main" id="{E5335CD1-2000-8D53-3B1F-622E1A5FBB21}"/>
              </a:ext>
            </a:extLst>
          </p:cNvPr>
          <p:cNvSpPr/>
          <p:nvPr/>
        </p:nvSpPr>
        <p:spPr>
          <a:xfrm rot="10800000">
            <a:off x="4343264" y="3779765"/>
            <a:ext cx="457469" cy="334759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336E8CC-A708-2345-1F16-FCA3D73B593C}"/>
              </a:ext>
            </a:extLst>
          </p:cNvPr>
          <p:cNvSpPr/>
          <p:nvPr/>
        </p:nvSpPr>
        <p:spPr>
          <a:xfrm>
            <a:off x="1204534" y="3001659"/>
            <a:ext cx="6734928" cy="185726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Google Shape;105;p2">
            <a:extLst>
              <a:ext uri="{FF2B5EF4-FFF2-40B4-BE49-F238E27FC236}">
                <a16:creationId xmlns:a16="http://schemas.microsoft.com/office/drawing/2014/main" id="{0AF7C796-DA3C-58AE-B5ED-AFE3FAFE27A9}"/>
              </a:ext>
            </a:extLst>
          </p:cNvPr>
          <p:cNvSpPr txBox="1">
            <a:spLocks/>
          </p:cNvSpPr>
          <p:nvPr/>
        </p:nvSpPr>
        <p:spPr>
          <a:xfrm>
            <a:off x="3176391" y="4676364"/>
            <a:ext cx="2676917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  <a:buFont typeface="Arial"/>
              <a:buNone/>
            </a:pPr>
            <a:r>
              <a:rPr lang="en-US" altLang="ja-JP" b="1" dirty="0">
                <a:solidFill>
                  <a:schemeClr val="accent1"/>
                </a:solidFill>
              </a:rPr>
              <a:t>The </a:t>
            </a:r>
            <a:r>
              <a:rPr lang="en-US" altLang="ja-JP" b="1" dirty="0" err="1">
                <a:solidFill>
                  <a:schemeClr val="accent1"/>
                </a:solidFill>
              </a:rPr>
              <a:t>Apriori</a:t>
            </a:r>
            <a:r>
              <a:rPr lang="en-US" altLang="ja-JP" b="1" dirty="0">
                <a:solidFill>
                  <a:schemeClr val="accent1"/>
                </a:solidFill>
              </a:rPr>
              <a:t> Property</a:t>
            </a:r>
            <a:endParaRPr lang="ja-JP" altLang="ja-JP" b="1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3875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538D18B3-505E-C075-D980-B32237E6E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1AEE6E3B-F5E5-7ECF-429B-3403FEFEA0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09" y="1122218"/>
            <a:ext cx="8821882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If a pattern is dense, </a:t>
            </a:r>
            <a:r>
              <a:rPr lang="ja-JP" altLang="ja-JP" b="1">
                <a:solidFill>
                  <a:srgbClr val="C00000"/>
                </a:solidFill>
              </a:rPr>
              <a:t>all its subsets</a:t>
            </a:r>
            <a:r>
              <a:rPr lang="ja-JP" altLang="ja-JP"/>
              <a:t> are </a:t>
            </a:r>
            <a:r>
              <a:rPr lang="ja-JP" altLang="ja-JP" b="1">
                <a:solidFill>
                  <a:srgbClr val="C00000"/>
                </a:solidFill>
              </a:rPr>
              <a:t>dense</a:t>
            </a:r>
            <a:r>
              <a:rPr lang="ja-JP" altLang="ja-JP"/>
              <a:t>. Equivalently: if any subset is not dense, the pattern cannot be dense.</a:t>
            </a:r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51E0737F-ECF2-50E6-14A9-8006B66135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The </a:t>
            </a:r>
            <a:r>
              <a:rPr lang="en-US" b="1" dirty="0" err="1"/>
              <a:t>Apriori</a:t>
            </a:r>
            <a:r>
              <a:rPr lang="en-US" b="1" dirty="0"/>
              <a:t> Property </a:t>
            </a:r>
            <a:r>
              <a:rPr lang="en-US" b="1" baseline="30000" dirty="0"/>
              <a:t>[1]</a:t>
            </a:r>
            <a:r>
              <a:rPr lang="en-US" b="1" dirty="0"/>
              <a:t> for Dense Pattern</a:t>
            </a:r>
            <a:endParaRPr b="1" baseline="30000" dirty="0"/>
          </a:p>
        </p:txBody>
      </p:sp>
      <p:sp>
        <p:nvSpPr>
          <p:cNvPr id="2" name="Google Shape;176;p6">
            <a:extLst>
              <a:ext uri="{FF2B5EF4-FFF2-40B4-BE49-F238E27FC236}">
                <a16:creationId xmlns:a16="http://schemas.microsoft.com/office/drawing/2014/main" id="{CFDDCA50-AC1C-4520-26B0-E569C94642A3}"/>
              </a:ext>
            </a:extLst>
          </p:cNvPr>
          <p:cNvSpPr txBox="1">
            <a:spLocks noGrp="1"/>
          </p:cNvSpPr>
          <p:nvPr>
            <p:ph type="ftr" idx="4294967295"/>
          </p:nvPr>
        </p:nvSpPr>
        <p:spPr>
          <a:xfrm>
            <a:off x="706119" y="6458210"/>
            <a:ext cx="63357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ja-JP" sz="1000" dirty="0"/>
              <a:t>[1]Rakesh Agrawal and Ramakrishnan Srikant. Fast algorithms for mining association rules. In Proc. 20th Int. Conf. Very Large Data Bases, </a:t>
            </a:r>
            <a:r>
              <a:rPr lang="en-US" altLang="ja-JP" sz="1000" dirty="0" err="1"/>
              <a:t>VLDB,Vol</a:t>
            </a:r>
            <a:r>
              <a:rPr lang="en-US" altLang="ja-JP" sz="1000" dirty="0"/>
              <a:t>. 1215, pp. 487–499. </a:t>
            </a:r>
            <a:r>
              <a:rPr lang="en-US" altLang="ja-JP" sz="1000" dirty="0" err="1"/>
              <a:t>Citeseer</a:t>
            </a:r>
            <a:r>
              <a:rPr lang="en-US" altLang="ja-JP" sz="1000" dirty="0"/>
              <a:t>, 1994</a:t>
            </a:r>
            <a:endParaRPr dirty="0"/>
          </a:p>
          <a:p>
            <a:endParaRPr sz="1000" dirty="0"/>
          </a:p>
        </p:txBody>
      </p:sp>
      <p:sp>
        <p:nvSpPr>
          <p:cNvPr id="3" name="Google Shape;105;p2">
            <a:extLst>
              <a:ext uri="{FF2B5EF4-FFF2-40B4-BE49-F238E27FC236}">
                <a16:creationId xmlns:a16="http://schemas.microsoft.com/office/drawing/2014/main" id="{6C5C7D74-214F-4FFE-9073-F0C28ABCC35B}"/>
              </a:ext>
            </a:extLst>
          </p:cNvPr>
          <p:cNvSpPr txBox="1">
            <a:spLocks/>
          </p:cNvSpPr>
          <p:nvPr/>
        </p:nvSpPr>
        <p:spPr>
          <a:xfrm>
            <a:off x="1994674" y="3244195"/>
            <a:ext cx="5154653" cy="46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ja-JP" altLang="ja-JP" b="1"/>
              <a:t>P is dense </a:t>
            </a:r>
            <a:r>
              <a:rPr lang="en-US" altLang="ja-JP" b="1" dirty="0"/>
              <a:t> </a:t>
            </a:r>
            <a:r>
              <a:rPr lang="ja-JP" altLang="ja-JP" b="1"/>
              <a:t>⟹</a:t>
            </a:r>
            <a:r>
              <a:rPr lang="en-US" altLang="ja-JP" b="1" dirty="0"/>
              <a:t> </a:t>
            </a:r>
            <a:r>
              <a:rPr lang="ja-JP" altLang="ja-JP" b="1"/>
              <a:t> every subset Q ⊂ P is also dense</a:t>
            </a:r>
          </a:p>
        </p:txBody>
      </p:sp>
      <p:sp>
        <p:nvSpPr>
          <p:cNvPr id="4" name="Google Shape;105;p2">
            <a:extLst>
              <a:ext uri="{FF2B5EF4-FFF2-40B4-BE49-F238E27FC236}">
                <a16:creationId xmlns:a16="http://schemas.microsoft.com/office/drawing/2014/main" id="{3B5988A5-714B-2BE7-5329-0F0C1CD15753}"/>
              </a:ext>
            </a:extLst>
          </p:cNvPr>
          <p:cNvSpPr txBox="1">
            <a:spLocks/>
          </p:cNvSpPr>
          <p:nvPr/>
        </p:nvSpPr>
        <p:spPr>
          <a:xfrm>
            <a:off x="1387480" y="4215761"/>
            <a:ext cx="6369039" cy="46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ja-JP" altLang="ja-JP" b="1"/>
              <a:t>Some subset Q ⊂ P is </a:t>
            </a:r>
            <a:r>
              <a:rPr lang="ja-JP" altLang="ja-JP" b="1" i="1">
                <a:solidFill>
                  <a:srgbClr val="C00000"/>
                </a:solidFill>
              </a:rPr>
              <a:t>not</a:t>
            </a:r>
            <a:r>
              <a:rPr lang="ja-JP" altLang="ja-JP" b="1"/>
              <a:t> dense </a:t>
            </a:r>
            <a:r>
              <a:rPr lang="en-US" altLang="ja-JP" b="1" dirty="0"/>
              <a:t> </a:t>
            </a:r>
            <a:r>
              <a:rPr lang="ja-JP" altLang="ja-JP" b="1"/>
              <a:t>⟹ </a:t>
            </a:r>
            <a:r>
              <a:rPr lang="en-US" altLang="ja-JP" b="1" dirty="0"/>
              <a:t> </a:t>
            </a:r>
            <a:r>
              <a:rPr lang="ja-JP" altLang="ja-JP" b="1"/>
              <a:t>P cannot be dense</a:t>
            </a:r>
          </a:p>
        </p:txBody>
      </p:sp>
      <p:sp>
        <p:nvSpPr>
          <p:cNvPr id="5" name="三角形 4">
            <a:extLst>
              <a:ext uri="{FF2B5EF4-FFF2-40B4-BE49-F238E27FC236}">
                <a16:creationId xmlns:a16="http://schemas.microsoft.com/office/drawing/2014/main" id="{BF3300BB-EB0C-9B5E-89E7-AA71380754A4}"/>
              </a:ext>
            </a:extLst>
          </p:cNvPr>
          <p:cNvSpPr/>
          <p:nvPr/>
        </p:nvSpPr>
        <p:spPr>
          <a:xfrm rot="10800000">
            <a:off x="4343264" y="3779765"/>
            <a:ext cx="457469" cy="334759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9CCB5F6-0FBC-723A-8D93-69FCEC810BEE}"/>
              </a:ext>
            </a:extLst>
          </p:cNvPr>
          <p:cNvSpPr/>
          <p:nvPr/>
        </p:nvSpPr>
        <p:spPr>
          <a:xfrm>
            <a:off x="1204534" y="3001659"/>
            <a:ext cx="6734928" cy="185726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Google Shape;105;p2">
            <a:extLst>
              <a:ext uri="{FF2B5EF4-FFF2-40B4-BE49-F238E27FC236}">
                <a16:creationId xmlns:a16="http://schemas.microsoft.com/office/drawing/2014/main" id="{F93101F8-1A58-1D89-D6DC-0B35442E44E2}"/>
              </a:ext>
            </a:extLst>
          </p:cNvPr>
          <p:cNvSpPr txBox="1">
            <a:spLocks/>
          </p:cNvSpPr>
          <p:nvPr/>
        </p:nvSpPr>
        <p:spPr>
          <a:xfrm>
            <a:off x="3176391" y="4676364"/>
            <a:ext cx="2676917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  <a:buFont typeface="Arial"/>
              <a:buNone/>
            </a:pPr>
            <a:r>
              <a:rPr lang="en-US" altLang="ja-JP" b="1" dirty="0">
                <a:solidFill>
                  <a:schemeClr val="accent1"/>
                </a:solidFill>
              </a:rPr>
              <a:t>The </a:t>
            </a:r>
            <a:r>
              <a:rPr lang="en-US" altLang="ja-JP" b="1" dirty="0" err="1">
                <a:solidFill>
                  <a:schemeClr val="accent1"/>
                </a:solidFill>
              </a:rPr>
              <a:t>Apriori</a:t>
            </a:r>
            <a:r>
              <a:rPr lang="en-US" altLang="ja-JP" b="1" dirty="0">
                <a:solidFill>
                  <a:schemeClr val="accent1"/>
                </a:solidFill>
              </a:rPr>
              <a:t> Property</a:t>
            </a:r>
            <a:endParaRPr lang="ja-JP" altLang="ja-JP" b="1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8604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07F72E1F-3E72-DF78-332A-E344F5BFB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4C415D3C-20A3-B4C3-99DA-3263400FC5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08" y="1122218"/>
            <a:ext cx="9040091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The dense region of P</a:t>
            </a:r>
            <a:r>
              <a:rPr lang="en-US" altLang="ja-JP" dirty="0" err="1"/>
              <a:t>attern</a:t>
            </a:r>
            <a:r>
              <a:rPr lang="ja-JP" altLang="ja-JP"/>
              <a:t> is </a:t>
            </a:r>
            <a:r>
              <a:rPr lang="ja-JP" altLang="ja-JP" b="1">
                <a:solidFill>
                  <a:srgbClr val="C00000"/>
                </a:solidFill>
              </a:rPr>
              <a:t>contained within</a:t>
            </a:r>
            <a:r>
              <a:rPr lang="ja-JP" altLang="ja-JP"/>
              <a:t> the intersection of its subsets' dense regions — only evaluate inside that intersection. Empty intersection → skip entirely.</a:t>
            </a:r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D67CF73D-C2D3-BEED-8FEF-B3AD4FE6DF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ja-JP" b="1" dirty="0"/>
              <a:t>The </a:t>
            </a:r>
            <a:r>
              <a:rPr lang="en-US" altLang="ja-JP" b="1" dirty="0" err="1"/>
              <a:t>Apriori</a:t>
            </a:r>
            <a:r>
              <a:rPr lang="en-US" altLang="ja-JP" b="1" dirty="0"/>
              <a:t> Property </a:t>
            </a:r>
            <a:r>
              <a:rPr lang="en-US" altLang="ja-JP" b="1" baseline="30000" dirty="0"/>
              <a:t>[1]</a:t>
            </a:r>
            <a:r>
              <a:rPr lang="en-US" altLang="ja-JP" b="1" dirty="0"/>
              <a:t> for Dense Region</a:t>
            </a:r>
            <a:endParaRPr b="1" baseline="30000" dirty="0"/>
          </a:p>
        </p:txBody>
      </p: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FEEC30CD-DF33-4FDE-1382-E71FFEB4D0CE}"/>
              </a:ext>
            </a:extLst>
          </p:cNvPr>
          <p:cNvGrpSpPr/>
          <p:nvPr/>
        </p:nvGrpSpPr>
        <p:grpSpPr>
          <a:xfrm>
            <a:off x="1449583" y="1932709"/>
            <a:ext cx="6567950" cy="1274155"/>
            <a:chOff x="1061572" y="2154079"/>
            <a:chExt cx="6567950" cy="1274155"/>
          </a:xfrm>
        </p:grpSpPr>
        <p:grpSp>
          <p:nvGrpSpPr>
            <p:cNvPr id="64" name="グループ化 63">
              <a:extLst>
                <a:ext uri="{FF2B5EF4-FFF2-40B4-BE49-F238E27FC236}">
                  <a16:creationId xmlns:a16="http://schemas.microsoft.com/office/drawing/2014/main" id="{12D0215D-7234-AF30-6BC4-99B45AAFB477}"/>
                </a:ext>
              </a:extLst>
            </p:cNvPr>
            <p:cNvGrpSpPr/>
            <p:nvPr/>
          </p:nvGrpSpPr>
          <p:grpSpPr>
            <a:xfrm>
              <a:off x="1707749" y="2394407"/>
              <a:ext cx="5921773" cy="796269"/>
              <a:chOff x="1684962" y="2887326"/>
              <a:chExt cx="5921773" cy="796269"/>
            </a:xfrm>
          </p:grpSpPr>
          <p:cxnSp>
            <p:nvCxnSpPr>
              <p:cNvPr id="57" name="直線矢印コネクタ 56">
                <a:extLst>
                  <a:ext uri="{FF2B5EF4-FFF2-40B4-BE49-F238E27FC236}">
                    <a16:creationId xmlns:a16="http://schemas.microsoft.com/office/drawing/2014/main" id="{FA56E52F-713C-139C-1CFD-F079F83843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84962" y="3308279"/>
                <a:ext cx="5291191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9" name="正方形/長方形 58">
                <a:extLst>
                  <a:ext uri="{FF2B5EF4-FFF2-40B4-BE49-F238E27FC236}">
                    <a16:creationId xmlns:a16="http://schemas.microsoft.com/office/drawing/2014/main" id="{803A8AEC-D584-F79E-C2E3-F9CC789B9B88}"/>
                  </a:ext>
                </a:extLst>
              </p:cNvPr>
              <p:cNvSpPr/>
              <p:nvPr/>
            </p:nvSpPr>
            <p:spPr>
              <a:xfrm>
                <a:off x="2851041" y="2887326"/>
                <a:ext cx="2113807" cy="39843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800" b="1" dirty="0"/>
                  <a:t>Dense Region</a:t>
                </a:r>
                <a:endParaRPr kumimoji="1" lang="ja-JP" altLang="en-US" sz="1800" b="1"/>
              </a:p>
            </p:txBody>
          </p:sp>
          <p:sp>
            <p:nvSpPr>
              <p:cNvPr id="61" name="Google Shape;105;p2">
                <a:extLst>
                  <a:ext uri="{FF2B5EF4-FFF2-40B4-BE49-F238E27FC236}">
                    <a16:creationId xmlns:a16="http://schemas.microsoft.com/office/drawing/2014/main" id="{42258CFA-42CD-C0F5-1BD2-ED738944EF1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50311" y="3040193"/>
                <a:ext cx="956424" cy="5750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2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»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en-US" altLang="ja-JP" sz="2400" b="1" dirty="0">
                    <a:solidFill>
                      <a:schemeClr val="tx1"/>
                    </a:solidFill>
                  </a:rPr>
                  <a:t>t</a:t>
                </a:r>
                <a:endParaRPr lang="ja-JP" altLang="ja-JP" sz="2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正方形/長方形 61">
                <a:extLst>
                  <a:ext uri="{FF2B5EF4-FFF2-40B4-BE49-F238E27FC236}">
                    <a16:creationId xmlns:a16="http://schemas.microsoft.com/office/drawing/2014/main" id="{591B6190-2999-25F2-75EC-F80A50865249}"/>
                  </a:ext>
                </a:extLst>
              </p:cNvPr>
              <p:cNvSpPr/>
              <p:nvPr/>
            </p:nvSpPr>
            <p:spPr>
              <a:xfrm>
                <a:off x="3426995" y="3330793"/>
                <a:ext cx="2235671" cy="35280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800" b="1" dirty="0"/>
                  <a:t>Dense Region</a:t>
                </a:r>
                <a:endParaRPr kumimoji="1" lang="ja-JP" altLang="en-US" sz="1800" b="1"/>
              </a:p>
            </p:txBody>
          </p:sp>
        </p:grp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73DF0600-1593-C59F-B3ED-11448E66B1CB}"/>
                </a:ext>
              </a:extLst>
            </p:cNvPr>
            <p:cNvSpPr/>
            <p:nvPr/>
          </p:nvSpPr>
          <p:spPr>
            <a:xfrm>
              <a:off x="1061572" y="2154079"/>
              <a:ext cx="646177" cy="5750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>
                  <a:solidFill>
                    <a:schemeClr val="tx1"/>
                  </a:solidFill>
                </a:rPr>
                <a:t>A</a:t>
              </a:r>
              <a:endParaRPr kumimoji="1" lang="ja-JP" altLang="en-US" sz="1800" b="1">
                <a:solidFill>
                  <a:schemeClr val="tx1"/>
                </a:solidFill>
              </a:endParaRPr>
            </a:p>
          </p:txBody>
        </p:sp>
        <p:sp>
          <p:nvSpPr>
            <p:cNvPr id="76" name="正方形/長方形 75">
              <a:extLst>
                <a:ext uri="{FF2B5EF4-FFF2-40B4-BE49-F238E27FC236}">
                  <a16:creationId xmlns:a16="http://schemas.microsoft.com/office/drawing/2014/main" id="{01CDD322-7BB5-9D42-3B1B-47C66ECF213A}"/>
                </a:ext>
              </a:extLst>
            </p:cNvPr>
            <p:cNvSpPr/>
            <p:nvPr/>
          </p:nvSpPr>
          <p:spPr>
            <a:xfrm>
              <a:off x="1061572" y="2853179"/>
              <a:ext cx="646177" cy="5750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>
                  <a:solidFill>
                    <a:schemeClr val="tx1"/>
                  </a:solidFill>
                </a:rPr>
                <a:t>B</a:t>
              </a:r>
              <a:endParaRPr kumimoji="1" lang="ja-JP" altLang="en-US" sz="1800" b="1"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EBDE150C-ED54-4601-8E0A-9F3CEC3DDB49}"/>
              </a:ext>
            </a:extLst>
          </p:cNvPr>
          <p:cNvGrpSpPr/>
          <p:nvPr/>
        </p:nvGrpSpPr>
        <p:grpSpPr>
          <a:xfrm>
            <a:off x="1465177" y="3219699"/>
            <a:ext cx="6567950" cy="1653987"/>
            <a:chOff x="1465177" y="3219699"/>
            <a:chExt cx="6567950" cy="1653987"/>
          </a:xfrm>
        </p:grpSpPr>
        <p:sp>
          <p:nvSpPr>
            <p:cNvPr id="88" name="三角形 87">
              <a:extLst>
                <a:ext uri="{FF2B5EF4-FFF2-40B4-BE49-F238E27FC236}">
                  <a16:creationId xmlns:a16="http://schemas.microsoft.com/office/drawing/2014/main" id="{F89F757C-56FE-7B3B-E60C-EC9738422329}"/>
                </a:ext>
              </a:extLst>
            </p:cNvPr>
            <p:cNvSpPr/>
            <p:nvPr/>
          </p:nvSpPr>
          <p:spPr>
            <a:xfrm rot="10800000">
              <a:off x="4381883" y="3219699"/>
              <a:ext cx="457469" cy="334759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469A82EF-E4D0-162D-D7AE-2C03F64C6802}"/>
                </a:ext>
              </a:extLst>
            </p:cNvPr>
            <p:cNvGrpSpPr/>
            <p:nvPr/>
          </p:nvGrpSpPr>
          <p:grpSpPr>
            <a:xfrm>
              <a:off x="1465177" y="3599531"/>
              <a:ext cx="6567950" cy="1274155"/>
              <a:chOff x="1061572" y="2154079"/>
              <a:chExt cx="6567950" cy="1274155"/>
            </a:xfrm>
          </p:grpSpPr>
          <p:grpSp>
            <p:nvGrpSpPr>
              <p:cNvPr id="12" name="グループ化 11">
                <a:extLst>
                  <a:ext uri="{FF2B5EF4-FFF2-40B4-BE49-F238E27FC236}">
                    <a16:creationId xmlns:a16="http://schemas.microsoft.com/office/drawing/2014/main" id="{A29DF40C-7B49-ECF5-13D4-342546431683}"/>
                  </a:ext>
                </a:extLst>
              </p:cNvPr>
              <p:cNvGrpSpPr/>
              <p:nvPr/>
            </p:nvGrpSpPr>
            <p:grpSpPr>
              <a:xfrm>
                <a:off x="1707749" y="2405501"/>
                <a:ext cx="5921773" cy="777351"/>
                <a:chOff x="1684962" y="2898420"/>
                <a:chExt cx="5921773" cy="777351"/>
              </a:xfrm>
            </p:grpSpPr>
            <p:cxnSp>
              <p:nvCxnSpPr>
                <p:cNvPr id="15" name="直線矢印コネクタ 14">
                  <a:extLst>
                    <a:ext uri="{FF2B5EF4-FFF2-40B4-BE49-F238E27FC236}">
                      <a16:creationId xmlns:a16="http://schemas.microsoft.com/office/drawing/2014/main" id="{EE5BE773-4EB6-18E0-BB06-CC520A7AE2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84962" y="3308279"/>
                  <a:ext cx="5291191" cy="0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" name="正方形/長方形 15">
                  <a:extLst>
                    <a:ext uri="{FF2B5EF4-FFF2-40B4-BE49-F238E27FC236}">
                      <a16:creationId xmlns:a16="http://schemas.microsoft.com/office/drawing/2014/main" id="{355D7C23-C59C-C196-9D13-8DD1E6861E29}"/>
                    </a:ext>
                  </a:extLst>
                </p:cNvPr>
                <p:cNvSpPr/>
                <p:nvPr/>
              </p:nvSpPr>
              <p:spPr>
                <a:xfrm>
                  <a:off x="2851041" y="2898420"/>
                  <a:ext cx="2113807" cy="3873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800" b="1" dirty="0"/>
                    <a:t>Candidate</a:t>
                  </a:r>
                  <a:endParaRPr kumimoji="1" lang="ja-JP" altLang="en-US" sz="1800" b="1"/>
                </a:p>
              </p:txBody>
            </p:sp>
            <p:sp>
              <p:nvSpPr>
                <p:cNvPr id="17" name="Google Shape;105;p2">
                  <a:extLst>
                    <a:ext uri="{FF2B5EF4-FFF2-40B4-BE49-F238E27FC236}">
                      <a16:creationId xmlns:a16="http://schemas.microsoft.com/office/drawing/2014/main" id="{B0B5AE52-7EA4-5EA9-5BE4-F3E324082E8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650311" y="3040193"/>
                  <a:ext cx="956424" cy="57505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L="457200" marR="0" lvl="0" indent="-355600" algn="l" rtl="0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Char char="•"/>
                    <a:defRPr sz="20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1pPr>
                  <a:lvl2pPr marL="914400" marR="0" lvl="1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–"/>
                    <a:defRPr sz="21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2pPr>
                  <a:lvl3pPr marL="1371600" marR="0" lvl="2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3pPr>
                  <a:lvl4pPr marL="1828800" marR="0" lvl="3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–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4pPr>
                  <a:lvl5pPr marL="2286000" marR="0" lvl="4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»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5pPr>
                  <a:lvl6pPr marL="2743200" marR="0" lvl="5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6pPr>
                  <a:lvl7pPr marL="3200400" marR="0" lvl="6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7pPr>
                  <a:lvl8pPr marL="3657600" marR="0" lvl="7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8pPr>
                  <a:lvl9pPr marL="4114800" marR="0" lvl="8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9pPr>
                </a:lstStyle>
                <a:p>
                  <a:pPr marL="0" indent="0" algn="ctr">
                    <a:spcBef>
                      <a:spcPts val="0"/>
                    </a:spcBef>
                    <a:buNone/>
                  </a:pPr>
                  <a:r>
                    <a:rPr lang="en-US" altLang="ja-JP" sz="2400" b="1" dirty="0">
                      <a:solidFill>
                        <a:schemeClr val="tx1"/>
                      </a:solidFill>
                    </a:rPr>
                    <a:t>t</a:t>
                  </a:r>
                  <a:endParaRPr lang="ja-JP" altLang="ja-JP" sz="240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正方形/長方形 17">
                  <a:extLst>
                    <a:ext uri="{FF2B5EF4-FFF2-40B4-BE49-F238E27FC236}">
                      <a16:creationId xmlns:a16="http://schemas.microsoft.com/office/drawing/2014/main" id="{8D0E7968-1BF7-4614-4E6E-ED5CB433B798}"/>
                    </a:ext>
                  </a:extLst>
                </p:cNvPr>
                <p:cNvSpPr/>
                <p:nvPr/>
              </p:nvSpPr>
              <p:spPr>
                <a:xfrm>
                  <a:off x="3426995" y="3330793"/>
                  <a:ext cx="2235671" cy="34497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800" b="1" dirty="0"/>
                    <a:t>Candidate</a:t>
                  </a:r>
                  <a:endParaRPr kumimoji="1" lang="ja-JP" altLang="en-US" sz="1800" b="1"/>
                </a:p>
              </p:txBody>
            </p:sp>
          </p:grpSp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5CE0A7F0-1E41-8707-B660-DF336CB17764}"/>
                  </a:ext>
                </a:extLst>
              </p:cNvPr>
              <p:cNvSpPr/>
              <p:nvPr/>
            </p:nvSpPr>
            <p:spPr>
              <a:xfrm>
                <a:off x="1061572" y="2154079"/>
                <a:ext cx="646177" cy="57505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800" b="1" dirty="0">
                    <a:solidFill>
                      <a:schemeClr val="tx1"/>
                    </a:solidFill>
                  </a:rPr>
                  <a:t>AB</a:t>
                </a:r>
                <a:endParaRPr kumimoji="1" lang="ja-JP" altLang="en-US" sz="18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正方形/長方形 13">
                <a:extLst>
                  <a:ext uri="{FF2B5EF4-FFF2-40B4-BE49-F238E27FC236}">
                    <a16:creationId xmlns:a16="http://schemas.microsoft.com/office/drawing/2014/main" id="{7769EFCF-ED17-DFB3-E1B4-6A0FBCECA235}"/>
                  </a:ext>
                </a:extLst>
              </p:cNvPr>
              <p:cNvSpPr/>
              <p:nvPr/>
            </p:nvSpPr>
            <p:spPr>
              <a:xfrm>
                <a:off x="1061572" y="2853179"/>
                <a:ext cx="646177" cy="57505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800" b="1" dirty="0">
                    <a:solidFill>
                      <a:schemeClr val="tx1"/>
                    </a:solidFill>
                  </a:rPr>
                  <a:t>AB</a:t>
                </a:r>
                <a:endParaRPr kumimoji="1" lang="ja-JP" altLang="en-US" sz="1800" b="1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9866BB3F-26AD-F48C-4CD5-4828AC02E1CA}"/>
              </a:ext>
            </a:extLst>
          </p:cNvPr>
          <p:cNvGrpSpPr/>
          <p:nvPr/>
        </p:nvGrpSpPr>
        <p:grpSpPr>
          <a:xfrm>
            <a:off x="1457380" y="5051289"/>
            <a:ext cx="6567950" cy="1319322"/>
            <a:chOff x="1457380" y="5051289"/>
            <a:chExt cx="6567950" cy="1319322"/>
          </a:xfrm>
        </p:grpSpPr>
        <p:sp>
          <p:nvSpPr>
            <p:cNvPr id="19" name="三角形 18">
              <a:extLst>
                <a:ext uri="{FF2B5EF4-FFF2-40B4-BE49-F238E27FC236}">
                  <a16:creationId xmlns:a16="http://schemas.microsoft.com/office/drawing/2014/main" id="{0746A597-B8B0-E90C-5BE7-F2D06438FCD9}"/>
                </a:ext>
              </a:extLst>
            </p:cNvPr>
            <p:cNvSpPr/>
            <p:nvPr/>
          </p:nvSpPr>
          <p:spPr>
            <a:xfrm rot="10800000">
              <a:off x="4387046" y="5051289"/>
              <a:ext cx="457469" cy="334759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5F538F7E-66EB-E181-5D6C-8B69C1D44C7E}"/>
                </a:ext>
              </a:extLst>
            </p:cNvPr>
            <p:cNvGrpSpPr/>
            <p:nvPr/>
          </p:nvGrpSpPr>
          <p:grpSpPr>
            <a:xfrm>
              <a:off x="1457380" y="5402360"/>
              <a:ext cx="6567950" cy="968251"/>
              <a:chOff x="1061572" y="2154079"/>
              <a:chExt cx="6567950" cy="968251"/>
            </a:xfrm>
          </p:grpSpPr>
          <p:grpSp>
            <p:nvGrpSpPr>
              <p:cNvPr id="21" name="グループ化 20">
                <a:extLst>
                  <a:ext uri="{FF2B5EF4-FFF2-40B4-BE49-F238E27FC236}">
                    <a16:creationId xmlns:a16="http://schemas.microsoft.com/office/drawing/2014/main" id="{8991B580-FBFA-89D8-7D9E-447F006CA54A}"/>
                  </a:ext>
                </a:extLst>
              </p:cNvPr>
              <p:cNvGrpSpPr/>
              <p:nvPr/>
            </p:nvGrpSpPr>
            <p:grpSpPr>
              <a:xfrm>
                <a:off x="1707749" y="2419099"/>
                <a:ext cx="5921773" cy="703231"/>
                <a:chOff x="1684962" y="2912018"/>
                <a:chExt cx="5921773" cy="703231"/>
              </a:xfrm>
            </p:grpSpPr>
            <p:cxnSp>
              <p:nvCxnSpPr>
                <p:cNvPr id="23" name="直線矢印コネクタ 22">
                  <a:extLst>
                    <a:ext uri="{FF2B5EF4-FFF2-40B4-BE49-F238E27FC236}">
                      <a16:creationId xmlns:a16="http://schemas.microsoft.com/office/drawing/2014/main" id="{B80718E1-0FE1-8F22-D77C-40004649A0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84962" y="3308279"/>
                  <a:ext cx="5291191" cy="0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4" name="正方形/長方形 23">
                  <a:extLst>
                    <a:ext uri="{FF2B5EF4-FFF2-40B4-BE49-F238E27FC236}">
                      <a16:creationId xmlns:a16="http://schemas.microsoft.com/office/drawing/2014/main" id="{14E5828F-1E32-88DC-F008-82D78E6EAFA2}"/>
                    </a:ext>
                  </a:extLst>
                </p:cNvPr>
                <p:cNvSpPr/>
                <p:nvPr/>
              </p:nvSpPr>
              <p:spPr>
                <a:xfrm>
                  <a:off x="3419198" y="2912018"/>
                  <a:ext cx="1545650" cy="373747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800" b="1" dirty="0"/>
                    <a:t>Candidate</a:t>
                  </a:r>
                  <a:endParaRPr kumimoji="1" lang="ja-JP" altLang="en-US" sz="1800" b="1"/>
                </a:p>
              </p:txBody>
            </p:sp>
            <p:sp>
              <p:nvSpPr>
                <p:cNvPr id="25" name="Google Shape;105;p2">
                  <a:extLst>
                    <a:ext uri="{FF2B5EF4-FFF2-40B4-BE49-F238E27FC236}">
                      <a16:creationId xmlns:a16="http://schemas.microsoft.com/office/drawing/2014/main" id="{71B51653-C3E9-BD6D-247D-2443672CB20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650311" y="3040193"/>
                  <a:ext cx="956424" cy="57505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L="457200" marR="0" lvl="0" indent="-355600" algn="l" rtl="0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Char char="•"/>
                    <a:defRPr sz="20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1pPr>
                  <a:lvl2pPr marL="914400" marR="0" lvl="1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–"/>
                    <a:defRPr sz="21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2pPr>
                  <a:lvl3pPr marL="1371600" marR="0" lvl="2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3pPr>
                  <a:lvl4pPr marL="1828800" marR="0" lvl="3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–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4pPr>
                  <a:lvl5pPr marL="2286000" marR="0" lvl="4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»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5pPr>
                  <a:lvl6pPr marL="2743200" marR="0" lvl="5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6pPr>
                  <a:lvl7pPr marL="3200400" marR="0" lvl="6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7pPr>
                  <a:lvl8pPr marL="3657600" marR="0" lvl="7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8pPr>
                  <a:lvl9pPr marL="4114800" marR="0" lvl="8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9pPr>
                </a:lstStyle>
                <a:p>
                  <a:pPr marL="0" indent="0" algn="ctr">
                    <a:spcBef>
                      <a:spcPts val="0"/>
                    </a:spcBef>
                    <a:buNone/>
                  </a:pPr>
                  <a:r>
                    <a:rPr lang="en-US" altLang="ja-JP" sz="2400" b="1" dirty="0">
                      <a:solidFill>
                        <a:schemeClr val="tx1"/>
                      </a:solidFill>
                    </a:rPr>
                    <a:t>t</a:t>
                  </a:r>
                  <a:endParaRPr lang="ja-JP" altLang="ja-JP" sz="2400" b="1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22" name="正方形/長方形 21">
                <a:extLst>
                  <a:ext uri="{FF2B5EF4-FFF2-40B4-BE49-F238E27FC236}">
                    <a16:creationId xmlns:a16="http://schemas.microsoft.com/office/drawing/2014/main" id="{C1FC6D7A-6D11-10C6-0D4C-2818A7282572}"/>
                  </a:ext>
                </a:extLst>
              </p:cNvPr>
              <p:cNvSpPr/>
              <p:nvPr/>
            </p:nvSpPr>
            <p:spPr>
              <a:xfrm>
                <a:off x="1061572" y="2154079"/>
                <a:ext cx="646177" cy="57505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800" b="1" dirty="0">
                    <a:solidFill>
                      <a:schemeClr val="tx1"/>
                    </a:solidFill>
                  </a:rPr>
                  <a:t>AB</a:t>
                </a:r>
                <a:endParaRPr kumimoji="1" lang="ja-JP" altLang="en-US" sz="1800" b="1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" name="Google Shape;176;p6">
            <a:extLst>
              <a:ext uri="{FF2B5EF4-FFF2-40B4-BE49-F238E27FC236}">
                <a16:creationId xmlns:a16="http://schemas.microsoft.com/office/drawing/2014/main" id="{6133AFE2-14DD-CF37-C743-D886917D8A7E}"/>
              </a:ext>
            </a:extLst>
          </p:cNvPr>
          <p:cNvSpPr txBox="1">
            <a:spLocks/>
          </p:cNvSpPr>
          <p:nvPr/>
        </p:nvSpPr>
        <p:spPr>
          <a:xfrm>
            <a:off x="706119" y="6458210"/>
            <a:ext cx="63357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ja-JP" sz="1000"/>
              <a:t>[1]Rakesh Agrawal and Ramakrishnan Srikant. Fast algorithms for mining association rules. In Proc. 20th Int. Conf. Very Large Data Bases, VLDB,Vol. 1215, pp. 487–499. Citeseer, 1994</a:t>
            </a:r>
            <a:endParaRPr lang="en-US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166824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46DAB04B-1558-EFEB-A4B4-108D6C9CF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8610A1F1-87E0-5B79-037B-978D90F9EE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704109"/>
            <a:ext cx="8229600" cy="4422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57175" indent="-257175">
              <a:spcBef>
                <a:spcPts val="0"/>
              </a:spcBef>
            </a:pPr>
            <a:r>
              <a:rPr lang="en-US" dirty="0">
                <a:solidFill>
                  <a:schemeClr val="tx1"/>
                </a:solidFill>
              </a:rPr>
              <a:t>Introduction</a:t>
            </a:r>
          </a:p>
          <a:p>
            <a:pPr marL="257175" indent="-257175"/>
            <a:r>
              <a:rPr lang="en-US" altLang="ja-JP" dirty="0">
                <a:solidFill>
                  <a:schemeClr val="tx1"/>
                </a:solidFill>
              </a:rPr>
              <a:t>Background</a:t>
            </a:r>
          </a:p>
          <a:p>
            <a:pPr marL="257175" indent="-257175"/>
            <a:r>
              <a:rPr lang="en-US" altLang="ja-JP" b="1" dirty="0">
                <a:solidFill>
                  <a:schemeClr val="tx1"/>
                </a:solidFill>
              </a:rPr>
              <a:t>Proposed Method</a:t>
            </a:r>
          </a:p>
          <a:p>
            <a:pPr lvl="1">
              <a:spcBef>
                <a:spcPts val="420"/>
              </a:spcBef>
            </a:pPr>
            <a:r>
              <a:rPr lang="en-US" altLang="ja-JP" sz="2400" b="1" dirty="0">
                <a:solidFill>
                  <a:schemeClr val="tx1"/>
                </a:solidFill>
              </a:rPr>
              <a:t>Reduction to 1D per fixed spatial start point</a:t>
            </a:r>
            <a:endParaRPr lang="en" altLang="ja-JP" b="1" dirty="0">
              <a:solidFill>
                <a:schemeClr val="tx1"/>
              </a:solidFill>
            </a:endParaRPr>
          </a:p>
          <a:p>
            <a:pPr lvl="1">
              <a:spcBef>
                <a:spcPts val="420"/>
              </a:spcBef>
            </a:pPr>
            <a:r>
              <a:rPr lang="en-US" altLang="ja-JP" sz="2400" b="1" dirty="0" err="1">
                <a:solidFill>
                  <a:schemeClr val="tx1"/>
                </a:solidFill>
              </a:rPr>
              <a:t>Apriori</a:t>
            </a:r>
            <a:r>
              <a:rPr lang="en-US" altLang="ja-JP" sz="2400" b="1" dirty="0">
                <a:solidFill>
                  <a:schemeClr val="tx1"/>
                </a:solidFill>
              </a:rPr>
              <a:t> pruning via (k-1)-subset interval map intersection</a:t>
            </a:r>
            <a:endParaRPr lang="en-US" altLang="ja-JP" b="1" dirty="0">
              <a:solidFill>
                <a:schemeClr val="tx1"/>
              </a:solidFill>
            </a:endParaRPr>
          </a:p>
          <a:p>
            <a:pPr lvl="1">
              <a:spcBef>
                <a:spcPts val="420"/>
              </a:spcBef>
            </a:pPr>
            <a:r>
              <a:rPr lang="en-US" altLang="ja-JP" sz="2400" b="1" dirty="0">
                <a:solidFill>
                  <a:schemeClr val="tx1"/>
                </a:solidFill>
              </a:rPr>
              <a:t>Duplicate-aware t-axis stride</a:t>
            </a:r>
            <a:endParaRPr lang="en-US" altLang="ja-JP" b="1" dirty="0">
              <a:solidFill>
                <a:schemeClr val="tx1"/>
              </a:solidFill>
            </a:endParaRPr>
          </a:p>
          <a:p>
            <a:pPr marL="257175" indent="-257175"/>
            <a:r>
              <a:rPr lang="en-US" altLang="ja-JP" dirty="0">
                <a:solidFill>
                  <a:schemeClr val="tx1"/>
                </a:solidFill>
              </a:rPr>
              <a:t>Experiments</a:t>
            </a:r>
          </a:p>
          <a:p>
            <a:pPr marL="257175" indent="-257175"/>
            <a:r>
              <a:rPr lang="en-US" altLang="ja-JP" dirty="0">
                <a:solidFill>
                  <a:schemeClr val="tx1"/>
                </a:solidFill>
              </a:rPr>
              <a:t>Conclusion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A57D32B1-BD1E-485C-47E8-19B6608073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09708"/>
            <a:ext cx="7886700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800" b="1" dirty="0"/>
              <a:t>Agenda</a:t>
            </a:r>
            <a:endParaRPr sz="2800" b="1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5FC0D8C-D5A9-63C8-1D09-356748D029BC}"/>
              </a:ext>
            </a:extLst>
          </p:cNvPr>
          <p:cNvSpPr/>
          <p:nvPr/>
        </p:nvSpPr>
        <p:spPr>
          <a:xfrm>
            <a:off x="457200" y="1579419"/>
            <a:ext cx="7377545" cy="820880"/>
          </a:xfrm>
          <a:prstGeom prst="rect">
            <a:avLst/>
          </a:prstGeom>
          <a:solidFill>
            <a:srgbClr val="FFFFFF">
              <a:alpha val="8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4FF77D6-78BA-E09D-F74B-41EE9E1C8F64}"/>
              </a:ext>
            </a:extLst>
          </p:cNvPr>
          <p:cNvSpPr/>
          <p:nvPr/>
        </p:nvSpPr>
        <p:spPr>
          <a:xfrm>
            <a:off x="457199" y="4406617"/>
            <a:ext cx="7377545" cy="820881"/>
          </a:xfrm>
          <a:prstGeom prst="rect">
            <a:avLst/>
          </a:prstGeom>
          <a:solidFill>
            <a:srgbClr val="FFFFFF">
              <a:alpha val="8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35151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88B16BA4-409C-E4C4-EF30-465AC486A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7A7521DC-DE14-709D-49DA-DBFCB08D5F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09" y="1122218"/>
            <a:ext cx="8821882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" altLang="ja-JP" dirty="0"/>
              <a:t>Reduce d-dim to 1D per fixed spatial start point. Then fight the cost blowup with interval map intersection, and fix the broken t-stride with duplicate awareness.</a:t>
            </a:r>
            <a:endParaRPr lang="ja-JP" altLang="ja-JP"/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82C77C16-68F1-295B-7A89-FD0F974E33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Multi-Dimensional </a:t>
            </a:r>
            <a:r>
              <a:rPr lang="en-US" b="1" dirty="0" err="1"/>
              <a:t>Apriori</a:t>
            </a:r>
            <a:r>
              <a:rPr lang="en-US" b="1" dirty="0"/>
              <a:t>-Window</a:t>
            </a:r>
            <a:endParaRPr b="1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1CF62249-A29F-74BD-B1D6-3E76DA116D7F}"/>
              </a:ext>
            </a:extLst>
          </p:cNvPr>
          <p:cNvGrpSpPr/>
          <p:nvPr/>
        </p:nvGrpSpPr>
        <p:grpSpPr>
          <a:xfrm>
            <a:off x="1853827" y="2348256"/>
            <a:ext cx="5436345" cy="810491"/>
            <a:chOff x="1439509" y="2530482"/>
            <a:chExt cx="6436799" cy="810491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66F2593F-12D4-B058-8AC4-79E2E4923329}"/>
                </a:ext>
              </a:extLst>
            </p:cNvPr>
            <p:cNvSpPr/>
            <p:nvPr/>
          </p:nvSpPr>
          <p:spPr>
            <a:xfrm>
              <a:off x="1439509" y="2530482"/>
              <a:ext cx="6436799" cy="81049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ja-JP" sz="1800" b="1" dirty="0">
                <a:solidFill>
                  <a:schemeClr val="bg1"/>
                </a:solidFill>
              </a:endParaRP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20301779-86D1-688A-EF59-D749C46F509A}"/>
                </a:ext>
              </a:extLst>
            </p:cNvPr>
            <p:cNvSpPr/>
            <p:nvPr/>
          </p:nvSpPr>
          <p:spPr>
            <a:xfrm>
              <a:off x="1439509" y="2690155"/>
              <a:ext cx="6436799" cy="4911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800" b="1" dirty="0">
                  <a:solidFill>
                    <a:schemeClr val="bg1"/>
                  </a:solidFill>
                </a:rPr>
                <a:t>Reduction to 1D per fixed spatial start point</a:t>
              </a:r>
            </a:p>
          </p:txBody>
        </p:sp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B563148F-DA64-FD2A-6A4A-51E11E80817D}"/>
              </a:ext>
            </a:extLst>
          </p:cNvPr>
          <p:cNvGrpSpPr/>
          <p:nvPr/>
        </p:nvGrpSpPr>
        <p:grpSpPr>
          <a:xfrm>
            <a:off x="301337" y="5190660"/>
            <a:ext cx="3898494" cy="810491"/>
            <a:chOff x="1439509" y="2530482"/>
            <a:chExt cx="6436800" cy="810491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FABD5096-6A30-A5CC-AB50-2D220FB7B823}"/>
                </a:ext>
              </a:extLst>
            </p:cNvPr>
            <p:cNvSpPr/>
            <p:nvPr/>
          </p:nvSpPr>
          <p:spPr>
            <a:xfrm>
              <a:off x="1439509" y="2530482"/>
              <a:ext cx="6436799" cy="81049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ja-JP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76458EBC-270B-8FA8-7B0D-20DD1FDC1376}"/>
                </a:ext>
              </a:extLst>
            </p:cNvPr>
            <p:cNvSpPr/>
            <p:nvPr/>
          </p:nvSpPr>
          <p:spPr>
            <a:xfrm>
              <a:off x="1439510" y="2690155"/>
              <a:ext cx="6436799" cy="4911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800" b="1" dirty="0" err="1">
                  <a:solidFill>
                    <a:schemeClr val="bg1"/>
                  </a:solidFill>
                </a:rPr>
                <a:t>Apriori</a:t>
              </a:r>
              <a:r>
                <a:rPr lang="en-US" altLang="ja-JP" sz="1800" b="1" dirty="0">
                  <a:solidFill>
                    <a:schemeClr val="bg1"/>
                  </a:solidFill>
                </a:rPr>
                <a:t> pruning via (k-1)-subset </a:t>
              </a:r>
            </a:p>
            <a:p>
              <a:pPr algn="ctr"/>
              <a:r>
                <a:rPr lang="en-US" altLang="ja-JP" sz="1800" b="1" dirty="0">
                  <a:solidFill>
                    <a:schemeClr val="bg1"/>
                  </a:solidFill>
                </a:rPr>
                <a:t>interval map intersection</a:t>
              </a:r>
            </a:p>
          </p:txBody>
        </p:sp>
      </p:grp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C733061A-3B80-BF10-28A2-8E10A6B0DB2D}"/>
              </a:ext>
            </a:extLst>
          </p:cNvPr>
          <p:cNvGrpSpPr/>
          <p:nvPr/>
        </p:nvGrpSpPr>
        <p:grpSpPr>
          <a:xfrm>
            <a:off x="4944169" y="5190659"/>
            <a:ext cx="3898493" cy="810491"/>
            <a:chOff x="1439509" y="2530482"/>
            <a:chExt cx="6436800" cy="810491"/>
          </a:xfrm>
        </p:grpSpPr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70BC9024-A0BF-0651-AB6C-FA3150E8BFEB}"/>
                </a:ext>
              </a:extLst>
            </p:cNvPr>
            <p:cNvSpPr/>
            <p:nvPr/>
          </p:nvSpPr>
          <p:spPr>
            <a:xfrm>
              <a:off x="1439509" y="2530482"/>
              <a:ext cx="6436799" cy="81049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ja-JP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AB7E55C1-1AA4-C4EB-9318-F1CB204FAF36}"/>
                </a:ext>
              </a:extLst>
            </p:cNvPr>
            <p:cNvSpPr/>
            <p:nvPr/>
          </p:nvSpPr>
          <p:spPr>
            <a:xfrm>
              <a:off x="1439510" y="2690155"/>
              <a:ext cx="6436799" cy="4911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800" b="1" dirty="0">
                  <a:solidFill>
                    <a:schemeClr val="bg1"/>
                  </a:solidFill>
                </a:rPr>
                <a:t>Duplicate-aware t-axis stride</a:t>
              </a:r>
            </a:p>
          </p:txBody>
        </p:sp>
      </p:grpSp>
      <p:cxnSp>
        <p:nvCxnSpPr>
          <p:cNvPr id="13" name="カギ線コネクタ 12">
            <a:extLst>
              <a:ext uri="{FF2B5EF4-FFF2-40B4-BE49-F238E27FC236}">
                <a16:creationId xmlns:a16="http://schemas.microsoft.com/office/drawing/2014/main" id="{702F2134-B757-7A26-D704-AC3B696BF7D5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5400000">
            <a:off x="2395336" y="3013995"/>
            <a:ext cx="2031913" cy="2321416"/>
          </a:xfrm>
          <a:prstGeom prst="bentConnector3">
            <a:avLst>
              <a:gd name="adj1" fmla="val 16874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カギ線コネクタ 14">
            <a:extLst>
              <a:ext uri="{FF2B5EF4-FFF2-40B4-BE49-F238E27FC236}">
                <a16:creationId xmlns:a16="http://schemas.microsoft.com/office/drawing/2014/main" id="{1499942B-562E-6CE0-F0EA-EFDE5DB36749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 rot="16200000" flipH="1">
            <a:off x="4716751" y="3013995"/>
            <a:ext cx="2031912" cy="2321415"/>
          </a:xfrm>
          <a:prstGeom prst="bentConnector3">
            <a:avLst>
              <a:gd name="adj1" fmla="val 16874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oogle Shape;105;p2">
            <a:extLst>
              <a:ext uri="{FF2B5EF4-FFF2-40B4-BE49-F238E27FC236}">
                <a16:creationId xmlns:a16="http://schemas.microsoft.com/office/drawing/2014/main" id="{81B920E7-2090-2E40-1185-E9026DE24A43}"/>
              </a:ext>
            </a:extLst>
          </p:cNvPr>
          <p:cNvSpPr txBox="1">
            <a:spLocks/>
          </p:cNvSpPr>
          <p:nvPr/>
        </p:nvSpPr>
        <p:spPr>
          <a:xfrm>
            <a:off x="912124" y="3929087"/>
            <a:ext cx="2676917" cy="697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  <a:buFont typeface="Arial"/>
              <a:buNone/>
            </a:pPr>
            <a:r>
              <a:rPr lang="en-US" altLang="ja-JP" b="1" dirty="0">
                <a:solidFill>
                  <a:schemeClr val="accent1"/>
                </a:solidFill>
              </a:rPr>
              <a:t>increase in </a:t>
            </a:r>
          </a:p>
          <a:p>
            <a:pPr marL="0" indent="0" algn="ctr">
              <a:spcBef>
                <a:spcPts val="0"/>
              </a:spcBef>
              <a:buFont typeface="Arial"/>
              <a:buNone/>
            </a:pPr>
            <a:r>
              <a:rPr lang="en-US" altLang="ja-JP" b="1" dirty="0">
                <a:solidFill>
                  <a:schemeClr val="accent1"/>
                </a:solidFill>
              </a:rPr>
              <a:t>computational cost</a:t>
            </a:r>
            <a:endParaRPr lang="ja-JP" altLang="ja-JP" b="1">
              <a:solidFill>
                <a:schemeClr val="accent1"/>
              </a:solidFill>
            </a:endParaRPr>
          </a:p>
        </p:txBody>
      </p:sp>
      <p:sp>
        <p:nvSpPr>
          <p:cNvPr id="21" name="Google Shape;105;p2">
            <a:extLst>
              <a:ext uri="{FF2B5EF4-FFF2-40B4-BE49-F238E27FC236}">
                <a16:creationId xmlns:a16="http://schemas.microsoft.com/office/drawing/2014/main" id="{BCA28B02-827B-84B5-6A58-A025F35C431B}"/>
              </a:ext>
            </a:extLst>
          </p:cNvPr>
          <p:cNvSpPr txBox="1">
            <a:spLocks/>
          </p:cNvSpPr>
          <p:nvPr/>
        </p:nvSpPr>
        <p:spPr>
          <a:xfrm>
            <a:off x="5252231" y="3954486"/>
            <a:ext cx="3263119" cy="6470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  <a:buFont typeface="Arial"/>
              <a:buNone/>
            </a:pPr>
            <a:r>
              <a:rPr lang="en-US" altLang="ja-JP" b="1" dirty="0">
                <a:solidFill>
                  <a:schemeClr val="accent1"/>
                </a:solidFill>
              </a:rPr>
              <a:t>incompatibility of </a:t>
            </a:r>
          </a:p>
          <a:p>
            <a:pPr marL="0" indent="0" algn="ctr">
              <a:spcBef>
                <a:spcPts val="0"/>
              </a:spcBef>
              <a:buFont typeface="Arial"/>
              <a:buNone/>
            </a:pPr>
            <a:r>
              <a:rPr lang="en-US" altLang="ja-JP" b="1" dirty="0">
                <a:solidFill>
                  <a:schemeClr val="accent1"/>
                </a:solidFill>
              </a:rPr>
              <a:t>the t-axis stride</a:t>
            </a:r>
            <a:endParaRPr lang="ja-JP" altLang="ja-JP" b="1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27870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0E387404-69DB-2233-6C44-0C296FC1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59AA3076-CFE0-F832-43C3-FE477FD1BF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09" y="1122218"/>
            <a:ext cx="8821882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Slice the d-dim data per spatial start point → each slice becomes a 1D multiset → solve with 1D Apriori-Window.</a:t>
            </a:r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B41E044E-D78D-76F3-A01F-DC74ECB880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Reduction to 1D per fixed spatial start point</a:t>
            </a:r>
            <a:endParaRPr b="1" dirty="0"/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D5A5B154-F6AC-45C1-6860-EB4339C7E464}"/>
              </a:ext>
            </a:extLst>
          </p:cNvPr>
          <p:cNvCxnSpPr>
            <a:cxnSpLocks/>
          </p:cNvCxnSpPr>
          <p:nvPr/>
        </p:nvCxnSpPr>
        <p:spPr>
          <a:xfrm flipV="1">
            <a:off x="582121" y="2845123"/>
            <a:ext cx="0" cy="28367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Google Shape;105;p2">
            <a:extLst>
              <a:ext uri="{FF2B5EF4-FFF2-40B4-BE49-F238E27FC236}">
                <a16:creationId xmlns:a16="http://schemas.microsoft.com/office/drawing/2014/main" id="{CD86D093-1D2B-7DCF-8620-38AEE78CA4E9}"/>
              </a:ext>
            </a:extLst>
          </p:cNvPr>
          <p:cNvSpPr txBox="1">
            <a:spLocks/>
          </p:cNvSpPr>
          <p:nvPr/>
        </p:nvSpPr>
        <p:spPr>
          <a:xfrm>
            <a:off x="103909" y="2441361"/>
            <a:ext cx="956424" cy="575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altLang="ja-JP" sz="2400" b="1" dirty="0">
                <a:solidFill>
                  <a:schemeClr val="tx1"/>
                </a:solidFill>
              </a:rPr>
              <a:t>t</a:t>
            </a:r>
            <a:endParaRPr lang="ja-JP" altLang="ja-JP" sz="2400" b="1">
              <a:solidFill>
                <a:schemeClr val="tx1"/>
              </a:solidFill>
            </a:endParaRP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827DDB75-E048-3490-4BD1-A0A5F1341E94}"/>
              </a:ext>
            </a:extLst>
          </p:cNvPr>
          <p:cNvCxnSpPr>
            <a:cxnSpLocks/>
          </p:cNvCxnSpPr>
          <p:nvPr/>
        </p:nvCxnSpPr>
        <p:spPr>
          <a:xfrm>
            <a:off x="582121" y="5681841"/>
            <a:ext cx="268084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Google Shape;105;p2">
            <a:extLst>
              <a:ext uri="{FF2B5EF4-FFF2-40B4-BE49-F238E27FC236}">
                <a16:creationId xmlns:a16="http://schemas.microsoft.com/office/drawing/2014/main" id="{6281C532-80A9-64AB-4601-710D79D7D053}"/>
              </a:ext>
            </a:extLst>
          </p:cNvPr>
          <p:cNvSpPr txBox="1">
            <a:spLocks/>
          </p:cNvSpPr>
          <p:nvPr/>
        </p:nvSpPr>
        <p:spPr>
          <a:xfrm>
            <a:off x="3206317" y="5447058"/>
            <a:ext cx="673272" cy="46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altLang="ja-JP" sz="2400" b="1" dirty="0">
                <a:solidFill>
                  <a:schemeClr val="tx1"/>
                </a:solidFill>
              </a:rPr>
              <a:t>x</a:t>
            </a:r>
            <a:endParaRPr lang="ja-JP" altLang="ja-JP" sz="2400" b="1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75F541A-67C0-7EE5-E23E-417A63CF9787}"/>
              </a:ext>
            </a:extLst>
          </p:cNvPr>
          <p:cNvSpPr/>
          <p:nvPr/>
        </p:nvSpPr>
        <p:spPr>
          <a:xfrm>
            <a:off x="798176" y="4999095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A</a:t>
            </a:r>
            <a:endParaRPr kumimoji="1" lang="ja-JP" altLang="en-US" sz="1800" b="1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0BE1170-29E0-879E-8D77-60A71CBD0990}"/>
              </a:ext>
            </a:extLst>
          </p:cNvPr>
          <p:cNvSpPr/>
          <p:nvPr/>
        </p:nvSpPr>
        <p:spPr>
          <a:xfrm>
            <a:off x="798176" y="4405046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B</a:t>
            </a:r>
            <a:endParaRPr kumimoji="1" lang="ja-JP" altLang="en-US" sz="1800" b="1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7623FEE-BC01-CFFC-0D48-EF1790E8A871}"/>
              </a:ext>
            </a:extLst>
          </p:cNvPr>
          <p:cNvSpPr/>
          <p:nvPr/>
        </p:nvSpPr>
        <p:spPr>
          <a:xfrm>
            <a:off x="807503" y="3810997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C</a:t>
            </a:r>
            <a:endParaRPr kumimoji="1" lang="ja-JP" altLang="en-US" sz="1800" b="1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3E92CB4-65C1-8A4C-9B8E-23C9877304D9}"/>
              </a:ext>
            </a:extLst>
          </p:cNvPr>
          <p:cNvSpPr/>
          <p:nvPr/>
        </p:nvSpPr>
        <p:spPr>
          <a:xfrm>
            <a:off x="798176" y="3230530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D</a:t>
            </a:r>
            <a:endParaRPr kumimoji="1" lang="ja-JP" altLang="en-US" sz="1800" b="1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4062CA0-B769-999D-7831-72FF656DE8B6}"/>
              </a:ext>
            </a:extLst>
          </p:cNvPr>
          <p:cNvSpPr/>
          <p:nvPr/>
        </p:nvSpPr>
        <p:spPr>
          <a:xfrm>
            <a:off x="1355775" y="4999095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B</a:t>
            </a:r>
            <a:endParaRPr kumimoji="1" lang="ja-JP" altLang="en-US" sz="1800" b="1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39D7F69-57F1-BF8D-42AF-476587AC8ECD}"/>
              </a:ext>
            </a:extLst>
          </p:cNvPr>
          <p:cNvSpPr/>
          <p:nvPr/>
        </p:nvSpPr>
        <p:spPr>
          <a:xfrm>
            <a:off x="1355775" y="4405046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C</a:t>
            </a:r>
            <a:endParaRPr kumimoji="1" lang="ja-JP" altLang="en-US" sz="1800" b="1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E7F0596-E546-D965-CB72-F83B82D9C4EF}"/>
              </a:ext>
            </a:extLst>
          </p:cNvPr>
          <p:cNvSpPr/>
          <p:nvPr/>
        </p:nvSpPr>
        <p:spPr>
          <a:xfrm>
            <a:off x="1365102" y="3810997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D</a:t>
            </a:r>
            <a:endParaRPr kumimoji="1" lang="ja-JP" altLang="en-US" sz="1800" b="1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05B3A40-FB05-2A75-5E2A-52E63CC5CE77}"/>
              </a:ext>
            </a:extLst>
          </p:cNvPr>
          <p:cNvSpPr/>
          <p:nvPr/>
        </p:nvSpPr>
        <p:spPr>
          <a:xfrm>
            <a:off x="1355775" y="3230530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A</a:t>
            </a:r>
            <a:endParaRPr kumimoji="1" lang="ja-JP" altLang="en-US" sz="1800" b="1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8CBF6A12-96BF-D2F0-9750-3FCBF5BD32A9}"/>
              </a:ext>
            </a:extLst>
          </p:cNvPr>
          <p:cNvSpPr/>
          <p:nvPr/>
        </p:nvSpPr>
        <p:spPr>
          <a:xfrm>
            <a:off x="1922701" y="4999095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C</a:t>
            </a:r>
            <a:endParaRPr kumimoji="1" lang="ja-JP" altLang="en-US" sz="1800" b="1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E611CB3-A67E-2A1E-572B-C9C7C4F11231}"/>
              </a:ext>
            </a:extLst>
          </p:cNvPr>
          <p:cNvSpPr/>
          <p:nvPr/>
        </p:nvSpPr>
        <p:spPr>
          <a:xfrm>
            <a:off x="1922701" y="4405046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D</a:t>
            </a:r>
            <a:endParaRPr kumimoji="1" lang="ja-JP" altLang="en-US" sz="1800" b="1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2F9C8D3E-3411-531D-287E-7A5634BA4101}"/>
              </a:ext>
            </a:extLst>
          </p:cNvPr>
          <p:cNvSpPr/>
          <p:nvPr/>
        </p:nvSpPr>
        <p:spPr>
          <a:xfrm>
            <a:off x="1932028" y="3810997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A</a:t>
            </a:r>
            <a:endParaRPr kumimoji="1" lang="ja-JP" altLang="en-US" sz="1800" b="1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6E19788-FCB7-7587-39CC-56F351FD94F4}"/>
              </a:ext>
            </a:extLst>
          </p:cNvPr>
          <p:cNvSpPr/>
          <p:nvPr/>
        </p:nvSpPr>
        <p:spPr>
          <a:xfrm>
            <a:off x="1922701" y="3230530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B</a:t>
            </a:r>
            <a:endParaRPr kumimoji="1" lang="ja-JP" altLang="en-US" sz="1800" b="1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627EBA5-EDE8-B4FD-32EB-AC98F5301D03}"/>
              </a:ext>
            </a:extLst>
          </p:cNvPr>
          <p:cNvSpPr/>
          <p:nvPr/>
        </p:nvSpPr>
        <p:spPr>
          <a:xfrm>
            <a:off x="2504596" y="4999095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D</a:t>
            </a:r>
            <a:endParaRPr kumimoji="1" lang="ja-JP" altLang="en-US" sz="1800" b="1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8FC198F1-827E-2A81-49EC-521E45D8EE21}"/>
              </a:ext>
            </a:extLst>
          </p:cNvPr>
          <p:cNvSpPr/>
          <p:nvPr/>
        </p:nvSpPr>
        <p:spPr>
          <a:xfrm>
            <a:off x="2504596" y="4405046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A</a:t>
            </a:r>
            <a:endParaRPr kumimoji="1" lang="ja-JP" altLang="en-US" sz="1800" b="1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1D0B511B-7591-EAA4-5A03-50B670A6C214}"/>
              </a:ext>
            </a:extLst>
          </p:cNvPr>
          <p:cNvSpPr/>
          <p:nvPr/>
        </p:nvSpPr>
        <p:spPr>
          <a:xfrm>
            <a:off x="2513923" y="3810997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B</a:t>
            </a:r>
            <a:endParaRPr kumimoji="1" lang="ja-JP" altLang="en-US" sz="1800" b="1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09615684-700A-89E4-A9A0-801E7ED6E260}"/>
              </a:ext>
            </a:extLst>
          </p:cNvPr>
          <p:cNvSpPr/>
          <p:nvPr/>
        </p:nvSpPr>
        <p:spPr>
          <a:xfrm>
            <a:off x="2504596" y="3230530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C</a:t>
            </a:r>
            <a:endParaRPr kumimoji="1" lang="ja-JP" altLang="en-US" sz="1800" b="1"/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A71ECC36-CA97-10BF-F99E-6B3BA93126E3}"/>
              </a:ext>
            </a:extLst>
          </p:cNvPr>
          <p:cNvGrpSpPr/>
          <p:nvPr/>
        </p:nvGrpSpPr>
        <p:grpSpPr>
          <a:xfrm>
            <a:off x="2739966" y="2205926"/>
            <a:ext cx="1383382" cy="810491"/>
            <a:chOff x="7286569" y="2009907"/>
            <a:chExt cx="1383382" cy="8104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3BD5A24C-87CF-FA9C-4BD2-3A2B0DB36C89}"/>
                    </a:ext>
                  </a:extLst>
                </p:cNvPr>
                <p:cNvSpPr txBox="1"/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kumimoji="1" lang="en-US" altLang="ja-JP" sz="1800" dirty="0"/>
                </a:p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kumimoji="1" lang="en-US" altLang="ja-JP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kumimoji="1" lang="en-US" altLang="ja-JP" sz="1800" dirty="0"/>
                </a:p>
              </p:txBody>
            </p:sp>
          </mc:Choice>
          <mc:Fallback xmlns="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3BD5A24C-87CF-FA9C-4BD2-3A2B0DB36C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大かっこ 30">
              <a:extLst>
                <a:ext uri="{FF2B5EF4-FFF2-40B4-BE49-F238E27FC236}">
                  <a16:creationId xmlns:a16="http://schemas.microsoft.com/office/drawing/2014/main" id="{0C75F686-35F9-7D3E-57B1-BFA1F28FA29E}"/>
                </a:ext>
              </a:extLst>
            </p:cNvPr>
            <p:cNvSpPr/>
            <p:nvPr/>
          </p:nvSpPr>
          <p:spPr>
            <a:xfrm>
              <a:off x="7430610" y="2009907"/>
              <a:ext cx="1020932" cy="810491"/>
            </a:xfrm>
            <a:prstGeom prst="bracketPair">
              <a:avLst>
                <a:gd name="adj" fmla="val 12286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783374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97B3465C-316E-CDC7-74A4-B946886C7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F3955996-8FD9-7625-194F-500099B5FB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Reduction to 1D per fixed spatial start point</a:t>
            </a:r>
            <a:endParaRPr b="1" dirty="0"/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AFB1724D-55E0-8078-A4CA-1A1388CF54CB}"/>
              </a:ext>
            </a:extLst>
          </p:cNvPr>
          <p:cNvCxnSpPr>
            <a:cxnSpLocks/>
          </p:cNvCxnSpPr>
          <p:nvPr/>
        </p:nvCxnSpPr>
        <p:spPr>
          <a:xfrm flipV="1">
            <a:off x="582121" y="2845123"/>
            <a:ext cx="0" cy="28367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Google Shape;105;p2">
            <a:extLst>
              <a:ext uri="{FF2B5EF4-FFF2-40B4-BE49-F238E27FC236}">
                <a16:creationId xmlns:a16="http://schemas.microsoft.com/office/drawing/2014/main" id="{3D7E5ED8-ECBE-FDFE-4947-5E0B71AF584D}"/>
              </a:ext>
            </a:extLst>
          </p:cNvPr>
          <p:cNvSpPr txBox="1">
            <a:spLocks/>
          </p:cNvSpPr>
          <p:nvPr/>
        </p:nvSpPr>
        <p:spPr>
          <a:xfrm>
            <a:off x="103909" y="2441361"/>
            <a:ext cx="956424" cy="575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altLang="ja-JP" sz="2400" b="1" dirty="0">
                <a:solidFill>
                  <a:schemeClr val="tx1"/>
                </a:solidFill>
              </a:rPr>
              <a:t>t</a:t>
            </a:r>
            <a:endParaRPr lang="ja-JP" altLang="ja-JP" sz="2400" b="1">
              <a:solidFill>
                <a:schemeClr val="tx1"/>
              </a:solidFill>
            </a:endParaRP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AFEEE5A8-E11F-64A5-822B-907A8D123779}"/>
              </a:ext>
            </a:extLst>
          </p:cNvPr>
          <p:cNvCxnSpPr>
            <a:cxnSpLocks/>
          </p:cNvCxnSpPr>
          <p:nvPr/>
        </p:nvCxnSpPr>
        <p:spPr>
          <a:xfrm>
            <a:off x="582121" y="5681841"/>
            <a:ext cx="268084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Google Shape;105;p2">
            <a:extLst>
              <a:ext uri="{FF2B5EF4-FFF2-40B4-BE49-F238E27FC236}">
                <a16:creationId xmlns:a16="http://schemas.microsoft.com/office/drawing/2014/main" id="{76C10F4A-ADC0-C309-0E16-3B9860350A14}"/>
              </a:ext>
            </a:extLst>
          </p:cNvPr>
          <p:cNvSpPr txBox="1">
            <a:spLocks/>
          </p:cNvSpPr>
          <p:nvPr/>
        </p:nvSpPr>
        <p:spPr>
          <a:xfrm>
            <a:off x="3206317" y="5447058"/>
            <a:ext cx="673272" cy="46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altLang="ja-JP" sz="2400" b="1" dirty="0">
                <a:solidFill>
                  <a:schemeClr val="tx1"/>
                </a:solidFill>
              </a:rPr>
              <a:t>x</a:t>
            </a:r>
            <a:endParaRPr lang="ja-JP" altLang="ja-JP" sz="2400" b="1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AAEF449-5BD0-C72E-140D-848D2E8C04D2}"/>
              </a:ext>
            </a:extLst>
          </p:cNvPr>
          <p:cNvSpPr/>
          <p:nvPr/>
        </p:nvSpPr>
        <p:spPr>
          <a:xfrm>
            <a:off x="798176" y="4999095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A</a:t>
            </a:r>
            <a:endParaRPr kumimoji="1" lang="ja-JP" altLang="en-US" sz="1800" b="1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EF15AE5-2B44-2585-A695-BE7EF2155F6B}"/>
              </a:ext>
            </a:extLst>
          </p:cNvPr>
          <p:cNvSpPr/>
          <p:nvPr/>
        </p:nvSpPr>
        <p:spPr>
          <a:xfrm>
            <a:off x="798176" y="4405046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B</a:t>
            </a:r>
            <a:endParaRPr kumimoji="1" lang="ja-JP" altLang="en-US" sz="1800" b="1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DF44A89-5FE7-7072-497F-8A32E0DE0254}"/>
              </a:ext>
            </a:extLst>
          </p:cNvPr>
          <p:cNvSpPr/>
          <p:nvPr/>
        </p:nvSpPr>
        <p:spPr>
          <a:xfrm>
            <a:off x="807503" y="3810997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C</a:t>
            </a:r>
            <a:endParaRPr kumimoji="1" lang="ja-JP" altLang="en-US" sz="1800" b="1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CF25D8D-8A7D-E44B-3194-A25396F619C0}"/>
              </a:ext>
            </a:extLst>
          </p:cNvPr>
          <p:cNvSpPr/>
          <p:nvPr/>
        </p:nvSpPr>
        <p:spPr>
          <a:xfrm>
            <a:off x="798176" y="3230530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D</a:t>
            </a:r>
            <a:endParaRPr kumimoji="1" lang="ja-JP" altLang="en-US" sz="1800" b="1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9016F3A-973D-E33E-5404-913FB42E7C73}"/>
              </a:ext>
            </a:extLst>
          </p:cNvPr>
          <p:cNvSpPr/>
          <p:nvPr/>
        </p:nvSpPr>
        <p:spPr>
          <a:xfrm>
            <a:off x="1355775" y="4999095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B</a:t>
            </a:r>
            <a:endParaRPr kumimoji="1" lang="ja-JP" altLang="en-US" sz="1800" b="1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DE74A0C-48CF-CE42-1016-2F9E932972AD}"/>
              </a:ext>
            </a:extLst>
          </p:cNvPr>
          <p:cNvSpPr/>
          <p:nvPr/>
        </p:nvSpPr>
        <p:spPr>
          <a:xfrm>
            <a:off x="1355775" y="4405046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C</a:t>
            </a:r>
            <a:endParaRPr kumimoji="1" lang="ja-JP" altLang="en-US" sz="1800" b="1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3BFC7E4-6216-06CF-D2E4-55E56D0EAD76}"/>
              </a:ext>
            </a:extLst>
          </p:cNvPr>
          <p:cNvSpPr/>
          <p:nvPr/>
        </p:nvSpPr>
        <p:spPr>
          <a:xfrm>
            <a:off x="1365102" y="3810997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D</a:t>
            </a:r>
            <a:endParaRPr kumimoji="1" lang="ja-JP" altLang="en-US" sz="1800" b="1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5924329-65D4-364E-89B7-702A4F018B45}"/>
              </a:ext>
            </a:extLst>
          </p:cNvPr>
          <p:cNvSpPr/>
          <p:nvPr/>
        </p:nvSpPr>
        <p:spPr>
          <a:xfrm>
            <a:off x="1355775" y="3230530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A</a:t>
            </a:r>
            <a:endParaRPr kumimoji="1" lang="ja-JP" altLang="en-US" sz="1800" b="1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7E7D273-1A35-D381-B351-3F2DD337B25E}"/>
              </a:ext>
            </a:extLst>
          </p:cNvPr>
          <p:cNvSpPr/>
          <p:nvPr/>
        </p:nvSpPr>
        <p:spPr>
          <a:xfrm>
            <a:off x="1922701" y="4999095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C</a:t>
            </a:r>
            <a:endParaRPr kumimoji="1" lang="ja-JP" altLang="en-US" sz="1800" b="1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E623633-FECC-7D77-225D-28DB55495987}"/>
              </a:ext>
            </a:extLst>
          </p:cNvPr>
          <p:cNvSpPr/>
          <p:nvPr/>
        </p:nvSpPr>
        <p:spPr>
          <a:xfrm>
            <a:off x="1922701" y="4405046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D</a:t>
            </a:r>
            <a:endParaRPr kumimoji="1" lang="ja-JP" altLang="en-US" sz="1800" b="1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88A4933-030A-DAEE-F1EC-7C564F352018}"/>
              </a:ext>
            </a:extLst>
          </p:cNvPr>
          <p:cNvSpPr/>
          <p:nvPr/>
        </p:nvSpPr>
        <p:spPr>
          <a:xfrm>
            <a:off x="1932028" y="3810997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A</a:t>
            </a:r>
            <a:endParaRPr kumimoji="1" lang="ja-JP" altLang="en-US" sz="1800" b="1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7E089E43-DFF1-5EA0-98A3-DB21F10EBE59}"/>
              </a:ext>
            </a:extLst>
          </p:cNvPr>
          <p:cNvSpPr/>
          <p:nvPr/>
        </p:nvSpPr>
        <p:spPr>
          <a:xfrm>
            <a:off x="1922701" y="3230530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B</a:t>
            </a:r>
            <a:endParaRPr kumimoji="1" lang="ja-JP" altLang="en-US" sz="1800" b="1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FB159C40-2E40-350D-BFF1-975D1FECAEB6}"/>
              </a:ext>
            </a:extLst>
          </p:cNvPr>
          <p:cNvSpPr/>
          <p:nvPr/>
        </p:nvSpPr>
        <p:spPr>
          <a:xfrm>
            <a:off x="2504596" y="4999095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D</a:t>
            </a:r>
            <a:endParaRPr kumimoji="1" lang="ja-JP" altLang="en-US" sz="1800" b="1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8D7B6C1A-ECEA-3E37-34F0-AB97C8BA0800}"/>
              </a:ext>
            </a:extLst>
          </p:cNvPr>
          <p:cNvSpPr/>
          <p:nvPr/>
        </p:nvSpPr>
        <p:spPr>
          <a:xfrm>
            <a:off x="2504596" y="4405046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A</a:t>
            </a:r>
            <a:endParaRPr kumimoji="1" lang="ja-JP" altLang="en-US" sz="1800" b="1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7B555F6F-3C30-BC45-6E0F-499DB25487C8}"/>
              </a:ext>
            </a:extLst>
          </p:cNvPr>
          <p:cNvSpPr/>
          <p:nvPr/>
        </p:nvSpPr>
        <p:spPr>
          <a:xfrm>
            <a:off x="2513923" y="3810997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B</a:t>
            </a:r>
            <a:endParaRPr kumimoji="1" lang="ja-JP" altLang="en-US" sz="1800" b="1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306BD71-1344-644B-7E5F-5D4B38CD0F6F}"/>
              </a:ext>
            </a:extLst>
          </p:cNvPr>
          <p:cNvSpPr/>
          <p:nvPr/>
        </p:nvSpPr>
        <p:spPr>
          <a:xfrm>
            <a:off x="2504596" y="3230530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C</a:t>
            </a:r>
            <a:endParaRPr kumimoji="1" lang="ja-JP" altLang="en-US" sz="1800" b="1"/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B42580A7-AFA7-141A-69F0-8748B940DCCB}"/>
              </a:ext>
            </a:extLst>
          </p:cNvPr>
          <p:cNvGrpSpPr/>
          <p:nvPr/>
        </p:nvGrpSpPr>
        <p:grpSpPr>
          <a:xfrm>
            <a:off x="2739966" y="2205926"/>
            <a:ext cx="1383382" cy="810491"/>
            <a:chOff x="7286569" y="2009907"/>
            <a:chExt cx="1383382" cy="8104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532ACB19-EA72-0912-7F48-20EE0C9B3972}"/>
                    </a:ext>
                  </a:extLst>
                </p:cNvPr>
                <p:cNvSpPr txBox="1"/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kumimoji="1" lang="en-US" altLang="ja-JP" sz="1800" dirty="0"/>
                </a:p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kumimoji="1" lang="en-US" altLang="ja-JP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kumimoji="1" lang="en-US" altLang="ja-JP" sz="1800" dirty="0"/>
                </a:p>
              </p:txBody>
            </p:sp>
          </mc:Choice>
          <mc:Fallback xmlns="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532ACB19-EA72-0912-7F48-20EE0C9B39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大かっこ 30">
              <a:extLst>
                <a:ext uri="{FF2B5EF4-FFF2-40B4-BE49-F238E27FC236}">
                  <a16:creationId xmlns:a16="http://schemas.microsoft.com/office/drawing/2014/main" id="{9C219607-5160-7FB1-D4EE-00449A786DDE}"/>
                </a:ext>
              </a:extLst>
            </p:cNvPr>
            <p:cNvSpPr/>
            <p:nvPr/>
          </p:nvSpPr>
          <p:spPr>
            <a:xfrm>
              <a:off x="7430610" y="2009907"/>
              <a:ext cx="1020932" cy="810491"/>
            </a:xfrm>
            <a:prstGeom prst="bracketPair">
              <a:avLst>
                <a:gd name="adj" fmla="val 12286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C0B66716-60C5-3B07-041D-FF865A6435E4}"/>
              </a:ext>
            </a:extLst>
          </p:cNvPr>
          <p:cNvGrpSpPr/>
          <p:nvPr/>
        </p:nvGrpSpPr>
        <p:grpSpPr>
          <a:xfrm>
            <a:off x="722691" y="3132843"/>
            <a:ext cx="1171528" cy="2441941"/>
            <a:chOff x="875091" y="3285243"/>
            <a:chExt cx="1171528" cy="2441941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F42C6E8D-1529-CB4D-37E8-D4E4F9A315CE}"/>
                </a:ext>
              </a:extLst>
            </p:cNvPr>
            <p:cNvSpPr/>
            <p:nvPr/>
          </p:nvSpPr>
          <p:spPr>
            <a:xfrm>
              <a:off x="875091" y="3285243"/>
              <a:ext cx="1171528" cy="24419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800" b="1">
                <a:solidFill>
                  <a:schemeClr val="accent1"/>
                </a:solidFill>
              </a:endParaRPr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B52182C6-41FB-A6D7-480A-E571BA8A016A}"/>
                </a:ext>
              </a:extLst>
            </p:cNvPr>
            <p:cNvSpPr/>
            <p:nvPr/>
          </p:nvSpPr>
          <p:spPr>
            <a:xfrm>
              <a:off x="950576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C5E7DDF5-0E33-14D7-F01B-1E8EE56E139E}"/>
                </a:ext>
              </a:extLst>
            </p:cNvPr>
            <p:cNvSpPr/>
            <p:nvPr/>
          </p:nvSpPr>
          <p:spPr>
            <a:xfrm>
              <a:off x="950576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B21BE674-76B9-25A6-7E11-DC6CCE489D42}"/>
                </a:ext>
              </a:extLst>
            </p:cNvPr>
            <p:cNvSpPr/>
            <p:nvPr/>
          </p:nvSpPr>
          <p:spPr>
            <a:xfrm>
              <a:off x="959903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57E2867A-C361-D91C-5A88-E3267C1C5EDB}"/>
                </a:ext>
              </a:extLst>
            </p:cNvPr>
            <p:cNvSpPr/>
            <p:nvPr/>
          </p:nvSpPr>
          <p:spPr>
            <a:xfrm>
              <a:off x="950576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E0F738D5-CC67-6CE6-AFA2-1B4CA23C9C74}"/>
                </a:ext>
              </a:extLst>
            </p:cNvPr>
            <p:cNvSpPr/>
            <p:nvPr/>
          </p:nvSpPr>
          <p:spPr>
            <a:xfrm>
              <a:off x="1508175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95CB9B59-A453-1107-C6C6-FC3BF50CF3BA}"/>
                </a:ext>
              </a:extLst>
            </p:cNvPr>
            <p:cNvSpPr/>
            <p:nvPr/>
          </p:nvSpPr>
          <p:spPr>
            <a:xfrm>
              <a:off x="1508175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DC140A43-005C-1DD9-5FDF-2A2C3CEF9488}"/>
                </a:ext>
              </a:extLst>
            </p:cNvPr>
            <p:cNvSpPr/>
            <p:nvPr/>
          </p:nvSpPr>
          <p:spPr>
            <a:xfrm>
              <a:off x="1517502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8AE91A29-83FF-169F-9029-68CE2A0183D6}"/>
                </a:ext>
              </a:extLst>
            </p:cNvPr>
            <p:cNvSpPr/>
            <p:nvPr/>
          </p:nvSpPr>
          <p:spPr>
            <a:xfrm>
              <a:off x="1508175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</p:grpSp>
      <p:sp>
        <p:nvSpPr>
          <p:cNvPr id="38" name="Google Shape;105;p2">
            <a:extLst>
              <a:ext uri="{FF2B5EF4-FFF2-40B4-BE49-F238E27FC236}">
                <a16:creationId xmlns:a16="http://schemas.microsoft.com/office/drawing/2014/main" id="{067386F3-18AC-1288-3FE1-998D7A3522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09" y="1122218"/>
            <a:ext cx="8821882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Slice the d-dim data per spatial start point → each slice becomes a 1D multiset → solve with 1D Apriori-Window.</a:t>
            </a:r>
          </a:p>
        </p:txBody>
      </p:sp>
    </p:spTree>
    <p:extLst>
      <p:ext uri="{BB962C8B-B14F-4D97-AF65-F5344CB8AC3E}">
        <p14:creationId xmlns:p14="http://schemas.microsoft.com/office/powerpoint/2010/main" val="33555929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2E8E2232-89BE-FF55-7E10-77B5BA7F4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4103F0AE-146E-700E-D8A1-017200F40D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Reduction to 1D per fixed spatial start point</a:t>
            </a:r>
            <a:endParaRPr b="1" dirty="0"/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391B0A8F-F758-3969-7951-8790269F9EFC}"/>
              </a:ext>
            </a:extLst>
          </p:cNvPr>
          <p:cNvCxnSpPr>
            <a:cxnSpLocks/>
          </p:cNvCxnSpPr>
          <p:nvPr/>
        </p:nvCxnSpPr>
        <p:spPr>
          <a:xfrm flipV="1">
            <a:off x="582121" y="2845123"/>
            <a:ext cx="0" cy="28367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Google Shape;105;p2">
            <a:extLst>
              <a:ext uri="{FF2B5EF4-FFF2-40B4-BE49-F238E27FC236}">
                <a16:creationId xmlns:a16="http://schemas.microsoft.com/office/drawing/2014/main" id="{CAF1B583-1AA2-C1B3-044C-25397B105DAB}"/>
              </a:ext>
            </a:extLst>
          </p:cNvPr>
          <p:cNvSpPr txBox="1">
            <a:spLocks/>
          </p:cNvSpPr>
          <p:nvPr/>
        </p:nvSpPr>
        <p:spPr>
          <a:xfrm>
            <a:off x="103909" y="2441361"/>
            <a:ext cx="956424" cy="575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altLang="ja-JP" sz="2400" b="1" dirty="0">
                <a:solidFill>
                  <a:schemeClr val="tx1"/>
                </a:solidFill>
              </a:rPr>
              <a:t>t</a:t>
            </a:r>
            <a:endParaRPr lang="ja-JP" altLang="ja-JP" sz="2400" b="1">
              <a:solidFill>
                <a:schemeClr val="tx1"/>
              </a:solidFill>
            </a:endParaRP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D90E2B3E-7C8F-B734-8240-B87BE78D6FC9}"/>
              </a:ext>
            </a:extLst>
          </p:cNvPr>
          <p:cNvCxnSpPr>
            <a:cxnSpLocks/>
          </p:cNvCxnSpPr>
          <p:nvPr/>
        </p:nvCxnSpPr>
        <p:spPr>
          <a:xfrm>
            <a:off x="582121" y="5681841"/>
            <a:ext cx="268084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Google Shape;105;p2">
            <a:extLst>
              <a:ext uri="{FF2B5EF4-FFF2-40B4-BE49-F238E27FC236}">
                <a16:creationId xmlns:a16="http://schemas.microsoft.com/office/drawing/2014/main" id="{1AA5F10C-7511-96DF-6C60-52C834EA2D88}"/>
              </a:ext>
            </a:extLst>
          </p:cNvPr>
          <p:cNvSpPr txBox="1">
            <a:spLocks/>
          </p:cNvSpPr>
          <p:nvPr/>
        </p:nvSpPr>
        <p:spPr>
          <a:xfrm>
            <a:off x="3206317" y="5447058"/>
            <a:ext cx="673272" cy="46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altLang="ja-JP" sz="2400" b="1" dirty="0">
                <a:solidFill>
                  <a:schemeClr val="tx1"/>
                </a:solidFill>
              </a:rPr>
              <a:t>x</a:t>
            </a:r>
            <a:endParaRPr lang="ja-JP" altLang="ja-JP" sz="2400" b="1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0D1A629-3119-E7E9-400A-7F2EBDB2BCDA}"/>
              </a:ext>
            </a:extLst>
          </p:cNvPr>
          <p:cNvSpPr/>
          <p:nvPr/>
        </p:nvSpPr>
        <p:spPr>
          <a:xfrm>
            <a:off x="798176" y="4999095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A</a:t>
            </a:r>
            <a:endParaRPr kumimoji="1" lang="ja-JP" altLang="en-US" sz="1800" b="1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48561A9-B22E-6613-4CE1-85383DE1040C}"/>
              </a:ext>
            </a:extLst>
          </p:cNvPr>
          <p:cNvSpPr/>
          <p:nvPr/>
        </p:nvSpPr>
        <p:spPr>
          <a:xfrm>
            <a:off x="798176" y="4405046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B</a:t>
            </a:r>
            <a:endParaRPr kumimoji="1" lang="ja-JP" altLang="en-US" sz="1800" b="1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0C1A684-2BE8-E6C2-24CA-DECF6B3D004D}"/>
              </a:ext>
            </a:extLst>
          </p:cNvPr>
          <p:cNvSpPr/>
          <p:nvPr/>
        </p:nvSpPr>
        <p:spPr>
          <a:xfrm>
            <a:off x="807503" y="3810997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C</a:t>
            </a:r>
            <a:endParaRPr kumimoji="1" lang="ja-JP" altLang="en-US" sz="1800" b="1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5C18B6E-BC8A-856D-0EB0-DA9E510155A6}"/>
              </a:ext>
            </a:extLst>
          </p:cNvPr>
          <p:cNvSpPr/>
          <p:nvPr/>
        </p:nvSpPr>
        <p:spPr>
          <a:xfrm>
            <a:off x="798176" y="3230530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D</a:t>
            </a:r>
            <a:endParaRPr kumimoji="1" lang="ja-JP" altLang="en-US" sz="1800" b="1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8842EC2-F77D-8783-8BC8-5A637DCDA8C5}"/>
              </a:ext>
            </a:extLst>
          </p:cNvPr>
          <p:cNvSpPr/>
          <p:nvPr/>
        </p:nvSpPr>
        <p:spPr>
          <a:xfrm>
            <a:off x="1355775" y="4999095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B</a:t>
            </a:r>
            <a:endParaRPr kumimoji="1" lang="ja-JP" altLang="en-US" sz="1800" b="1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598771C-DF57-35BD-8D5F-C74F7DA1D176}"/>
              </a:ext>
            </a:extLst>
          </p:cNvPr>
          <p:cNvSpPr/>
          <p:nvPr/>
        </p:nvSpPr>
        <p:spPr>
          <a:xfrm>
            <a:off x="1355775" y="4405046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C</a:t>
            </a:r>
            <a:endParaRPr kumimoji="1" lang="ja-JP" altLang="en-US" sz="1800" b="1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DD01272-7B21-7D4D-E96E-42A77E6CF6BC}"/>
              </a:ext>
            </a:extLst>
          </p:cNvPr>
          <p:cNvSpPr/>
          <p:nvPr/>
        </p:nvSpPr>
        <p:spPr>
          <a:xfrm>
            <a:off x="1365102" y="3810997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D</a:t>
            </a:r>
            <a:endParaRPr kumimoji="1" lang="ja-JP" altLang="en-US" sz="1800" b="1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18BAB94-E34B-8893-2B2B-0C76F7C32E89}"/>
              </a:ext>
            </a:extLst>
          </p:cNvPr>
          <p:cNvSpPr/>
          <p:nvPr/>
        </p:nvSpPr>
        <p:spPr>
          <a:xfrm>
            <a:off x="1355775" y="3230530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A</a:t>
            </a:r>
            <a:endParaRPr kumimoji="1" lang="ja-JP" altLang="en-US" sz="1800" b="1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5FF9B8E-B699-E9DF-E823-8D2050CDEBD5}"/>
              </a:ext>
            </a:extLst>
          </p:cNvPr>
          <p:cNvSpPr/>
          <p:nvPr/>
        </p:nvSpPr>
        <p:spPr>
          <a:xfrm>
            <a:off x="1922701" y="4999095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C</a:t>
            </a:r>
            <a:endParaRPr kumimoji="1" lang="ja-JP" altLang="en-US" sz="1800" b="1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648819B-722F-ECD6-B995-B1BB5E42F45D}"/>
              </a:ext>
            </a:extLst>
          </p:cNvPr>
          <p:cNvSpPr/>
          <p:nvPr/>
        </p:nvSpPr>
        <p:spPr>
          <a:xfrm>
            <a:off x="1922701" y="4405046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D</a:t>
            </a:r>
            <a:endParaRPr kumimoji="1" lang="ja-JP" altLang="en-US" sz="1800" b="1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3930AED-1A23-49A5-DAC8-54462EF8F996}"/>
              </a:ext>
            </a:extLst>
          </p:cNvPr>
          <p:cNvSpPr/>
          <p:nvPr/>
        </p:nvSpPr>
        <p:spPr>
          <a:xfrm>
            <a:off x="1932028" y="3810997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A</a:t>
            </a:r>
            <a:endParaRPr kumimoji="1" lang="ja-JP" altLang="en-US" sz="1800" b="1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56F48B69-F3B6-1E8A-2A18-55D0B408E8D7}"/>
              </a:ext>
            </a:extLst>
          </p:cNvPr>
          <p:cNvSpPr/>
          <p:nvPr/>
        </p:nvSpPr>
        <p:spPr>
          <a:xfrm>
            <a:off x="1922701" y="3230530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B</a:t>
            </a:r>
            <a:endParaRPr kumimoji="1" lang="ja-JP" altLang="en-US" sz="1800" b="1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AB339B5E-42D4-8B8B-5C46-5C456CFC8C27}"/>
              </a:ext>
            </a:extLst>
          </p:cNvPr>
          <p:cNvSpPr/>
          <p:nvPr/>
        </p:nvSpPr>
        <p:spPr>
          <a:xfrm>
            <a:off x="2504596" y="4999095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D</a:t>
            </a:r>
            <a:endParaRPr kumimoji="1" lang="ja-JP" altLang="en-US" sz="1800" b="1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D97FB85B-AC95-B5BE-E0B4-D824B53561BC}"/>
              </a:ext>
            </a:extLst>
          </p:cNvPr>
          <p:cNvSpPr/>
          <p:nvPr/>
        </p:nvSpPr>
        <p:spPr>
          <a:xfrm>
            <a:off x="2504596" y="4405046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A</a:t>
            </a:r>
            <a:endParaRPr kumimoji="1" lang="ja-JP" altLang="en-US" sz="1800" b="1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D54CE358-C0B2-4DAD-7A9E-A9A707653E71}"/>
              </a:ext>
            </a:extLst>
          </p:cNvPr>
          <p:cNvSpPr/>
          <p:nvPr/>
        </p:nvSpPr>
        <p:spPr>
          <a:xfrm>
            <a:off x="2513923" y="3810997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B</a:t>
            </a:r>
            <a:endParaRPr kumimoji="1" lang="ja-JP" altLang="en-US" sz="1800" b="1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88A5D5CA-E829-272F-B9FF-097B50B6F5B1}"/>
              </a:ext>
            </a:extLst>
          </p:cNvPr>
          <p:cNvSpPr/>
          <p:nvPr/>
        </p:nvSpPr>
        <p:spPr>
          <a:xfrm>
            <a:off x="2504596" y="3230530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C</a:t>
            </a:r>
            <a:endParaRPr kumimoji="1" lang="ja-JP" altLang="en-US" sz="1800" b="1"/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CAD50E05-F657-E17C-0519-931B020807B9}"/>
              </a:ext>
            </a:extLst>
          </p:cNvPr>
          <p:cNvGrpSpPr/>
          <p:nvPr/>
        </p:nvGrpSpPr>
        <p:grpSpPr>
          <a:xfrm>
            <a:off x="2739966" y="2205926"/>
            <a:ext cx="1383382" cy="810491"/>
            <a:chOff x="7286569" y="2009907"/>
            <a:chExt cx="1383382" cy="8104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AC3F2C5A-8291-D05B-A0B5-B8950B8EBB61}"/>
                    </a:ext>
                  </a:extLst>
                </p:cNvPr>
                <p:cNvSpPr txBox="1"/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kumimoji="1" lang="en-US" altLang="ja-JP" sz="1800" dirty="0"/>
                </a:p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kumimoji="1" lang="en-US" altLang="ja-JP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kumimoji="1" lang="en-US" altLang="ja-JP" sz="1800" dirty="0"/>
                </a:p>
              </p:txBody>
            </p:sp>
          </mc:Choice>
          <mc:Fallback xmlns="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AC3F2C5A-8291-D05B-A0B5-B8950B8EBB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大かっこ 30">
              <a:extLst>
                <a:ext uri="{FF2B5EF4-FFF2-40B4-BE49-F238E27FC236}">
                  <a16:creationId xmlns:a16="http://schemas.microsoft.com/office/drawing/2014/main" id="{E1C0FE16-8D76-5F19-F067-9F943EC4775C}"/>
                </a:ext>
              </a:extLst>
            </p:cNvPr>
            <p:cNvSpPr/>
            <p:nvPr/>
          </p:nvSpPr>
          <p:spPr>
            <a:xfrm>
              <a:off x="7430610" y="2009907"/>
              <a:ext cx="1020932" cy="810491"/>
            </a:xfrm>
            <a:prstGeom prst="bracketPair">
              <a:avLst>
                <a:gd name="adj" fmla="val 12286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AA99F566-BFAC-1B6B-25D2-E60DB2F28A38}"/>
              </a:ext>
            </a:extLst>
          </p:cNvPr>
          <p:cNvGrpSpPr/>
          <p:nvPr/>
        </p:nvGrpSpPr>
        <p:grpSpPr>
          <a:xfrm>
            <a:off x="4238024" y="3184075"/>
            <a:ext cx="1171528" cy="2441941"/>
            <a:chOff x="875091" y="3285243"/>
            <a:chExt cx="1171528" cy="2441941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DD8590F4-8D61-A748-03AD-E2710299E6FF}"/>
                </a:ext>
              </a:extLst>
            </p:cNvPr>
            <p:cNvSpPr/>
            <p:nvPr/>
          </p:nvSpPr>
          <p:spPr>
            <a:xfrm>
              <a:off x="875091" y="3285243"/>
              <a:ext cx="1171528" cy="24419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800" b="1">
                <a:solidFill>
                  <a:schemeClr val="accent1"/>
                </a:solidFill>
              </a:endParaRPr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6C65109F-D44C-EB0A-13A8-CAAF7CF67A30}"/>
                </a:ext>
              </a:extLst>
            </p:cNvPr>
            <p:cNvSpPr/>
            <p:nvPr/>
          </p:nvSpPr>
          <p:spPr>
            <a:xfrm>
              <a:off x="950576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8C82AD8F-BA2B-4491-DB55-90B17245C80C}"/>
                </a:ext>
              </a:extLst>
            </p:cNvPr>
            <p:cNvSpPr/>
            <p:nvPr/>
          </p:nvSpPr>
          <p:spPr>
            <a:xfrm>
              <a:off x="950576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CED8331E-B6C6-C831-4E49-380294856AB4}"/>
                </a:ext>
              </a:extLst>
            </p:cNvPr>
            <p:cNvSpPr/>
            <p:nvPr/>
          </p:nvSpPr>
          <p:spPr>
            <a:xfrm>
              <a:off x="959903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F449022A-993C-26F1-723F-54D079243A8A}"/>
                </a:ext>
              </a:extLst>
            </p:cNvPr>
            <p:cNvSpPr/>
            <p:nvPr/>
          </p:nvSpPr>
          <p:spPr>
            <a:xfrm>
              <a:off x="950576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7D30E07E-905D-EA8F-487A-00F5D82B6955}"/>
                </a:ext>
              </a:extLst>
            </p:cNvPr>
            <p:cNvSpPr/>
            <p:nvPr/>
          </p:nvSpPr>
          <p:spPr>
            <a:xfrm>
              <a:off x="1508175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10896EBB-84D6-F0B8-BD9E-D6A8E2D40400}"/>
                </a:ext>
              </a:extLst>
            </p:cNvPr>
            <p:cNvSpPr/>
            <p:nvPr/>
          </p:nvSpPr>
          <p:spPr>
            <a:xfrm>
              <a:off x="1508175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F1BDD1AF-A0F3-10AE-7177-2192E4EBB59A}"/>
                </a:ext>
              </a:extLst>
            </p:cNvPr>
            <p:cNvSpPr/>
            <p:nvPr/>
          </p:nvSpPr>
          <p:spPr>
            <a:xfrm>
              <a:off x="1517502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E04E8170-8DDC-2345-21C3-0489D46DD594}"/>
                </a:ext>
              </a:extLst>
            </p:cNvPr>
            <p:cNvSpPr/>
            <p:nvPr/>
          </p:nvSpPr>
          <p:spPr>
            <a:xfrm>
              <a:off x="1508175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</p:grpSp>
      <p:sp>
        <p:nvSpPr>
          <p:cNvPr id="38" name="Google Shape;105;p2">
            <a:extLst>
              <a:ext uri="{FF2B5EF4-FFF2-40B4-BE49-F238E27FC236}">
                <a16:creationId xmlns:a16="http://schemas.microsoft.com/office/drawing/2014/main" id="{D357689E-E255-FA5D-4CD0-00E9C8EB07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09" y="1122218"/>
            <a:ext cx="8821882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Slice the d-dim data per spatial start point → each slice becomes a 1D multiset → solve with 1D Apriori-Window.</a:t>
            </a:r>
          </a:p>
        </p:txBody>
      </p:sp>
    </p:spTree>
    <p:extLst>
      <p:ext uri="{BB962C8B-B14F-4D97-AF65-F5344CB8AC3E}">
        <p14:creationId xmlns:p14="http://schemas.microsoft.com/office/powerpoint/2010/main" val="440530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2EC35496-5C69-790B-F959-9501C849B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D83FBB14-EC69-C702-61A0-AABDE26941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Reduction to 1D per fixed spatial start point</a:t>
            </a:r>
            <a:endParaRPr b="1" dirty="0"/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4F44C2C5-5136-B7A9-DDA7-CC24C4259FC5}"/>
              </a:ext>
            </a:extLst>
          </p:cNvPr>
          <p:cNvCxnSpPr>
            <a:cxnSpLocks/>
          </p:cNvCxnSpPr>
          <p:nvPr/>
        </p:nvCxnSpPr>
        <p:spPr>
          <a:xfrm flipV="1">
            <a:off x="582121" y="2845123"/>
            <a:ext cx="0" cy="28367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Google Shape;105;p2">
            <a:extLst>
              <a:ext uri="{FF2B5EF4-FFF2-40B4-BE49-F238E27FC236}">
                <a16:creationId xmlns:a16="http://schemas.microsoft.com/office/drawing/2014/main" id="{C448D778-DF80-1288-3F88-383B6F01CE11}"/>
              </a:ext>
            </a:extLst>
          </p:cNvPr>
          <p:cNvSpPr txBox="1">
            <a:spLocks/>
          </p:cNvSpPr>
          <p:nvPr/>
        </p:nvSpPr>
        <p:spPr>
          <a:xfrm>
            <a:off x="103909" y="2441361"/>
            <a:ext cx="956424" cy="575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altLang="ja-JP" sz="2400" b="1" dirty="0">
                <a:solidFill>
                  <a:schemeClr val="tx1"/>
                </a:solidFill>
              </a:rPr>
              <a:t>t</a:t>
            </a:r>
            <a:endParaRPr lang="ja-JP" altLang="ja-JP" sz="2400" b="1">
              <a:solidFill>
                <a:schemeClr val="tx1"/>
              </a:solidFill>
            </a:endParaRP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9A4A79B1-1163-6B98-A691-863009C98864}"/>
              </a:ext>
            </a:extLst>
          </p:cNvPr>
          <p:cNvCxnSpPr>
            <a:cxnSpLocks/>
          </p:cNvCxnSpPr>
          <p:nvPr/>
        </p:nvCxnSpPr>
        <p:spPr>
          <a:xfrm>
            <a:off x="582121" y="5681841"/>
            <a:ext cx="268084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Google Shape;105;p2">
            <a:extLst>
              <a:ext uri="{FF2B5EF4-FFF2-40B4-BE49-F238E27FC236}">
                <a16:creationId xmlns:a16="http://schemas.microsoft.com/office/drawing/2014/main" id="{7CD7D04D-F074-6DB7-45BC-CC59A9D4B517}"/>
              </a:ext>
            </a:extLst>
          </p:cNvPr>
          <p:cNvSpPr txBox="1">
            <a:spLocks/>
          </p:cNvSpPr>
          <p:nvPr/>
        </p:nvSpPr>
        <p:spPr>
          <a:xfrm>
            <a:off x="3206317" y="5447058"/>
            <a:ext cx="673272" cy="46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altLang="ja-JP" sz="2400" b="1" dirty="0">
                <a:solidFill>
                  <a:schemeClr val="tx1"/>
                </a:solidFill>
              </a:rPr>
              <a:t>x</a:t>
            </a:r>
            <a:endParaRPr lang="ja-JP" altLang="ja-JP" sz="2400" b="1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472532B-32BF-349D-40AA-944197D09BE7}"/>
              </a:ext>
            </a:extLst>
          </p:cNvPr>
          <p:cNvSpPr/>
          <p:nvPr/>
        </p:nvSpPr>
        <p:spPr>
          <a:xfrm>
            <a:off x="798176" y="4999095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A</a:t>
            </a:r>
            <a:endParaRPr kumimoji="1" lang="ja-JP" altLang="en-US" sz="1800" b="1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B4329D4-E8A5-4160-CE1E-98E956E12A3B}"/>
              </a:ext>
            </a:extLst>
          </p:cNvPr>
          <p:cNvSpPr/>
          <p:nvPr/>
        </p:nvSpPr>
        <p:spPr>
          <a:xfrm>
            <a:off x="798176" y="4405046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B</a:t>
            </a:r>
            <a:endParaRPr kumimoji="1" lang="ja-JP" altLang="en-US" sz="1800" b="1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85800EE-31C5-D381-F01C-36B096353D2B}"/>
              </a:ext>
            </a:extLst>
          </p:cNvPr>
          <p:cNvSpPr/>
          <p:nvPr/>
        </p:nvSpPr>
        <p:spPr>
          <a:xfrm>
            <a:off x="807503" y="3810997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C</a:t>
            </a:r>
            <a:endParaRPr kumimoji="1" lang="ja-JP" altLang="en-US" sz="1800" b="1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6EE6F55-97EB-86C7-FD7E-D2C4B2ED8693}"/>
              </a:ext>
            </a:extLst>
          </p:cNvPr>
          <p:cNvSpPr/>
          <p:nvPr/>
        </p:nvSpPr>
        <p:spPr>
          <a:xfrm>
            <a:off x="798176" y="3230530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D</a:t>
            </a:r>
            <a:endParaRPr kumimoji="1" lang="ja-JP" altLang="en-US" sz="1800" b="1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6117C18-794B-BA37-BDF9-D25A48D8331F}"/>
              </a:ext>
            </a:extLst>
          </p:cNvPr>
          <p:cNvSpPr/>
          <p:nvPr/>
        </p:nvSpPr>
        <p:spPr>
          <a:xfrm>
            <a:off x="1355775" y="4999095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B</a:t>
            </a:r>
            <a:endParaRPr kumimoji="1" lang="ja-JP" altLang="en-US" sz="1800" b="1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E61A41B-2162-164E-5744-D86781C7BDE1}"/>
              </a:ext>
            </a:extLst>
          </p:cNvPr>
          <p:cNvSpPr/>
          <p:nvPr/>
        </p:nvSpPr>
        <p:spPr>
          <a:xfrm>
            <a:off x="1355775" y="4405046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C</a:t>
            </a:r>
            <a:endParaRPr kumimoji="1" lang="ja-JP" altLang="en-US" sz="1800" b="1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2256DEB-5CA9-7C4A-0405-277E9EDB68F3}"/>
              </a:ext>
            </a:extLst>
          </p:cNvPr>
          <p:cNvSpPr/>
          <p:nvPr/>
        </p:nvSpPr>
        <p:spPr>
          <a:xfrm>
            <a:off x="1365102" y="3810997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D</a:t>
            </a:r>
            <a:endParaRPr kumimoji="1" lang="ja-JP" altLang="en-US" sz="1800" b="1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EE048E1-1F48-F563-3FFB-021845FB9F4A}"/>
              </a:ext>
            </a:extLst>
          </p:cNvPr>
          <p:cNvSpPr/>
          <p:nvPr/>
        </p:nvSpPr>
        <p:spPr>
          <a:xfrm>
            <a:off x="1355775" y="3230530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A</a:t>
            </a:r>
            <a:endParaRPr kumimoji="1" lang="ja-JP" altLang="en-US" sz="1800" b="1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009A470-491F-9833-BC9C-667A2D77CD87}"/>
              </a:ext>
            </a:extLst>
          </p:cNvPr>
          <p:cNvSpPr/>
          <p:nvPr/>
        </p:nvSpPr>
        <p:spPr>
          <a:xfrm>
            <a:off x="1922701" y="4999095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C</a:t>
            </a:r>
            <a:endParaRPr kumimoji="1" lang="ja-JP" altLang="en-US" sz="1800" b="1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C6E6A27D-4B8C-16AD-642D-666E11D0FD7F}"/>
              </a:ext>
            </a:extLst>
          </p:cNvPr>
          <p:cNvSpPr/>
          <p:nvPr/>
        </p:nvSpPr>
        <p:spPr>
          <a:xfrm>
            <a:off x="1922701" y="4405046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D</a:t>
            </a:r>
            <a:endParaRPr kumimoji="1" lang="ja-JP" altLang="en-US" sz="1800" b="1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4EE20FD-7C26-127E-2431-D0BD0F512766}"/>
              </a:ext>
            </a:extLst>
          </p:cNvPr>
          <p:cNvSpPr/>
          <p:nvPr/>
        </p:nvSpPr>
        <p:spPr>
          <a:xfrm>
            <a:off x="1932028" y="3810997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A</a:t>
            </a:r>
            <a:endParaRPr kumimoji="1" lang="ja-JP" altLang="en-US" sz="1800" b="1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38DC370F-5BE9-1982-4B58-DC07DDB9C7A6}"/>
              </a:ext>
            </a:extLst>
          </p:cNvPr>
          <p:cNvSpPr/>
          <p:nvPr/>
        </p:nvSpPr>
        <p:spPr>
          <a:xfrm>
            <a:off x="1922701" y="3230530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B</a:t>
            </a:r>
            <a:endParaRPr kumimoji="1" lang="ja-JP" altLang="en-US" sz="1800" b="1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7B65E1C7-C02E-5682-95AF-68B77EC2AFAF}"/>
              </a:ext>
            </a:extLst>
          </p:cNvPr>
          <p:cNvSpPr/>
          <p:nvPr/>
        </p:nvSpPr>
        <p:spPr>
          <a:xfrm>
            <a:off x="2504596" y="4999095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D</a:t>
            </a:r>
            <a:endParaRPr kumimoji="1" lang="ja-JP" altLang="en-US" sz="1800" b="1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6AB256CB-186E-C077-4902-E4C85D0876BA}"/>
              </a:ext>
            </a:extLst>
          </p:cNvPr>
          <p:cNvSpPr/>
          <p:nvPr/>
        </p:nvSpPr>
        <p:spPr>
          <a:xfrm>
            <a:off x="2504596" y="4405046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A</a:t>
            </a:r>
            <a:endParaRPr kumimoji="1" lang="ja-JP" altLang="en-US" sz="1800" b="1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AFDE3E95-F24E-C300-62D8-F8CAC380A565}"/>
              </a:ext>
            </a:extLst>
          </p:cNvPr>
          <p:cNvSpPr/>
          <p:nvPr/>
        </p:nvSpPr>
        <p:spPr>
          <a:xfrm>
            <a:off x="2513923" y="3810997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B</a:t>
            </a:r>
            <a:endParaRPr kumimoji="1" lang="ja-JP" altLang="en-US" sz="1800" b="1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EF4B6928-6A3F-C31F-9ABB-E65BE366E362}"/>
              </a:ext>
            </a:extLst>
          </p:cNvPr>
          <p:cNvSpPr/>
          <p:nvPr/>
        </p:nvSpPr>
        <p:spPr>
          <a:xfrm>
            <a:off x="2504596" y="3230530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C</a:t>
            </a:r>
            <a:endParaRPr kumimoji="1" lang="ja-JP" altLang="en-US" sz="1800" b="1"/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5F748EC1-3600-9620-1FC4-986BA78835FD}"/>
              </a:ext>
            </a:extLst>
          </p:cNvPr>
          <p:cNvGrpSpPr/>
          <p:nvPr/>
        </p:nvGrpSpPr>
        <p:grpSpPr>
          <a:xfrm>
            <a:off x="2739966" y="2205926"/>
            <a:ext cx="1383382" cy="810491"/>
            <a:chOff x="7286569" y="2009907"/>
            <a:chExt cx="1383382" cy="8104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3D6D2320-2C5E-0A4B-615A-D5C89402E922}"/>
                    </a:ext>
                  </a:extLst>
                </p:cNvPr>
                <p:cNvSpPr txBox="1"/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kumimoji="1" lang="en-US" altLang="ja-JP" sz="1800" dirty="0"/>
                </a:p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kumimoji="1" lang="en-US" altLang="ja-JP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kumimoji="1" lang="en-US" altLang="ja-JP" sz="1800" dirty="0"/>
                </a:p>
              </p:txBody>
            </p:sp>
          </mc:Choice>
          <mc:Fallback xmlns="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3D6D2320-2C5E-0A4B-615A-D5C89402E9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大かっこ 30">
              <a:extLst>
                <a:ext uri="{FF2B5EF4-FFF2-40B4-BE49-F238E27FC236}">
                  <a16:creationId xmlns:a16="http://schemas.microsoft.com/office/drawing/2014/main" id="{37A0D019-B45E-F1CA-81A3-DE30FEB6C2AA}"/>
                </a:ext>
              </a:extLst>
            </p:cNvPr>
            <p:cNvSpPr/>
            <p:nvPr/>
          </p:nvSpPr>
          <p:spPr>
            <a:xfrm>
              <a:off x="7430610" y="2009907"/>
              <a:ext cx="1020932" cy="810491"/>
            </a:xfrm>
            <a:prstGeom prst="bracketPair">
              <a:avLst>
                <a:gd name="adj" fmla="val 12286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DA3D18D3-D6F5-76DE-3193-D4D659DA246A}"/>
              </a:ext>
            </a:extLst>
          </p:cNvPr>
          <p:cNvGrpSpPr/>
          <p:nvPr/>
        </p:nvGrpSpPr>
        <p:grpSpPr>
          <a:xfrm>
            <a:off x="4238024" y="3184075"/>
            <a:ext cx="1171528" cy="2441941"/>
            <a:chOff x="875091" y="3285243"/>
            <a:chExt cx="1171528" cy="2441941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90C28E14-88E3-05CC-F7BF-799F2C2B3CB8}"/>
                </a:ext>
              </a:extLst>
            </p:cNvPr>
            <p:cNvSpPr/>
            <p:nvPr/>
          </p:nvSpPr>
          <p:spPr>
            <a:xfrm>
              <a:off x="875091" y="3285243"/>
              <a:ext cx="1171528" cy="24419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800" b="1">
                <a:solidFill>
                  <a:schemeClr val="accent1"/>
                </a:solidFill>
              </a:endParaRPr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24BC8B55-1910-D183-2857-0C6187EB6ACC}"/>
                </a:ext>
              </a:extLst>
            </p:cNvPr>
            <p:cNvSpPr/>
            <p:nvPr/>
          </p:nvSpPr>
          <p:spPr>
            <a:xfrm>
              <a:off x="950576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43B72F8D-6F70-8E9A-5E82-E660A22C7E9A}"/>
                </a:ext>
              </a:extLst>
            </p:cNvPr>
            <p:cNvSpPr/>
            <p:nvPr/>
          </p:nvSpPr>
          <p:spPr>
            <a:xfrm>
              <a:off x="950576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9C62BCA7-D556-8CB6-23D9-485E4F34D1D4}"/>
                </a:ext>
              </a:extLst>
            </p:cNvPr>
            <p:cNvSpPr/>
            <p:nvPr/>
          </p:nvSpPr>
          <p:spPr>
            <a:xfrm>
              <a:off x="959903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3B2EB94F-CFEB-628A-1BAD-61A8DD90ED89}"/>
                </a:ext>
              </a:extLst>
            </p:cNvPr>
            <p:cNvSpPr/>
            <p:nvPr/>
          </p:nvSpPr>
          <p:spPr>
            <a:xfrm>
              <a:off x="950576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617099BB-3A44-245E-9266-0E1D8750133D}"/>
                </a:ext>
              </a:extLst>
            </p:cNvPr>
            <p:cNvSpPr/>
            <p:nvPr/>
          </p:nvSpPr>
          <p:spPr>
            <a:xfrm>
              <a:off x="1508175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197D249B-CAD3-4D3C-7A39-1B517484A18E}"/>
                </a:ext>
              </a:extLst>
            </p:cNvPr>
            <p:cNvSpPr/>
            <p:nvPr/>
          </p:nvSpPr>
          <p:spPr>
            <a:xfrm>
              <a:off x="1508175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52BD309C-20D5-F508-479C-72779FCE9463}"/>
                </a:ext>
              </a:extLst>
            </p:cNvPr>
            <p:cNvSpPr/>
            <p:nvPr/>
          </p:nvSpPr>
          <p:spPr>
            <a:xfrm>
              <a:off x="1517502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BD9F333D-CAF6-C590-9424-D213176610A9}"/>
                </a:ext>
              </a:extLst>
            </p:cNvPr>
            <p:cNvSpPr/>
            <p:nvPr/>
          </p:nvSpPr>
          <p:spPr>
            <a:xfrm>
              <a:off x="1508175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</p:grp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B900C2C5-88C8-9976-E590-63DCBCFD3662}"/>
              </a:ext>
            </a:extLst>
          </p:cNvPr>
          <p:cNvGrpSpPr/>
          <p:nvPr/>
        </p:nvGrpSpPr>
        <p:grpSpPr>
          <a:xfrm>
            <a:off x="1308454" y="3109891"/>
            <a:ext cx="1141317" cy="2441941"/>
            <a:chOff x="1466629" y="3262291"/>
            <a:chExt cx="1141317" cy="2441941"/>
          </a:xfrm>
        </p:grpSpPr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98E3CB5C-B6A9-E995-A473-7B235D010589}"/>
                </a:ext>
              </a:extLst>
            </p:cNvPr>
            <p:cNvSpPr/>
            <p:nvPr/>
          </p:nvSpPr>
          <p:spPr>
            <a:xfrm>
              <a:off x="1466629" y="3262291"/>
              <a:ext cx="1141317" cy="24419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800" b="1">
                <a:solidFill>
                  <a:schemeClr val="accent1"/>
                </a:solidFill>
              </a:endParaRPr>
            </a:p>
          </p:txBody>
        </p:sp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56194FF2-3C11-EDCB-568E-45C8C13A2493}"/>
                </a:ext>
              </a:extLst>
            </p:cNvPr>
            <p:cNvSpPr/>
            <p:nvPr/>
          </p:nvSpPr>
          <p:spPr>
            <a:xfrm>
              <a:off x="1508175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8050A9F6-3B57-DACC-F5FD-0731CF36F3B8}"/>
                </a:ext>
              </a:extLst>
            </p:cNvPr>
            <p:cNvSpPr/>
            <p:nvPr/>
          </p:nvSpPr>
          <p:spPr>
            <a:xfrm>
              <a:off x="1508175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60467EE8-A9CD-DC07-1945-A864F0EF51ED}"/>
                </a:ext>
              </a:extLst>
            </p:cNvPr>
            <p:cNvSpPr/>
            <p:nvPr/>
          </p:nvSpPr>
          <p:spPr>
            <a:xfrm>
              <a:off x="1517502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F6D4565C-93AB-C933-EE95-54F177B0A8BF}"/>
                </a:ext>
              </a:extLst>
            </p:cNvPr>
            <p:cNvSpPr/>
            <p:nvPr/>
          </p:nvSpPr>
          <p:spPr>
            <a:xfrm>
              <a:off x="1508175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52967A51-58CE-B317-E0FC-3720680FF060}"/>
                </a:ext>
              </a:extLst>
            </p:cNvPr>
            <p:cNvSpPr/>
            <p:nvPr/>
          </p:nvSpPr>
          <p:spPr>
            <a:xfrm>
              <a:off x="2075101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03247E6B-7E36-B16B-6758-5741766461A6}"/>
                </a:ext>
              </a:extLst>
            </p:cNvPr>
            <p:cNvSpPr/>
            <p:nvPr/>
          </p:nvSpPr>
          <p:spPr>
            <a:xfrm>
              <a:off x="2075101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9DF13102-CEDF-C76E-F93B-24F0A191A7C2}"/>
                </a:ext>
              </a:extLst>
            </p:cNvPr>
            <p:cNvSpPr/>
            <p:nvPr/>
          </p:nvSpPr>
          <p:spPr>
            <a:xfrm>
              <a:off x="2084428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D89283AD-D77A-C1BE-7C19-112E6CFE834C}"/>
                </a:ext>
              </a:extLst>
            </p:cNvPr>
            <p:cNvSpPr/>
            <p:nvPr/>
          </p:nvSpPr>
          <p:spPr>
            <a:xfrm>
              <a:off x="2075101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</p:grpSp>
      <p:sp>
        <p:nvSpPr>
          <p:cNvPr id="48" name="Google Shape;105;p2">
            <a:extLst>
              <a:ext uri="{FF2B5EF4-FFF2-40B4-BE49-F238E27FC236}">
                <a16:creationId xmlns:a16="http://schemas.microsoft.com/office/drawing/2014/main" id="{742810ED-759E-6970-1C35-88FAF7530F4F}"/>
              </a:ext>
            </a:extLst>
          </p:cNvPr>
          <p:cNvSpPr txBox="1">
            <a:spLocks/>
          </p:cNvSpPr>
          <p:nvPr/>
        </p:nvSpPr>
        <p:spPr>
          <a:xfrm>
            <a:off x="103909" y="1122218"/>
            <a:ext cx="8821882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Font typeface="Arial"/>
              <a:buNone/>
            </a:pPr>
            <a:r>
              <a:rPr lang="ja-JP" altLang="ja-JP"/>
              <a:t>Slice the d-dim data per spatial start point → each slice becomes a 1D multiset → solve with 1D Apriori-Window.</a:t>
            </a:r>
          </a:p>
        </p:txBody>
      </p:sp>
    </p:spTree>
    <p:extLst>
      <p:ext uri="{BB962C8B-B14F-4D97-AF65-F5344CB8AC3E}">
        <p14:creationId xmlns:p14="http://schemas.microsoft.com/office/powerpoint/2010/main" val="12619524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249D2D67-1080-1B70-953C-A5A281423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EECF9E50-9A4E-44EB-DA92-A3D43B12B2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Reduction to 1D per fixed spatial start point</a:t>
            </a:r>
            <a:endParaRPr b="1" dirty="0"/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E5DD1341-EA99-A836-B4BC-DEC37E4C4987}"/>
              </a:ext>
            </a:extLst>
          </p:cNvPr>
          <p:cNvCxnSpPr>
            <a:cxnSpLocks/>
          </p:cNvCxnSpPr>
          <p:nvPr/>
        </p:nvCxnSpPr>
        <p:spPr>
          <a:xfrm flipV="1">
            <a:off x="582121" y="2845123"/>
            <a:ext cx="0" cy="28367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Google Shape;105;p2">
            <a:extLst>
              <a:ext uri="{FF2B5EF4-FFF2-40B4-BE49-F238E27FC236}">
                <a16:creationId xmlns:a16="http://schemas.microsoft.com/office/drawing/2014/main" id="{92E5B4E8-14FE-BBE5-6459-55262BBE0052}"/>
              </a:ext>
            </a:extLst>
          </p:cNvPr>
          <p:cNvSpPr txBox="1">
            <a:spLocks/>
          </p:cNvSpPr>
          <p:nvPr/>
        </p:nvSpPr>
        <p:spPr>
          <a:xfrm>
            <a:off x="103909" y="2441361"/>
            <a:ext cx="956424" cy="575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altLang="ja-JP" sz="2400" b="1" dirty="0">
                <a:solidFill>
                  <a:schemeClr val="tx1"/>
                </a:solidFill>
              </a:rPr>
              <a:t>t</a:t>
            </a:r>
            <a:endParaRPr lang="ja-JP" altLang="ja-JP" sz="2400" b="1">
              <a:solidFill>
                <a:schemeClr val="tx1"/>
              </a:solidFill>
            </a:endParaRP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4F81FE13-E44B-B9F7-2625-08BCF432D30B}"/>
              </a:ext>
            </a:extLst>
          </p:cNvPr>
          <p:cNvCxnSpPr>
            <a:cxnSpLocks/>
          </p:cNvCxnSpPr>
          <p:nvPr/>
        </p:nvCxnSpPr>
        <p:spPr>
          <a:xfrm>
            <a:off x="582121" y="5681841"/>
            <a:ext cx="268084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Google Shape;105;p2">
            <a:extLst>
              <a:ext uri="{FF2B5EF4-FFF2-40B4-BE49-F238E27FC236}">
                <a16:creationId xmlns:a16="http://schemas.microsoft.com/office/drawing/2014/main" id="{F0BEFD3E-CDE0-452C-50A3-BA491D939063}"/>
              </a:ext>
            </a:extLst>
          </p:cNvPr>
          <p:cNvSpPr txBox="1">
            <a:spLocks/>
          </p:cNvSpPr>
          <p:nvPr/>
        </p:nvSpPr>
        <p:spPr>
          <a:xfrm>
            <a:off x="3206317" y="5447058"/>
            <a:ext cx="673272" cy="46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altLang="ja-JP" sz="2400" b="1" dirty="0">
                <a:solidFill>
                  <a:schemeClr val="tx1"/>
                </a:solidFill>
              </a:rPr>
              <a:t>x</a:t>
            </a:r>
            <a:endParaRPr lang="ja-JP" altLang="ja-JP" sz="2400" b="1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F9AEC0D-EDE6-6FF3-856B-F2B6A44D8F29}"/>
              </a:ext>
            </a:extLst>
          </p:cNvPr>
          <p:cNvSpPr/>
          <p:nvPr/>
        </p:nvSpPr>
        <p:spPr>
          <a:xfrm>
            <a:off x="798176" y="4999095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A</a:t>
            </a:r>
            <a:endParaRPr kumimoji="1" lang="ja-JP" altLang="en-US" sz="1800" b="1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32EF8FA-2B6C-A637-B1E6-D2191AF20F52}"/>
              </a:ext>
            </a:extLst>
          </p:cNvPr>
          <p:cNvSpPr/>
          <p:nvPr/>
        </p:nvSpPr>
        <p:spPr>
          <a:xfrm>
            <a:off x="798176" y="4405046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B</a:t>
            </a:r>
            <a:endParaRPr kumimoji="1" lang="ja-JP" altLang="en-US" sz="1800" b="1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FB76D29-62EA-6111-5A55-7082A51D392D}"/>
              </a:ext>
            </a:extLst>
          </p:cNvPr>
          <p:cNvSpPr/>
          <p:nvPr/>
        </p:nvSpPr>
        <p:spPr>
          <a:xfrm>
            <a:off x="807503" y="3810997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C</a:t>
            </a:r>
            <a:endParaRPr kumimoji="1" lang="ja-JP" altLang="en-US" sz="1800" b="1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10753DD-C29D-CEA2-E579-A3B65956363C}"/>
              </a:ext>
            </a:extLst>
          </p:cNvPr>
          <p:cNvSpPr/>
          <p:nvPr/>
        </p:nvSpPr>
        <p:spPr>
          <a:xfrm>
            <a:off x="798176" y="3230530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D</a:t>
            </a:r>
            <a:endParaRPr kumimoji="1" lang="ja-JP" altLang="en-US" sz="1800" b="1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9DB083C-F069-5285-F84F-1713715A98B0}"/>
              </a:ext>
            </a:extLst>
          </p:cNvPr>
          <p:cNvSpPr/>
          <p:nvPr/>
        </p:nvSpPr>
        <p:spPr>
          <a:xfrm>
            <a:off x="1355775" y="4999095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B</a:t>
            </a:r>
            <a:endParaRPr kumimoji="1" lang="ja-JP" altLang="en-US" sz="1800" b="1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B1D888B-6D8A-32D6-E68D-FDB64CE11FB4}"/>
              </a:ext>
            </a:extLst>
          </p:cNvPr>
          <p:cNvSpPr/>
          <p:nvPr/>
        </p:nvSpPr>
        <p:spPr>
          <a:xfrm>
            <a:off x="1355775" y="4405046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C</a:t>
            </a:r>
            <a:endParaRPr kumimoji="1" lang="ja-JP" altLang="en-US" sz="1800" b="1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2E22B69-F17F-1FD4-0D79-507EB40D2BE5}"/>
              </a:ext>
            </a:extLst>
          </p:cNvPr>
          <p:cNvSpPr/>
          <p:nvPr/>
        </p:nvSpPr>
        <p:spPr>
          <a:xfrm>
            <a:off x="1365102" y="3810997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D</a:t>
            </a:r>
            <a:endParaRPr kumimoji="1" lang="ja-JP" altLang="en-US" sz="1800" b="1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40B569D-CEC5-ACF9-4E03-D935E3D2A986}"/>
              </a:ext>
            </a:extLst>
          </p:cNvPr>
          <p:cNvSpPr/>
          <p:nvPr/>
        </p:nvSpPr>
        <p:spPr>
          <a:xfrm>
            <a:off x="1355775" y="3230530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A</a:t>
            </a:r>
            <a:endParaRPr kumimoji="1" lang="ja-JP" altLang="en-US" sz="1800" b="1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2227474-5E7E-4895-E955-BAE7A827984B}"/>
              </a:ext>
            </a:extLst>
          </p:cNvPr>
          <p:cNvSpPr/>
          <p:nvPr/>
        </p:nvSpPr>
        <p:spPr>
          <a:xfrm>
            <a:off x="1922701" y="4999095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C</a:t>
            </a:r>
            <a:endParaRPr kumimoji="1" lang="ja-JP" altLang="en-US" sz="1800" b="1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27022BD-27EC-EB01-CBF8-44019F85FE42}"/>
              </a:ext>
            </a:extLst>
          </p:cNvPr>
          <p:cNvSpPr/>
          <p:nvPr/>
        </p:nvSpPr>
        <p:spPr>
          <a:xfrm>
            <a:off x="1922701" y="4405046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D</a:t>
            </a:r>
            <a:endParaRPr kumimoji="1" lang="ja-JP" altLang="en-US" sz="1800" b="1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1E0B7BD-533B-CF94-C9D4-07F560642523}"/>
              </a:ext>
            </a:extLst>
          </p:cNvPr>
          <p:cNvSpPr/>
          <p:nvPr/>
        </p:nvSpPr>
        <p:spPr>
          <a:xfrm>
            <a:off x="1932028" y="3810997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A</a:t>
            </a:r>
            <a:endParaRPr kumimoji="1" lang="ja-JP" altLang="en-US" sz="1800" b="1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8F91397-8BF5-8C8E-8B96-38998B304884}"/>
              </a:ext>
            </a:extLst>
          </p:cNvPr>
          <p:cNvSpPr/>
          <p:nvPr/>
        </p:nvSpPr>
        <p:spPr>
          <a:xfrm>
            <a:off x="1922701" y="3230530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B</a:t>
            </a:r>
            <a:endParaRPr kumimoji="1" lang="ja-JP" altLang="en-US" sz="1800" b="1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17D8A2A2-F7BB-EAA7-03A7-6835166FEA74}"/>
              </a:ext>
            </a:extLst>
          </p:cNvPr>
          <p:cNvSpPr/>
          <p:nvPr/>
        </p:nvSpPr>
        <p:spPr>
          <a:xfrm>
            <a:off x="2504596" y="4999095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D</a:t>
            </a:r>
            <a:endParaRPr kumimoji="1" lang="ja-JP" altLang="en-US" sz="1800" b="1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64372A59-6965-6463-6A63-CA1BE1EE25F3}"/>
              </a:ext>
            </a:extLst>
          </p:cNvPr>
          <p:cNvSpPr/>
          <p:nvPr/>
        </p:nvSpPr>
        <p:spPr>
          <a:xfrm>
            <a:off x="2504596" y="4405046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A</a:t>
            </a:r>
            <a:endParaRPr kumimoji="1" lang="ja-JP" altLang="en-US" sz="1800" b="1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EFDF15D9-038F-C689-81AE-19EF79FA88F6}"/>
              </a:ext>
            </a:extLst>
          </p:cNvPr>
          <p:cNvSpPr/>
          <p:nvPr/>
        </p:nvSpPr>
        <p:spPr>
          <a:xfrm>
            <a:off x="2513923" y="3810997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B</a:t>
            </a:r>
            <a:endParaRPr kumimoji="1" lang="ja-JP" altLang="en-US" sz="1800" b="1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3D0EE947-5FBC-9BAD-22C8-D2D2F9B2A578}"/>
              </a:ext>
            </a:extLst>
          </p:cNvPr>
          <p:cNvSpPr/>
          <p:nvPr/>
        </p:nvSpPr>
        <p:spPr>
          <a:xfrm>
            <a:off x="2504596" y="3230530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C</a:t>
            </a:r>
            <a:endParaRPr kumimoji="1" lang="ja-JP" altLang="en-US" sz="1800" b="1"/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B91680E8-E1D0-1162-98B3-7FC0425EEF8D}"/>
              </a:ext>
            </a:extLst>
          </p:cNvPr>
          <p:cNvGrpSpPr/>
          <p:nvPr/>
        </p:nvGrpSpPr>
        <p:grpSpPr>
          <a:xfrm>
            <a:off x="2739966" y="2205926"/>
            <a:ext cx="1383382" cy="810491"/>
            <a:chOff x="7286569" y="2009907"/>
            <a:chExt cx="1383382" cy="8104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09142B95-0F1B-C7C3-4582-00BDE638AF48}"/>
                    </a:ext>
                  </a:extLst>
                </p:cNvPr>
                <p:cNvSpPr txBox="1"/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kumimoji="1" lang="en-US" altLang="ja-JP" sz="1800" dirty="0"/>
                </a:p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kumimoji="1" lang="en-US" altLang="ja-JP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kumimoji="1" lang="en-US" altLang="ja-JP" sz="1800" dirty="0"/>
                </a:p>
              </p:txBody>
            </p:sp>
          </mc:Choice>
          <mc:Fallback xmlns="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09142B95-0F1B-C7C3-4582-00BDE638AF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大かっこ 30">
              <a:extLst>
                <a:ext uri="{FF2B5EF4-FFF2-40B4-BE49-F238E27FC236}">
                  <a16:creationId xmlns:a16="http://schemas.microsoft.com/office/drawing/2014/main" id="{67625717-6908-5F06-DA35-8675D56496C6}"/>
                </a:ext>
              </a:extLst>
            </p:cNvPr>
            <p:cNvSpPr/>
            <p:nvPr/>
          </p:nvSpPr>
          <p:spPr>
            <a:xfrm>
              <a:off x="7430610" y="2009907"/>
              <a:ext cx="1020932" cy="810491"/>
            </a:xfrm>
            <a:prstGeom prst="bracketPair">
              <a:avLst>
                <a:gd name="adj" fmla="val 12286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F9013A45-46C8-B11F-3E7F-DBD3580D4C48}"/>
              </a:ext>
            </a:extLst>
          </p:cNvPr>
          <p:cNvGrpSpPr/>
          <p:nvPr/>
        </p:nvGrpSpPr>
        <p:grpSpPr>
          <a:xfrm>
            <a:off x="4238024" y="3184075"/>
            <a:ext cx="1171528" cy="2441941"/>
            <a:chOff x="875091" y="3285243"/>
            <a:chExt cx="1171528" cy="2441941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86709556-07E3-1D3E-1FDB-20B7E1E9C59C}"/>
                </a:ext>
              </a:extLst>
            </p:cNvPr>
            <p:cNvSpPr/>
            <p:nvPr/>
          </p:nvSpPr>
          <p:spPr>
            <a:xfrm>
              <a:off x="875091" y="3285243"/>
              <a:ext cx="1171528" cy="24419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800" b="1">
                <a:solidFill>
                  <a:schemeClr val="accent1"/>
                </a:solidFill>
              </a:endParaRPr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890CEF8C-D6DB-33CC-8E73-84F30A6E136A}"/>
                </a:ext>
              </a:extLst>
            </p:cNvPr>
            <p:cNvSpPr/>
            <p:nvPr/>
          </p:nvSpPr>
          <p:spPr>
            <a:xfrm>
              <a:off x="950576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9B0D63BA-0F1A-DB09-DA8A-FE6A6CD584EB}"/>
                </a:ext>
              </a:extLst>
            </p:cNvPr>
            <p:cNvSpPr/>
            <p:nvPr/>
          </p:nvSpPr>
          <p:spPr>
            <a:xfrm>
              <a:off x="950576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D6719E28-7226-3142-75D5-A0DCA07BCC48}"/>
                </a:ext>
              </a:extLst>
            </p:cNvPr>
            <p:cNvSpPr/>
            <p:nvPr/>
          </p:nvSpPr>
          <p:spPr>
            <a:xfrm>
              <a:off x="959903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D3597DE9-96F2-AF2D-C808-DF3FA585BB4C}"/>
                </a:ext>
              </a:extLst>
            </p:cNvPr>
            <p:cNvSpPr/>
            <p:nvPr/>
          </p:nvSpPr>
          <p:spPr>
            <a:xfrm>
              <a:off x="950576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EC9EA62C-30D9-5FBE-CB3A-9130485F9A7F}"/>
                </a:ext>
              </a:extLst>
            </p:cNvPr>
            <p:cNvSpPr/>
            <p:nvPr/>
          </p:nvSpPr>
          <p:spPr>
            <a:xfrm>
              <a:off x="1508175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E4FB334C-510E-D389-D925-A7A5E2D7CA84}"/>
                </a:ext>
              </a:extLst>
            </p:cNvPr>
            <p:cNvSpPr/>
            <p:nvPr/>
          </p:nvSpPr>
          <p:spPr>
            <a:xfrm>
              <a:off x="1508175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22C3E25D-7AEB-B02E-96D2-402BDC1960AF}"/>
                </a:ext>
              </a:extLst>
            </p:cNvPr>
            <p:cNvSpPr/>
            <p:nvPr/>
          </p:nvSpPr>
          <p:spPr>
            <a:xfrm>
              <a:off x="1517502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7B912528-B034-AD89-1B13-40C28AF1E5C9}"/>
                </a:ext>
              </a:extLst>
            </p:cNvPr>
            <p:cNvSpPr/>
            <p:nvPr/>
          </p:nvSpPr>
          <p:spPr>
            <a:xfrm>
              <a:off x="1508175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</p:grp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05E04473-39F8-BEF6-7F6B-83C44DEB1CC6}"/>
              </a:ext>
            </a:extLst>
          </p:cNvPr>
          <p:cNvGrpSpPr/>
          <p:nvPr/>
        </p:nvGrpSpPr>
        <p:grpSpPr>
          <a:xfrm>
            <a:off x="5767987" y="3184074"/>
            <a:ext cx="1141317" cy="2441941"/>
            <a:chOff x="1466629" y="3262291"/>
            <a:chExt cx="1141317" cy="2441941"/>
          </a:xfrm>
        </p:grpSpPr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CB12D94B-C524-248A-3931-5788B6C595D1}"/>
                </a:ext>
              </a:extLst>
            </p:cNvPr>
            <p:cNvSpPr/>
            <p:nvPr/>
          </p:nvSpPr>
          <p:spPr>
            <a:xfrm>
              <a:off x="1466629" y="3262291"/>
              <a:ext cx="1141317" cy="24419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800" b="1">
                <a:solidFill>
                  <a:schemeClr val="accent1"/>
                </a:solidFill>
              </a:endParaRPr>
            </a:p>
          </p:txBody>
        </p:sp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CD2455BA-DE26-3057-C16A-8297D91F1C91}"/>
                </a:ext>
              </a:extLst>
            </p:cNvPr>
            <p:cNvSpPr/>
            <p:nvPr/>
          </p:nvSpPr>
          <p:spPr>
            <a:xfrm>
              <a:off x="1508175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FBFE715D-5C80-9892-158F-A45EB85F2595}"/>
                </a:ext>
              </a:extLst>
            </p:cNvPr>
            <p:cNvSpPr/>
            <p:nvPr/>
          </p:nvSpPr>
          <p:spPr>
            <a:xfrm>
              <a:off x="1508175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9E5BAD7D-B14F-B701-8AC5-3220B90D91D0}"/>
                </a:ext>
              </a:extLst>
            </p:cNvPr>
            <p:cNvSpPr/>
            <p:nvPr/>
          </p:nvSpPr>
          <p:spPr>
            <a:xfrm>
              <a:off x="1517502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B57EDC00-2A20-2FDC-157E-66FD588D5F9E}"/>
                </a:ext>
              </a:extLst>
            </p:cNvPr>
            <p:cNvSpPr/>
            <p:nvPr/>
          </p:nvSpPr>
          <p:spPr>
            <a:xfrm>
              <a:off x="1508175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D85B2399-8AD3-3F15-3163-4A01792340E7}"/>
                </a:ext>
              </a:extLst>
            </p:cNvPr>
            <p:cNvSpPr/>
            <p:nvPr/>
          </p:nvSpPr>
          <p:spPr>
            <a:xfrm>
              <a:off x="2075101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80C49DC0-74B2-A11F-CDB2-196301A33A25}"/>
                </a:ext>
              </a:extLst>
            </p:cNvPr>
            <p:cNvSpPr/>
            <p:nvPr/>
          </p:nvSpPr>
          <p:spPr>
            <a:xfrm>
              <a:off x="2075101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DBC2E212-09CA-4603-435C-9B1A14134F97}"/>
                </a:ext>
              </a:extLst>
            </p:cNvPr>
            <p:cNvSpPr/>
            <p:nvPr/>
          </p:nvSpPr>
          <p:spPr>
            <a:xfrm>
              <a:off x="2084428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CC87DA35-BBBA-BADE-644F-208E964E85A0}"/>
                </a:ext>
              </a:extLst>
            </p:cNvPr>
            <p:cNvSpPr/>
            <p:nvPr/>
          </p:nvSpPr>
          <p:spPr>
            <a:xfrm>
              <a:off x="2075101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</p:grpSp>
      <p:sp>
        <p:nvSpPr>
          <p:cNvPr id="47" name="Google Shape;105;p2">
            <a:extLst>
              <a:ext uri="{FF2B5EF4-FFF2-40B4-BE49-F238E27FC236}">
                <a16:creationId xmlns:a16="http://schemas.microsoft.com/office/drawing/2014/main" id="{32667066-635B-A2F8-7A60-4AB5C1F6C1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09" y="1122218"/>
            <a:ext cx="8821882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Slice the d-dim data per spatial start point → each slice becomes a 1D multiset → solve with 1D Apriori-Window.</a:t>
            </a:r>
          </a:p>
        </p:txBody>
      </p:sp>
    </p:spTree>
    <p:extLst>
      <p:ext uri="{BB962C8B-B14F-4D97-AF65-F5344CB8AC3E}">
        <p14:creationId xmlns:p14="http://schemas.microsoft.com/office/powerpoint/2010/main" val="3828897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66E248B3-8D77-BEF5-0637-AAAC183A1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2B5094E2-EB6C-5C4E-0465-95DD7DA0A1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Reduction to 1D per fixed spatial start point</a:t>
            </a:r>
            <a:endParaRPr b="1" dirty="0"/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FD9A2472-7DC6-14FB-B0F9-CED0B301E841}"/>
              </a:ext>
            </a:extLst>
          </p:cNvPr>
          <p:cNvCxnSpPr>
            <a:cxnSpLocks/>
          </p:cNvCxnSpPr>
          <p:nvPr/>
        </p:nvCxnSpPr>
        <p:spPr>
          <a:xfrm flipV="1">
            <a:off x="582121" y="2845123"/>
            <a:ext cx="0" cy="28367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Google Shape;105;p2">
            <a:extLst>
              <a:ext uri="{FF2B5EF4-FFF2-40B4-BE49-F238E27FC236}">
                <a16:creationId xmlns:a16="http://schemas.microsoft.com/office/drawing/2014/main" id="{B592E5C0-8ACA-B653-44C0-6B3D0805F2C9}"/>
              </a:ext>
            </a:extLst>
          </p:cNvPr>
          <p:cNvSpPr txBox="1">
            <a:spLocks/>
          </p:cNvSpPr>
          <p:nvPr/>
        </p:nvSpPr>
        <p:spPr>
          <a:xfrm>
            <a:off x="103909" y="2441361"/>
            <a:ext cx="956424" cy="575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altLang="ja-JP" sz="2400" b="1" dirty="0">
                <a:solidFill>
                  <a:schemeClr val="tx1"/>
                </a:solidFill>
              </a:rPr>
              <a:t>t</a:t>
            </a:r>
            <a:endParaRPr lang="ja-JP" altLang="ja-JP" sz="2400" b="1">
              <a:solidFill>
                <a:schemeClr val="tx1"/>
              </a:solidFill>
            </a:endParaRP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F7525139-AA6C-5879-AC3A-4B322C8C7CA0}"/>
              </a:ext>
            </a:extLst>
          </p:cNvPr>
          <p:cNvCxnSpPr>
            <a:cxnSpLocks/>
          </p:cNvCxnSpPr>
          <p:nvPr/>
        </p:nvCxnSpPr>
        <p:spPr>
          <a:xfrm>
            <a:off x="582121" y="5681841"/>
            <a:ext cx="268084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Google Shape;105;p2">
            <a:extLst>
              <a:ext uri="{FF2B5EF4-FFF2-40B4-BE49-F238E27FC236}">
                <a16:creationId xmlns:a16="http://schemas.microsoft.com/office/drawing/2014/main" id="{D4F354B3-7BDB-61EB-B6C9-AA24D3E3BA5F}"/>
              </a:ext>
            </a:extLst>
          </p:cNvPr>
          <p:cNvSpPr txBox="1">
            <a:spLocks/>
          </p:cNvSpPr>
          <p:nvPr/>
        </p:nvSpPr>
        <p:spPr>
          <a:xfrm>
            <a:off x="3206317" y="5447058"/>
            <a:ext cx="673272" cy="46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altLang="ja-JP" sz="2400" b="1" dirty="0">
                <a:solidFill>
                  <a:schemeClr val="tx1"/>
                </a:solidFill>
              </a:rPr>
              <a:t>x</a:t>
            </a:r>
            <a:endParaRPr lang="ja-JP" altLang="ja-JP" sz="2400" b="1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963BB83-3A0F-DFE4-FD4E-211CD60489E2}"/>
              </a:ext>
            </a:extLst>
          </p:cNvPr>
          <p:cNvSpPr/>
          <p:nvPr/>
        </p:nvSpPr>
        <p:spPr>
          <a:xfrm>
            <a:off x="798176" y="4999095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A</a:t>
            </a:r>
            <a:endParaRPr kumimoji="1" lang="ja-JP" altLang="en-US" sz="1800" b="1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44D1272-3638-CB7C-14B5-E12ECC8AA7B1}"/>
              </a:ext>
            </a:extLst>
          </p:cNvPr>
          <p:cNvSpPr/>
          <p:nvPr/>
        </p:nvSpPr>
        <p:spPr>
          <a:xfrm>
            <a:off x="798176" y="4405046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B</a:t>
            </a:r>
            <a:endParaRPr kumimoji="1" lang="ja-JP" altLang="en-US" sz="1800" b="1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9A4CE8A-234F-E922-9406-C755F28B2358}"/>
              </a:ext>
            </a:extLst>
          </p:cNvPr>
          <p:cNvSpPr/>
          <p:nvPr/>
        </p:nvSpPr>
        <p:spPr>
          <a:xfrm>
            <a:off x="807503" y="3810997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C</a:t>
            </a:r>
            <a:endParaRPr kumimoji="1" lang="ja-JP" altLang="en-US" sz="1800" b="1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C56A839-04AD-5F89-416C-972FC8C50306}"/>
              </a:ext>
            </a:extLst>
          </p:cNvPr>
          <p:cNvSpPr/>
          <p:nvPr/>
        </p:nvSpPr>
        <p:spPr>
          <a:xfrm>
            <a:off x="798176" y="3230530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D</a:t>
            </a:r>
            <a:endParaRPr kumimoji="1" lang="ja-JP" altLang="en-US" sz="1800" b="1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829483B-13D8-4710-5E17-100F9F6BE5F6}"/>
              </a:ext>
            </a:extLst>
          </p:cNvPr>
          <p:cNvSpPr/>
          <p:nvPr/>
        </p:nvSpPr>
        <p:spPr>
          <a:xfrm>
            <a:off x="1355775" y="4999095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B</a:t>
            </a:r>
            <a:endParaRPr kumimoji="1" lang="ja-JP" altLang="en-US" sz="1800" b="1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8953028-530F-B7D1-E3F8-EF71EF942E4F}"/>
              </a:ext>
            </a:extLst>
          </p:cNvPr>
          <p:cNvSpPr/>
          <p:nvPr/>
        </p:nvSpPr>
        <p:spPr>
          <a:xfrm>
            <a:off x="1355775" y="4405046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C</a:t>
            </a:r>
            <a:endParaRPr kumimoji="1" lang="ja-JP" altLang="en-US" sz="1800" b="1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DB34CD7-6137-BD96-8B72-CC37DD230D65}"/>
              </a:ext>
            </a:extLst>
          </p:cNvPr>
          <p:cNvSpPr/>
          <p:nvPr/>
        </p:nvSpPr>
        <p:spPr>
          <a:xfrm>
            <a:off x="1365102" y="3810997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D</a:t>
            </a:r>
            <a:endParaRPr kumimoji="1" lang="ja-JP" altLang="en-US" sz="1800" b="1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17D15D5-7519-A945-D705-A122BFC51789}"/>
              </a:ext>
            </a:extLst>
          </p:cNvPr>
          <p:cNvSpPr/>
          <p:nvPr/>
        </p:nvSpPr>
        <p:spPr>
          <a:xfrm>
            <a:off x="1355775" y="3230530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A</a:t>
            </a:r>
            <a:endParaRPr kumimoji="1" lang="ja-JP" altLang="en-US" sz="1800" b="1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6927C39-3D31-E22D-5974-4266ABC00E09}"/>
              </a:ext>
            </a:extLst>
          </p:cNvPr>
          <p:cNvSpPr/>
          <p:nvPr/>
        </p:nvSpPr>
        <p:spPr>
          <a:xfrm>
            <a:off x="1922701" y="4999095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C</a:t>
            </a:r>
            <a:endParaRPr kumimoji="1" lang="ja-JP" altLang="en-US" sz="1800" b="1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A27814C1-378F-86A3-AB69-E9DA71834235}"/>
              </a:ext>
            </a:extLst>
          </p:cNvPr>
          <p:cNvSpPr/>
          <p:nvPr/>
        </p:nvSpPr>
        <p:spPr>
          <a:xfrm>
            <a:off x="1922701" y="4405046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D</a:t>
            </a:r>
            <a:endParaRPr kumimoji="1" lang="ja-JP" altLang="en-US" sz="1800" b="1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CB83E875-85C0-8522-4219-50D3FD5425BD}"/>
              </a:ext>
            </a:extLst>
          </p:cNvPr>
          <p:cNvSpPr/>
          <p:nvPr/>
        </p:nvSpPr>
        <p:spPr>
          <a:xfrm>
            <a:off x="1932028" y="3810997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A</a:t>
            </a:r>
            <a:endParaRPr kumimoji="1" lang="ja-JP" altLang="en-US" sz="1800" b="1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39D659D9-25C3-CA1F-3A7F-C4A0282CD9D7}"/>
              </a:ext>
            </a:extLst>
          </p:cNvPr>
          <p:cNvSpPr/>
          <p:nvPr/>
        </p:nvSpPr>
        <p:spPr>
          <a:xfrm>
            <a:off x="1922701" y="3230530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B</a:t>
            </a:r>
            <a:endParaRPr kumimoji="1" lang="ja-JP" altLang="en-US" sz="1800" b="1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ABD581CF-D225-8F1D-28C3-5F3E513C0ACD}"/>
              </a:ext>
            </a:extLst>
          </p:cNvPr>
          <p:cNvSpPr/>
          <p:nvPr/>
        </p:nvSpPr>
        <p:spPr>
          <a:xfrm>
            <a:off x="2504596" y="4999095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D</a:t>
            </a:r>
            <a:endParaRPr kumimoji="1" lang="ja-JP" altLang="en-US" sz="1800" b="1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8C0028D2-A8BD-BF81-75A3-08D663DBA493}"/>
              </a:ext>
            </a:extLst>
          </p:cNvPr>
          <p:cNvSpPr/>
          <p:nvPr/>
        </p:nvSpPr>
        <p:spPr>
          <a:xfrm>
            <a:off x="2504596" y="4405046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A</a:t>
            </a:r>
            <a:endParaRPr kumimoji="1" lang="ja-JP" altLang="en-US" sz="1800" b="1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BFC2BE81-9FCA-8034-61FC-5C40627792BF}"/>
              </a:ext>
            </a:extLst>
          </p:cNvPr>
          <p:cNvSpPr/>
          <p:nvPr/>
        </p:nvSpPr>
        <p:spPr>
          <a:xfrm>
            <a:off x="2513923" y="3810997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B</a:t>
            </a:r>
            <a:endParaRPr kumimoji="1" lang="ja-JP" altLang="en-US" sz="1800" b="1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72BDADA2-78C2-0B88-2FB4-1119F203E163}"/>
              </a:ext>
            </a:extLst>
          </p:cNvPr>
          <p:cNvSpPr/>
          <p:nvPr/>
        </p:nvSpPr>
        <p:spPr>
          <a:xfrm>
            <a:off x="2504596" y="3230530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C</a:t>
            </a:r>
            <a:endParaRPr kumimoji="1" lang="ja-JP" altLang="en-US" sz="1800" b="1"/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21A9D632-AFEA-3146-1567-ACA0AF41977C}"/>
              </a:ext>
            </a:extLst>
          </p:cNvPr>
          <p:cNvGrpSpPr/>
          <p:nvPr/>
        </p:nvGrpSpPr>
        <p:grpSpPr>
          <a:xfrm>
            <a:off x="2739966" y="2205926"/>
            <a:ext cx="1383382" cy="810491"/>
            <a:chOff x="7286569" y="2009907"/>
            <a:chExt cx="1383382" cy="8104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18B57CE1-A8BA-53D4-76BE-DA9784DFD5BA}"/>
                    </a:ext>
                  </a:extLst>
                </p:cNvPr>
                <p:cNvSpPr txBox="1"/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kumimoji="1" lang="en-US" altLang="ja-JP" sz="1800" dirty="0"/>
                </a:p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kumimoji="1" lang="en-US" altLang="ja-JP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kumimoji="1" lang="en-US" altLang="ja-JP" sz="1800" dirty="0"/>
                </a:p>
              </p:txBody>
            </p:sp>
          </mc:Choice>
          <mc:Fallback xmlns="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18B57CE1-A8BA-53D4-76BE-DA9784DFD5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大かっこ 30">
              <a:extLst>
                <a:ext uri="{FF2B5EF4-FFF2-40B4-BE49-F238E27FC236}">
                  <a16:creationId xmlns:a16="http://schemas.microsoft.com/office/drawing/2014/main" id="{3FBC25AA-BBAF-3CA5-91F9-57B9574F9F3F}"/>
                </a:ext>
              </a:extLst>
            </p:cNvPr>
            <p:cNvSpPr/>
            <p:nvPr/>
          </p:nvSpPr>
          <p:spPr>
            <a:xfrm>
              <a:off x="7430610" y="2009907"/>
              <a:ext cx="1020932" cy="810491"/>
            </a:xfrm>
            <a:prstGeom prst="bracketPair">
              <a:avLst>
                <a:gd name="adj" fmla="val 12286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42274C8A-EA27-B6B7-13C6-AA9652349902}"/>
              </a:ext>
            </a:extLst>
          </p:cNvPr>
          <p:cNvGrpSpPr/>
          <p:nvPr/>
        </p:nvGrpSpPr>
        <p:grpSpPr>
          <a:xfrm>
            <a:off x="4238024" y="3184075"/>
            <a:ext cx="1171528" cy="2441941"/>
            <a:chOff x="875091" y="3285243"/>
            <a:chExt cx="1171528" cy="2441941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85C1E9E8-52FB-763D-7E42-83A69EF419D4}"/>
                </a:ext>
              </a:extLst>
            </p:cNvPr>
            <p:cNvSpPr/>
            <p:nvPr/>
          </p:nvSpPr>
          <p:spPr>
            <a:xfrm>
              <a:off x="875091" y="3285243"/>
              <a:ext cx="1171528" cy="24419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800" b="1">
                <a:solidFill>
                  <a:schemeClr val="accent1"/>
                </a:solidFill>
              </a:endParaRPr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0858FA16-5D5A-EB3A-A411-F5B3C55BA0BF}"/>
                </a:ext>
              </a:extLst>
            </p:cNvPr>
            <p:cNvSpPr/>
            <p:nvPr/>
          </p:nvSpPr>
          <p:spPr>
            <a:xfrm>
              <a:off x="950576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CEB33791-B8D6-E764-8647-135430E5316D}"/>
                </a:ext>
              </a:extLst>
            </p:cNvPr>
            <p:cNvSpPr/>
            <p:nvPr/>
          </p:nvSpPr>
          <p:spPr>
            <a:xfrm>
              <a:off x="950576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2865471D-2C35-23F0-123A-1952C2F9CBC2}"/>
                </a:ext>
              </a:extLst>
            </p:cNvPr>
            <p:cNvSpPr/>
            <p:nvPr/>
          </p:nvSpPr>
          <p:spPr>
            <a:xfrm>
              <a:off x="959903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7A9A2D50-E9A7-2A29-F8EE-7BA29420AC93}"/>
                </a:ext>
              </a:extLst>
            </p:cNvPr>
            <p:cNvSpPr/>
            <p:nvPr/>
          </p:nvSpPr>
          <p:spPr>
            <a:xfrm>
              <a:off x="950576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D1C64C89-D8CD-B1E0-5A38-E3F3A21DB5A1}"/>
                </a:ext>
              </a:extLst>
            </p:cNvPr>
            <p:cNvSpPr/>
            <p:nvPr/>
          </p:nvSpPr>
          <p:spPr>
            <a:xfrm>
              <a:off x="1508175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C5C15795-C35A-2E95-D088-6166D8A39775}"/>
                </a:ext>
              </a:extLst>
            </p:cNvPr>
            <p:cNvSpPr/>
            <p:nvPr/>
          </p:nvSpPr>
          <p:spPr>
            <a:xfrm>
              <a:off x="1508175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6D803700-6052-2291-5CCA-B126738C92A4}"/>
                </a:ext>
              </a:extLst>
            </p:cNvPr>
            <p:cNvSpPr/>
            <p:nvPr/>
          </p:nvSpPr>
          <p:spPr>
            <a:xfrm>
              <a:off x="1517502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14923E81-5041-1FF2-7A63-1490CA19E1B8}"/>
                </a:ext>
              </a:extLst>
            </p:cNvPr>
            <p:cNvSpPr/>
            <p:nvPr/>
          </p:nvSpPr>
          <p:spPr>
            <a:xfrm>
              <a:off x="1508175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</p:grp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6DF8B213-B6FB-A547-BBB9-66ABDF91E3DA}"/>
              </a:ext>
            </a:extLst>
          </p:cNvPr>
          <p:cNvGrpSpPr/>
          <p:nvPr/>
        </p:nvGrpSpPr>
        <p:grpSpPr>
          <a:xfrm>
            <a:off x="5767987" y="3184074"/>
            <a:ext cx="1141317" cy="2441941"/>
            <a:chOff x="1466629" y="3262291"/>
            <a:chExt cx="1141317" cy="2441941"/>
          </a:xfrm>
        </p:grpSpPr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8B09BFCE-EB89-7395-84E4-1668F15B84D5}"/>
                </a:ext>
              </a:extLst>
            </p:cNvPr>
            <p:cNvSpPr/>
            <p:nvPr/>
          </p:nvSpPr>
          <p:spPr>
            <a:xfrm>
              <a:off x="1466629" y="3262291"/>
              <a:ext cx="1141317" cy="24419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800" b="1">
                <a:solidFill>
                  <a:schemeClr val="accent1"/>
                </a:solidFill>
              </a:endParaRPr>
            </a:p>
          </p:txBody>
        </p:sp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AC2AD927-895D-BA34-F5C8-AF6BFCC56D2B}"/>
                </a:ext>
              </a:extLst>
            </p:cNvPr>
            <p:cNvSpPr/>
            <p:nvPr/>
          </p:nvSpPr>
          <p:spPr>
            <a:xfrm>
              <a:off x="1508175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4CAE8738-C910-AFA4-5A78-4A44D897CFDB}"/>
                </a:ext>
              </a:extLst>
            </p:cNvPr>
            <p:cNvSpPr/>
            <p:nvPr/>
          </p:nvSpPr>
          <p:spPr>
            <a:xfrm>
              <a:off x="1508175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AB4C8864-683A-48F4-6159-9253CE1CDDB3}"/>
                </a:ext>
              </a:extLst>
            </p:cNvPr>
            <p:cNvSpPr/>
            <p:nvPr/>
          </p:nvSpPr>
          <p:spPr>
            <a:xfrm>
              <a:off x="1517502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13F254AB-3897-8074-8691-EDC6E474CAA1}"/>
                </a:ext>
              </a:extLst>
            </p:cNvPr>
            <p:cNvSpPr/>
            <p:nvPr/>
          </p:nvSpPr>
          <p:spPr>
            <a:xfrm>
              <a:off x="1508175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0F24711A-E4E1-5D40-BC83-DC9568CE30A8}"/>
                </a:ext>
              </a:extLst>
            </p:cNvPr>
            <p:cNvSpPr/>
            <p:nvPr/>
          </p:nvSpPr>
          <p:spPr>
            <a:xfrm>
              <a:off x="2075101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E5D61718-7A63-2275-50BE-C538A998C2D7}"/>
                </a:ext>
              </a:extLst>
            </p:cNvPr>
            <p:cNvSpPr/>
            <p:nvPr/>
          </p:nvSpPr>
          <p:spPr>
            <a:xfrm>
              <a:off x="2075101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37C2FF91-07AD-D043-76CD-1308FB45112C}"/>
                </a:ext>
              </a:extLst>
            </p:cNvPr>
            <p:cNvSpPr/>
            <p:nvPr/>
          </p:nvSpPr>
          <p:spPr>
            <a:xfrm>
              <a:off x="2084428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BBEEB9FA-4137-AB38-14C5-AE19D8E27D1C}"/>
                </a:ext>
              </a:extLst>
            </p:cNvPr>
            <p:cNvSpPr/>
            <p:nvPr/>
          </p:nvSpPr>
          <p:spPr>
            <a:xfrm>
              <a:off x="2075101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</p:grpSp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E957746-714B-5002-5556-E2249C87C7EC}"/>
              </a:ext>
            </a:extLst>
          </p:cNvPr>
          <p:cNvGrpSpPr/>
          <p:nvPr/>
        </p:nvGrpSpPr>
        <p:grpSpPr>
          <a:xfrm>
            <a:off x="1875257" y="3160038"/>
            <a:ext cx="1141317" cy="2441941"/>
            <a:chOff x="2029789" y="3312438"/>
            <a:chExt cx="1141317" cy="2441941"/>
          </a:xfrm>
        </p:grpSpPr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id="{6A58EFFD-ABD8-1FBC-ACEC-FFF88D4BB6D6}"/>
                </a:ext>
              </a:extLst>
            </p:cNvPr>
            <p:cNvSpPr/>
            <p:nvPr/>
          </p:nvSpPr>
          <p:spPr>
            <a:xfrm>
              <a:off x="2029789" y="3312438"/>
              <a:ext cx="1141317" cy="24419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800" b="1">
                <a:solidFill>
                  <a:schemeClr val="accent1"/>
                </a:solidFill>
              </a:endParaRPr>
            </a:p>
          </p:txBody>
        </p: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03EFE54D-6D9A-DB94-1284-9930C167BF09}"/>
                </a:ext>
              </a:extLst>
            </p:cNvPr>
            <p:cNvSpPr/>
            <p:nvPr/>
          </p:nvSpPr>
          <p:spPr>
            <a:xfrm>
              <a:off x="2075101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D57DC1D4-5D55-F6E1-BFFF-696A2CEDD35C}"/>
                </a:ext>
              </a:extLst>
            </p:cNvPr>
            <p:cNvSpPr/>
            <p:nvPr/>
          </p:nvSpPr>
          <p:spPr>
            <a:xfrm>
              <a:off x="2075101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E786BEF6-B0D2-BECB-6131-725C8F297398}"/>
                </a:ext>
              </a:extLst>
            </p:cNvPr>
            <p:cNvSpPr/>
            <p:nvPr/>
          </p:nvSpPr>
          <p:spPr>
            <a:xfrm>
              <a:off x="2084428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17ADEED2-4EDB-53F1-0C23-F41D04B52263}"/>
                </a:ext>
              </a:extLst>
            </p:cNvPr>
            <p:cNvSpPr/>
            <p:nvPr/>
          </p:nvSpPr>
          <p:spPr>
            <a:xfrm>
              <a:off x="2075101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65D23010-8241-536C-5EA3-FC7AFD458AE6}"/>
                </a:ext>
              </a:extLst>
            </p:cNvPr>
            <p:cNvSpPr/>
            <p:nvPr/>
          </p:nvSpPr>
          <p:spPr>
            <a:xfrm>
              <a:off x="2656996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A278E1F5-B200-EC8F-A1D3-A18F2D7D011D}"/>
                </a:ext>
              </a:extLst>
            </p:cNvPr>
            <p:cNvSpPr/>
            <p:nvPr/>
          </p:nvSpPr>
          <p:spPr>
            <a:xfrm>
              <a:off x="2656996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B0949CFB-4412-5DE4-F7B3-C17690E73B9C}"/>
                </a:ext>
              </a:extLst>
            </p:cNvPr>
            <p:cNvSpPr/>
            <p:nvPr/>
          </p:nvSpPr>
          <p:spPr>
            <a:xfrm>
              <a:off x="2666323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DEBB9DA8-2861-C36A-5956-D4D01AE06877}"/>
                </a:ext>
              </a:extLst>
            </p:cNvPr>
            <p:cNvSpPr/>
            <p:nvPr/>
          </p:nvSpPr>
          <p:spPr>
            <a:xfrm>
              <a:off x="2656996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</p:grpSp>
      <p:sp>
        <p:nvSpPr>
          <p:cNvPr id="58" name="Google Shape;105;p2">
            <a:extLst>
              <a:ext uri="{FF2B5EF4-FFF2-40B4-BE49-F238E27FC236}">
                <a16:creationId xmlns:a16="http://schemas.microsoft.com/office/drawing/2014/main" id="{DDC4C394-567D-443E-F7EF-10693FA9BB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09" y="1122218"/>
            <a:ext cx="8821882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Slice the d-dim data per spatial start point → each slice becomes a 1D multiset → solve with 1D Apriori-Window.</a:t>
            </a:r>
          </a:p>
        </p:txBody>
      </p:sp>
    </p:spTree>
    <p:extLst>
      <p:ext uri="{BB962C8B-B14F-4D97-AF65-F5344CB8AC3E}">
        <p14:creationId xmlns:p14="http://schemas.microsoft.com/office/powerpoint/2010/main" val="12652265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88D837DA-1988-A273-ECC7-22685BBD8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8B668F8C-0AA1-AB4E-6C75-F686C66B69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Reduction to 1D per fixed spatial start point</a:t>
            </a:r>
            <a:endParaRPr b="1" dirty="0"/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DAA96F09-9E30-39D5-D29F-6AE4D6D027DA}"/>
              </a:ext>
            </a:extLst>
          </p:cNvPr>
          <p:cNvCxnSpPr>
            <a:cxnSpLocks/>
          </p:cNvCxnSpPr>
          <p:nvPr/>
        </p:nvCxnSpPr>
        <p:spPr>
          <a:xfrm flipV="1">
            <a:off x="582121" y="2845123"/>
            <a:ext cx="0" cy="28367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Google Shape;105;p2">
            <a:extLst>
              <a:ext uri="{FF2B5EF4-FFF2-40B4-BE49-F238E27FC236}">
                <a16:creationId xmlns:a16="http://schemas.microsoft.com/office/drawing/2014/main" id="{F4BDBB7B-4397-D54C-F75D-EDA4FF5229AB}"/>
              </a:ext>
            </a:extLst>
          </p:cNvPr>
          <p:cNvSpPr txBox="1">
            <a:spLocks/>
          </p:cNvSpPr>
          <p:nvPr/>
        </p:nvSpPr>
        <p:spPr>
          <a:xfrm>
            <a:off x="103909" y="2441361"/>
            <a:ext cx="956424" cy="575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altLang="ja-JP" sz="2400" b="1" dirty="0">
                <a:solidFill>
                  <a:schemeClr val="tx1"/>
                </a:solidFill>
              </a:rPr>
              <a:t>t</a:t>
            </a:r>
            <a:endParaRPr lang="ja-JP" altLang="ja-JP" sz="2400" b="1">
              <a:solidFill>
                <a:schemeClr val="tx1"/>
              </a:solidFill>
            </a:endParaRP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931A1B6D-E98C-0DFD-6FEE-9F58904FC220}"/>
              </a:ext>
            </a:extLst>
          </p:cNvPr>
          <p:cNvCxnSpPr>
            <a:cxnSpLocks/>
          </p:cNvCxnSpPr>
          <p:nvPr/>
        </p:nvCxnSpPr>
        <p:spPr>
          <a:xfrm>
            <a:off x="582121" y="5681841"/>
            <a:ext cx="268084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Google Shape;105;p2">
            <a:extLst>
              <a:ext uri="{FF2B5EF4-FFF2-40B4-BE49-F238E27FC236}">
                <a16:creationId xmlns:a16="http://schemas.microsoft.com/office/drawing/2014/main" id="{08FECFF8-E6DC-E15C-8768-B1EC2DDBEE71}"/>
              </a:ext>
            </a:extLst>
          </p:cNvPr>
          <p:cNvSpPr txBox="1">
            <a:spLocks/>
          </p:cNvSpPr>
          <p:nvPr/>
        </p:nvSpPr>
        <p:spPr>
          <a:xfrm>
            <a:off x="3206317" y="5447058"/>
            <a:ext cx="673272" cy="46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altLang="ja-JP" sz="2400" b="1" dirty="0">
                <a:solidFill>
                  <a:schemeClr val="tx1"/>
                </a:solidFill>
              </a:rPr>
              <a:t>x</a:t>
            </a:r>
            <a:endParaRPr lang="ja-JP" altLang="ja-JP" sz="2400" b="1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13F4169-4F30-6DD5-8660-998D8E960AEC}"/>
              </a:ext>
            </a:extLst>
          </p:cNvPr>
          <p:cNvSpPr/>
          <p:nvPr/>
        </p:nvSpPr>
        <p:spPr>
          <a:xfrm>
            <a:off x="798176" y="4999095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A</a:t>
            </a:r>
            <a:endParaRPr kumimoji="1" lang="ja-JP" altLang="en-US" sz="1800" b="1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19C9C4A-C3A3-CB7D-5370-67C6150D1489}"/>
              </a:ext>
            </a:extLst>
          </p:cNvPr>
          <p:cNvSpPr/>
          <p:nvPr/>
        </p:nvSpPr>
        <p:spPr>
          <a:xfrm>
            <a:off x="798176" y="4405046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B</a:t>
            </a:r>
            <a:endParaRPr kumimoji="1" lang="ja-JP" altLang="en-US" sz="1800" b="1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67DA398-5794-D033-EFF4-2ADD287258A7}"/>
              </a:ext>
            </a:extLst>
          </p:cNvPr>
          <p:cNvSpPr/>
          <p:nvPr/>
        </p:nvSpPr>
        <p:spPr>
          <a:xfrm>
            <a:off x="807503" y="3810997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C</a:t>
            </a:r>
            <a:endParaRPr kumimoji="1" lang="ja-JP" altLang="en-US" sz="1800" b="1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59CC2B2-37C7-969A-AA42-9DE73D11745B}"/>
              </a:ext>
            </a:extLst>
          </p:cNvPr>
          <p:cNvSpPr/>
          <p:nvPr/>
        </p:nvSpPr>
        <p:spPr>
          <a:xfrm>
            <a:off x="798176" y="3230530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D</a:t>
            </a:r>
            <a:endParaRPr kumimoji="1" lang="ja-JP" altLang="en-US" sz="1800" b="1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5ED44CB-62E7-3A41-3C8B-3E92C7039080}"/>
              </a:ext>
            </a:extLst>
          </p:cNvPr>
          <p:cNvSpPr/>
          <p:nvPr/>
        </p:nvSpPr>
        <p:spPr>
          <a:xfrm>
            <a:off x="1355775" y="4999095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B</a:t>
            </a:r>
            <a:endParaRPr kumimoji="1" lang="ja-JP" altLang="en-US" sz="1800" b="1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6E0080E-D82A-1F74-9369-96C5884DF645}"/>
              </a:ext>
            </a:extLst>
          </p:cNvPr>
          <p:cNvSpPr/>
          <p:nvPr/>
        </p:nvSpPr>
        <p:spPr>
          <a:xfrm>
            <a:off x="1355775" y="4405046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C</a:t>
            </a:r>
            <a:endParaRPr kumimoji="1" lang="ja-JP" altLang="en-US" sz="1800" b="1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B6E7832-23A1-9E49-81EC-DD04C7A0D5BD}"/>
              </a:ext>
            </a:extLst>
          </p:cNvPr>
          <p:cNvSpPr/>
          <p:nvPr/>
        </p:nvSpPr>
        <p:spPr>
          <a:xfrm>
            <a:off x="1365102" y="3810997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D</a:t>
            </a:r>
            <a:endParaRPr kumimoji="1" lang="ja-JP" altLang="en-US" sz="1800" b="1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A0A0F8B-D760-F079-7269-7C6C6DE9A29E}"/>
              </a:ext>
            </a:extLst>
          </p:cNvPr>
          <p:cNvSpPr/>
          <p:nvPr/>
        </p:nvSpPr>
        <p:spPr>
          <a:xfrm>
            <a:off x="1355775" y="3230530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A</a:t>
            </a:r>
            <a:endParaRPr kumimoji="1" lang="ja-JP" altLang="en-US" sz="1800" b="1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82C59EC-833D-999C-3F1F-DAE8660AC699}"/>
              </a:ext>
            </a:extLst>
          </p:cNvPr>
          <p:cNvSpPr/>
          <p:nvPr/>
        </p:nvSpPr>
        <p:spPr>
          <a:xfrm>
            <a:off x="1922701" y="4999095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C</a:t>
            </a:r>
            <a:endParaRPr kumimoji="1" lang="ja-JP" altLang="en-US" sz="1800" b="1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5CDE5A7-506D-847B-82E5-8266E81628D1}"/>
              </a:ext>
            </a:extLst>
          </p:cNvPr>
          <p:cNvSpPr/>
          <p:nvPr/>
        </p:nvSpPr>
        <p:spPr>
          <a:xfrm>
            <a:off x="1922701" y="4405046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D</a:t>
            </a:r>
            <a:endParaRPr kumimoji="1" lang="ja-JP" altLang="en-US" sz="1800" b="1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A6BC11E-A021-AB4B-5D83-87ED8CDA3CA2}"/>
              </a:ext>
            </a:extLst>
          </p:cNvPr>
          <p:cNvSpPr/>
          <p:nvPr/>
        </p:nvSpPr>
        <p:spPr>
          <a:xfrm>
            <a:off x="1932028" y="3810997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A</a:t>
            </a:r>
            <a:endParaRPr kumimoji="1" lang="ja-JP" altLang="en-US" sz="1800" b="1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8A64D5D2-F4F5-9AF8-0C4E-D56E96785E1F}"/>
              </a:ext>
            </a:extLst>
          </p:cNvPr>
          <p:cNvSpPr/>
          <p:nvPr/>
        </p:nvSpPr>
        <p:spPr>
          <a:xfrm>
            <a:off x="1922701" y="3230530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B</a:t>
            </a:r>
            <a:endParaRPr kumimoji="1" lang="ja-JP" altLang="en-US" sz="1800" b="1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918D71A5-7ED5-35A7-1E84-28EF146F7BE9}"/>
              </a:ext>
            </a:extLst>
          </p:cNvPr>
          <p:cNvSpPr/>
          <p:nvPr/>
        </p:nvSpPr>
        <p:spPr>
          <a:xfrm>
            <a:off x="2504596" y="4999095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D</a:t>
            </a:r>
            <a:endParaRPr kumimoji="1" lang="ja-JP" altLang="en-US" sz="1800" b="1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5F228E67-9998-2131-F90D-71794E0F08D8}"/>
              </a:ext>
            </a:extLst>
          </p:cNvPr>
          <p:cNvSpPr/>
          <p:nvPr/>
        </p:nvSpPr>
        <p:spPr>
          <a:xfrm>
            <a:off x="2504596" y="4405046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A</a:t>
            </a:r>
            <a:endParaRPr kumimoji="1" lang="ja-JP" altLang="en-US" sz="1800" b="1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D9EA079D-7EB5-AD66-8284-85D0F8BF150F}"/>
              </a:ext>
            </a:extLst>
          </p:cNvPr>
          <p:cNvSpPr/>
          <p:nvPr/>
        </p:nvSpPr>
        <p:spPr>
          <a:xfrm>
            <a:off x="2513923" y="3810997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B</a:t>
            </a:r>
            <a:endParaRPr kumimoji="1" lang="ja-JP" altLang="en-US" sz="1800" b="1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BD4573DD-3E4B-0763-60DB-0E010CBD1279}"/>
              </a:ext>
            </a:extLst>
          </p:cNvPr>
          <p:cNvSpPr/>
          <p:nvPr/>
        </p:nvSpPr>
        <p:spPr>
          <a:xfrm>
            <a:off x="2504596" y="3230530"/>
            <a:ext cx="470741" cy="46863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b="1" dirty="0"/>
              <a:t>C</a:t>
            </a:r>
            <a:endParaRPr kumimoji="1" lang="ja-JP" altLang="en-US" sz="1800" b="1"/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C4C8812B-36C2-96AE-DE2D-0834382840C1}"/>
              </a:ext>
            </a:extLst>
          </p:cNvPr>
          <p:cNvGrpSpPr/>
          <p:nvPr/>
        </p:nvGrpSpPr>
        <p:grpSpPr>
          <a:xfrm>
            <a:off x="2739966" y="2205926"/>
            <a:ext cx="1383382" cy="810491"/>
            <a:chOff x="7286569" y="2009907"/>
            <a:chExt cx="1383382" cy="8104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254F300F-6DC7-DBCD-6B7B-3176E0957F58}"/>
                    </a:ext>
                  </a:extLst>
                </p:cNvPr>
                <p:cNvSpPr txBox="1"/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kumimoji="1" lang="en-US" altLang="ja-JP" sz="1800" dirty="0"/>
                </a:p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kumimoji="1" lang="en-US" altLang="ja-JP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kumimoji="1" lang="en-US" altLang="ja-JP" sz="1800" dirty="0"/>
                </a:p>
              </p:txBody>
            </p:sp>
          </mc:Choice>
          <mc:Fallback xmlns="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254F300F-6DC7-DBCD-6B7B-3176E0957F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大かっこ 30">
              <a:extLst>
                <a:ext uri="{FF2B5EF4-FFF2-40B4-BE49-F238E27FC236}">
                  <a16:creationId xmlns:a16="http://schemas.microsoft.com/office/drawing/2014/main" id="{E77FEA21-A0E1-5D0C-59D6-2F38184DFFA5}"/>
                </a:ext>
              </a:extLst>
            </p:cNvPr>
            <p:cNvSpPr/>
            <p:nvPr/>
          </p:nvSpPr>
          <p:spPr>
            <a:xfrm>
              <a:off x="7430610" y="2009907"/>
              <a:ext cx="1020932" cy="810491"/>
            </a:xfrm>
            <a:prstGeom prst="bracketPair">
              <a:avLst>
                <a:gd name="adj" fmla="val 12286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289D99B3-D44F-4294-F8C8-E00206C69831}"/>
              </a:ext>
            </a:extLst>
          </p:cNvPr>
          <p:cNvGrpSpPr/>
          <p:nvPr/>
        </p:nvGrpSpPr>
        <p:grpSpPr>
          <a:xfrm>
            <a:off x="4238024" y="3184075"/>
            <a:ext cx="1171528" cy="2441941"/>
            <a:chOff x="875091" y="3285243"/>
            <a:chExt cx="1171528" cy="2441941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76002083-1AC1-3C4D-D871-3DB933A73F41}"/>
                </a:ext>
              </a:extLst>
            </p:cNvPr>
            <p:cNvSpPr/>
            <p:nvPr/>
          </p:nvSpPr>
          <p:spPr>
            <a:xfrm>
              <a:off x="875091" y="3285243"/>
              <a:ext cx="1171528" cy="24419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800" b="1">
                <a:solidFill>
                  <a:schemeClr val="accent1"/>
                </a:solidFill>
              </a:endParaRPr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A735E66C-CD40-BDCA-929C-573D96D29DC5}"/>
                </a:ext>
              </a:extLst>
            </p:cNvPr>
            <p:cNvSpPr/>
            <p:nvPr/>
          </p:nvSpPr>
          <p:spPr>
            <a:xfrm>
              <a:off x="950576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A9E12F2B-B011-EAB1-08DF-EBA759FAD9DD}"/>
                </a:ext>
              </a:extLst>
            </p:cNvPr>
            <p:cNvSpPr/>
            <p:nvPr/>
          </p:nvSpPr>
          <p:spPr>
            <a:xfrm>
              <a:off x="950576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6ECF59C6-7791-D00A-F6FA-E049C0FEFBA2}"/>
                </a:ext>
              </a:extLst>
            </p:cNvPr>
            <p:cNvSpPr/>
            <p:nvPr/>
          </p:nvSpPr>
          <p:spPr>
            <a:xfrm>
              <a:off x="959903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B5EF06F6-5DA1-3BEE-995A-6B6F845ADC5F}"/>
                </a:ext>
              </a:extLst>
            </p:cNvPr>
            <p:cNvSpPr/>
            <p:nvPr/>
          </p:nvSpPr>
          <p:spPr>
            <a:xfrm>
              <a:off x="950576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6A0A253D-1721-04AC-EB13-0C7F86BB8761}"/>
                </a:ext>
              </a:extLst>
            </p:cNvPr>
            <p:cNvSpPr/>
            <p:nvPr/>
          </p:nvSpPr>
          <p:spPr>
            <a:xfrm>
              <a:off x="1508175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BAB210A8-83AD-9889-4B1D-B365DF11CE7F}"/>
                </a:ext>
              </a:extLst>
            </p:cNvPr>
            <p:cNvSpPr/>
            <p:nvPr/>
          </p:nvSpPr>
          <p:spPr>
            <a:xfrm>
              <a:off x="1508175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136C07F6-81EB-E346-C1B0-A2586D3C377D}"/>
                </a:ext>
              </a:extLst>
            </p:cNvPr>
            <p:cNvSpPr/>
            <p:nvPr/>
          </p:nvSpPr>
          <p:spPr>
            <a:xfrm>
              <a:off x="1517502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79D35CD0-33CD-86F9-EEEA-7846E3EF8866}"/>
                </a:ext>
              </a:extLst>
            </p:cNvPr>
            <p:cNvSpPr/>
            <p:nvPr/>
          </p:nvSpPr>
          <p:spPr>
            <a:xfrm>
              <a:off x="1508175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</p:grp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F8A2C298-8FEB-1960-8769-2F0ACCFB7357}"/>
              </a:ext>
            </a:extLst>
          </p:cNvPr>
          <p:cNvGrpSpPr/>
          <p:nvPr/>
        </p:nvGrpSpPr>
        <p:grpSpPr>
          <a:xfrm>
            <a:off x="5767987" y="3184074"/>
            <a:ext cx="1141317" cy="2441941"/>
            <a:chOff x="1466629" y="3262291"/>
            <a:chExt cx="1141317" cy="2441941"/>
          </a:xfrm>
        </p:grpSpPr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411EAA8D-7FC3-424F-3C02-8FC05BF8C126}"/>
                </a:ext>
              </a:extLst>
            </p:cNvPr>
            <p:cNvSpPr/>
            <p:nvPr/>
          </p:nvSpPr>
          <p:spPr>
            <a:xfrm>
              <a:off x="1466629" y="3262291"/>
              <a:ext cx="1141317" cy="24419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800" b="1">
                <a:solidFill>
                  <a:schemeClr val="accent1"/>
                </a:solidFill>
              </a:endParaRPr>
            </a:p>
          </p:txBody>
        </p:sp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18772B76-8A58-6DD0-85E5-9D7F2F5BD0FE}"/>
                </a:ext>
              </a:extLst>
            </p:cNvPr>
            <p:cNvSpPr/>
            <p:nvPr/>
          </p:nvSpPr>
          <p:spPr>
            <a:xfrm>
              <a:off x="1508175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BA4206D3-C7C7-209F-5298-1559246763CD}"/>
                </a:ext>
              </a:extLst>
            </p:cNvPr>
            <p:cNvSpPr/>
            <p:nvPr/>
          </p:nvSpPr>
          <p:spPr>
            <a:xfrm>
              <a:off x="1508175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7690467D-8234-B4FB-B521-D08BDF2A2EB2}"/>
                </a:ext>
              </a:extLst>
            </p:cNvPr>
            <p:cNvSpPr/>
            <p:nvPr/>
          </p:nvSpPr>
          <p:spPr>
            <a:xfrm>
              <a:off x="1517502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A83F9077-4A80-B9BB-B659-E2227BE0948D}"/>
                </a:ext>
              </a:extLst>
            </p:cNvPr>
            <p:cNvSpPr/>
            <p:nvPr/>
          </p:nvSpPr>
          <p:spPr>
            <a:xfrm>
              <a:off x="1508175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2ACB86B1-0B9B-076E-4952-B9F54A689DFB}"/>
                </a:ext>
              </a:extLst>
            </p:cNvPr>
            <p:cNvSpPr/>
            <p:nvPr/>
          </p:nvSpPr>
          <p:spPr>
            <a:xfrm>
              <a:off x="2075101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90B85612-D04C-0F3B-62F0-26CA30D47D57}"/>
                </a:ext>
              </a:extLst>
            </p:cNvPr>
            <p:cNvSpPr/>
            <p:nvPr/>
          </p:nvSpPr>
          <p:spPr>
            <a:xfrm>
              <a:off x="2075101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E440E3BF-C4D7-7D11-62D3-6B88DE7F7A1F}"/>
                </a:ext>
              </a:extLst>
            </p:cNvPr>
            <p:cNvSpPr/>
            <p:nvPr/>
          </p:nvSpPr>
          <p:spPr>
            <a:xfrm>
              <a:off x="2084428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E9C30D2C-EADB-474E-31D1-21CA93D3D01A}"/>
                </a:ext>
              </a:extLst>
            </p:cNvPr>
            <p:cNvSpPr/>
            <p:nvPr/>
          </p:nvSpPr>
          <p:spPr>
            <a:xfrm>
              <a:off x="2075101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</p:grpSp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94E610B9-B317-09BB-2973-19678BB198C0}"/>
              </a:ext>
            </a:extLst>
          </p:cNvPr>
          <p:cNvGrpSpPr/>
          <p:nvPr/>
        </p:nvGrpSpPr>
        <p:grpSpPr>
          <a:xfrm>
            <a:off x="7374033" y="3184073"/>
            <a:ext cx="1141317" cy="2441941"/>
            <a:chOff x="2029789" y="3312438"/>
            <a:chExt cx="1141317" cy="2441941"/>
          </a:xfrm>
        </p:grpSpPr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id="{BDF59DBC-6DCC-76BE-E482-3E1E68A4D345}"/>
                </a:ext>
              </a:extLst>
            </p:cNvPr>
            <p:cNvSpPr/>
            <p:nvPr/>
          </p:nvSpPr>
          <p:spPr>
            <a:xfrm>
              <a:off x="2029789" y="3312438"/>
              <a:ext cx="1141317" cy="24419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800" b="1">
                <a:solidFill>
                  <a:schemeClr val="accent1"/>
                </a:solidFill>
              </a:endParaRPr>
            </a:p>
          </p:txBody>
        </p: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7600D269-7D2C-9F4F-ADCF-D58EFD9A73AC}"/>
                </a:ext>
              </a:extLst>
            </p:cNvPr>
            <p:cNvSpPr/>
            <p:nvPr/>
          </p:nvSpPr>
          <p:spPr>
            <a:xfrm>
              <a:off x="2075101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5B2967D1-F2CA-BE95-471A-55D4019691A7}"/>
                </a:ext>
              </a:extLst>
            </p:cNvPr>
            <p:cNvSpPr/>
            <p:nvPr/>
          </p:nvSpPr>
          <p:spPr>
            <a:xfrm>
              <a:off x="2075101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C11489AA-303A-ED62-126E-9CE35BA454FC}"/>
                </a:ext>
              </a:extLst>
            </p:cNvPr>
            <p:cNvSpPr/>
            <p:nvPr/>
          </p:nvSpPr>
          <p:spPr>
            <a:xfrm>
              <a:off x="2084428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CC37C7DB-5078-0CEF-0DBE-0563475846F2}"/>
                </a:ext>
              </a:extLst>
            </p:cNvPr>
            <p:cNvSpPr/>
            <p:nvPr/>
          </p:nvSpPr>
          <p:spPr>
            <a:xfrm>
              <a:off x="2075101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6F0F8C0B-B4D8-961B-9C40-7C2DB5D0B42B}"/>
                </a:ext>
              </a:extLst>
            </p:cNvPr>
            <p:cNvSpPr/>
            <p:nvPr/>
          </p:nvSpPr>
          <p:spPr>
            <a:xfrm>
              <a:off x="2656996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C854C5EF-2406-268D-D580-5F37D5645417}"/>
                </a:ext>
              </a:extLst>
            </p:cNvPr>
            <p:cNvSpPr/>
            <p:nvPr/>
          </p:nvSpPr>
          <p:spPr>
            <a:xfrm>
              <a:off x="2656996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34BEAD25-86FE-2959-D41B-3C9A506997FD}"/>
                </a:ext>
              </a:extLst>
            </p:cNvPr>
            <p:cNvSpPr/>
            <p:nvPr/>
          </p:nvSpPr>
          <p:spPr>
            <a:xfrm>
              <a:off x="2666323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BF7C250D-00D1-6F2A-FDB6-96F63A9BC60E}"/>
                </a:ext>
              </a:extLst>
            </p:cNvPr>
            <p:cNvSpPr/>
            <p:nvPr/>
          </p:nvSpPr>
          <p:spPr>
            <a:xfrm>
              <a:off x="2656996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</p:grpSp>
      <p:sp>
        <p:nvSpPr>
          <p:cNvPr id="57" name="Google Shape;105;p2">
            <a:extLst>
              <a:ext uri="{FF2B5EF4-FFF2-40B4-BE49-F238E27FC236}">
                <a16:creationId xmlns:a16="http://schemas.microsoft.com/office/drawing/2014/main" id="{975C892C-572E-CB34-AC15-E8F08519D5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09" y="1122218"/>
            <a:ext cx="8821882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Slice the d-dim data per spatial start point → each slice becomes a 1D multiset → solve with 1D Apriori-Window.</a:t>
            </a:r>
          </a:p>
        </p:txBody>
      </p:sp>
    </p:spTree>
    <p:extLst>
      <p:ext uri="{BB962C8B-B14F-4D97-AF65-F5344CB8AC3E}">
        <p14:creationId xmlns:p14="http://schemas.microsoft.com/office/powerpoint/2010/main" val="3954928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20AE3990-F709-B11C-0B29-B17B98BA3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A8671ED8-BE01-1D63-7FF6-DF5CDCBB91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Reduction to 1D per fixed spatial start point</a:t>
            </a:r>
            <a:endParaRPr b="1" dirty="0"/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654749B7-D2D9-873D-E1E5-60AA7E48B9D1}"/>
              </a:ext>
            </a:extLst>
          </p:cNvPr>
          <p:cNvGrpSpPr/>
          <p:nvPr/>
        </p:nvGrpSpPr>
        <p:grpSpPr>
          <a:xfrm>
            <a:off x="7448423" y="2078172"/>
            <a:ext cx="1383382" cy="810491"/>
            <a:chOff x="7286569" y="2009907"/>
            <a:chExt cx="1383382" cy="8104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5B4986CE-404F-34BD-2A56-1ED96EA63AF5}"/>
                    </a:ext>
                  </a:extLst>
                </p:cNvPr>
                <p:cNvSpPr txBox="1"/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kumimoji="1" lang="en-US" altLang="ja-JP" sz="1800" dirty="0"/>
                </a:p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kumimoji="1" lang="en-US" altLang="ja-JP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kumimoji="1" lang="en-US" altLang="ja-JP" sz="1800" dirty="0"/>
                </a:p>
              </p:txBody>
            </p:sp>
          </mc:Choice>
          <mc:Fallback xmlns="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5B4986CE-404F-34BD-2A56-1ED96EA63A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大かっこ 30">
              <a:extLst>
                <a:ext uri="{FF2B5EF4-FFF2-40B4-BE49-F238E27FC236}">
                  <a16:creationId xmlns:a16="http://schemas.microsoft.com/office/drawing/2014/main" id="{7C3A67DB-1DA1-0F49-92D1-0F312AA7BA32}"/>
                </a:ext>
              </a:extLst>
            </p:cNvPr>
            <p:cNvSpPr/>
            <p:nvPr/>
          </p:nvSpPr>
          <p:spPr>
            <a:xfrm>
              <a:off x="7430610" y="2009907"/>
              <a:ext cx="1020932" cy="810491"/>
            </a:xfrm>
            <a:prstGeom prst="bracketPair">
              <a:avLst>
                <a:gd name="adj" fmla="val 12286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E0042868-F42C-AE0D-B7E9-441060F1F5F4}"/>
              </a:ext>
            </a:extLst>
          </p:cNvPr>
          <p:cNvGrpSpPr/>
          <p:nvPr/>
        </p:nvGrpSpPr>
        <p:grpSpPr>
          <a:xfrm>
            <a:off x="2260715" y="3061322"/>
            <a:ext cx="1037667" cy="2237198"/>
            <a:chOff x="950576" y="3382930"/>
            <a:chExt cx="1037667" cy="2237198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C2851BE3-64BD-0D29-C97B-7485D4B95C14}"/>
                </a:ext>
              </a:extLst>
            </p:cNvPr>
            <p:cNvSpPr/>
            <p:nvPr/>
          </p:nvSpPr>
          <p:spPr>
            <a:xfrm>
              <a:off x="950576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40A67CBC-A63F-DBA3-7B0A-902E5B5A1912}"/>
                </a:ext>
              </a:extLst>
            </p:cNvPr>
            <p:cNvSpPr/>
            <p:nvPr/>
          </p:nvSpPr>
          <p:spPr>
            <a:xfrm>
              <a:off x="950576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993C6434-7863-9149-9135-1835F75AD286}"/>
                </a:ext>
              </a:extLst>
            </p:cNvPr>
            <p:cNvSpPr/>
            <p:nvPr/>
          </p:nvSpPr>
          <p:spPr>
            <a:xfrm>
              <a:off x="959903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EFC5D4FC-244D-7D8A-B8DA-CE3D2B970265}"/>
                </a:ext>
              </a:extLst>
            </p:cNvPr>
            <p:cNvSpPr/>
            <p:nvPr/>
          </p:nvSpPr>
          <p:spPr>
            <a:xfrm>
              <a:off x="950576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1F0E4600-DC79-104B-0351-EBF36A0DE3D5}"/>
                </a:ext>
              </a:extLst>
            </p:cNvPr>
            <p:cNvSpPr/>
            <p:nvPr/>
          </p:nvSpPr>
          <p:spPr>
            <a:xfrm>
              <a:off x="1508175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1CE94A08-D777-C906-BEB7-8BAEA564E198}"/>
                </a:ext>
              </a:extLst>
            </p:cNvPr>
            <p:cNvSpPr/>
            <p:nvPr/>
          </p:nvSpPr>
          <p:spPr>
            <a:xfrm>
              <a:off x="1508175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BD67487C-97C0-19E6-C4A4-E84CC97DF81C}"/>
                </a:ext>
              </a:extLst>
            </p:cNvPr>
            <p:cNvSpPr/>
            <p:nvPr/>
          </p:nvSpPr>
          <p:spPr>
            <a:xfrm>
              <a:off x="1517502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AECC4E6E-02F3-5575-45CE-A33474FE7A93}"/>
                </a:ext>
              </a:extLst>
            </p:cNvPr>
            <p:cNvSpPr/>
            <p:nvPr/>
          </p:nvSpPr>
          <p:spPr>
            <a:xfrm>
              <a:off x="1508175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</p:grp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62665984-4017-C93C-4891-A370A7E1DB75}"/>
              </a:ext>
            </a:extLst>
          </p:cNvPr>
          <p:cNvGrpSpPr/>
          <p:nvPr/>
        </p:nvGrpSpPr>
        <p:grpSpPr>
          <a:xfrm>
            <a:off x="4165559" y="3084275"/>
            <a:ext cx="1046994" cy="2237198"/>
            <a:chOff x="1508175" y="3382930"/>
            <a:chExt cx="1046994" cy="2237198"/>
          </a:xfrm>
        </p:grpSpPr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2DD3E565-F465-43C1-3654-5C2FF79FE1FC}"/>
                </a:ext>
              </a:extLst>
            </p:cNvPr>
            <p:cNvSpPr/>
            <p:nvPr/>
          </p:nvSpPr>
          <p:spPr>
            <a:xfrm>
              <a:off x="1508175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A6BA1151-A624-6810-D2AC-40D82CDC500D}"/>
                </a:ext>
              </a:extLst>
            </p:cNvPr>
            <p:cNvSpPr/>
            <p:nvPr/>
          </p:nvSpPr>
          <p:spPr>
            <a:xfrm>
              <a:off x="1508175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1322A01F-8456-1E68-27D7-32E5EC96D790}"/>
                </a:ext>
              </a:extLst>
            </p:cNvPr>
            <p:cNvSpPr/>
            <p:nvPr/>
          </p:nvSpPr>
          <p:spPr>
            <a:xfrm>
              <a:off x="1517502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D871D085-5153-3F43-75C9-15428CFD04C9}"/>
                </a:ext>
              </a:extLst>
            </p:cNvPr>
            <p:cNvSpPr/>
            <p:nvPr/>
          </p:nvSpPr>
          <p:spPr>
            <a:xfrm>
              <a:off x="1508175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093376A1-6FD0-5DA6-25AE-8249F75ED502}"/>
                </a:ext>
              </a:extLst>
            </p:cNvPr>
            <p:cNvSpPr/>
            <p:nvPr/>
          </p:nvSpPr>
          <p:spPr>
            <a:xfrm>
              <a:off x="2075101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0F3094A8-C755-F02F-625C-895BAD6260E8}"/>
                </a:ext>
              </a:extLst>
            </p:cNvPr>
            <p:cNvSpPr/>
            <p:nvPr/>
          </p:nvSpPr>
          <p:spPr>
            <a:xfrm>
              <a:off x="2075101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9525F7BD-A2F3-8F61-B7F6-C9D8BD37A076}"/>
                </a:ext>
              </a:extLst>
            </p:cNvPr>
            <p:cNvSpPr/>
            <p:nvPr/>
          </p:nvSpPr>
          <p:spPr>
            <a:xfrm>
              <a:off x="2084428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4AB30A92-1D2C-890F-0EE8-9923F38B7C46}"/>
                </a:ext>
              </a:extLst>
            </p:cNvPr>
            <p:cNvSpPr/>
            <p:nvPr/>
          </p:nvSpPr>
          <p:spPr>
            <a:xfrm>
              <a:off x="2075101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</p:grpSp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4DAF7E0C-21A7-9275-C266-2BFC7D8C13ED}"/>
              </a:ext>
            </a:extLst>
          </p:cNvPr>
          <p:cNvGrpSpPr/>
          <p:nvPr/>
        </p:nvGrpSpPr>
        <p:grpSpPr>
          <a:xfrm>
            <a:off x="6077897" y="3034126"/>
            <a:ext cx="1061963" cy="2237198"/>
            <a:chOff x="2075101" y="3382930"/>
            <a:chExt cx="1061963" cy="2237198"/>
          </a:xfrm>
        </p:grpSpPr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700F997D-997E-B2B8-A72B-C86E0500D464}"/>
                </a:ext>
              </a:extLst>
            </p:cNvPr>
            <p:cNvSpPr/>
            <p:nvPr/>
          </p:nvSpPr>
          <p:spPr>
            <a:xfrm>
              <a:off x="2075101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9540746D-5C6E-28BE-18FF-4B6F40E96776}"/>
                </a:ext>
              </a:extLst>
            </p:cNvPr>
            <p:cNvSpPr/>
            <p:nvPr/>
          </p:nvSpPr>
          <p:spPr>
            <a:xfrm>
              <a:off x="2075101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857D95F2-45DC-956D-B034-2EEC6FE7E68F}"/>
                </a:ext>
              </a:extLst>
            </p:cNvPr>
            <p:cNvSpPr/>
            <p:nvPr/>
          </p:nvSpPr>
          <p:spPr>
            <a:xfrm>
              <a:off x="2084428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3D4B4921-E8DB-5ED4-596D-C2484482E3BC}"/>
                </a:ext>
              </a:extLst>
            </p:cNvPr>
            <p:cNvSpPr/>
            <p:nvPr/>
          </p:nvSpPr>
          <p:spPr>
            <a:xfrm>
              <a:off x="2075101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2E03C78B-043D-2B80-2A04-24069F3DC3DC}"/>
                </a:ext>
              </a:extLst>
            </p:cNvPr>
            <p:cNvSpPr/>
            <p:nvPr/>
          </p:nvSpPr>
          <p:spPr>
            <a:xfrm>
              <a:off x="2656996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C5B10F83-114E-D605-96CD-739C8BC828EB}"/>
                </a:ext>
              </a:extLst>
            </p:cNvPr>
            <p:cNvSpPr/>
            <p:nvPr/>
          </p:nvSpPr>
          <p:spPr>
            <a:xfrm>
              <a:off x="2656996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70071158-5948-1262-04E6-4C1BD81EFF31}"/>
                </a:ext>
              </a:extLst>
            </p:cNvPr>
            <p:cNvSpPr/>
            <p:nvPr/>
          </p:nvSpPr>
          <p:spPr>
            <a:xfrm>
              <a:off x="2666323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19D7F8AA-DE2E-C683-516C-E13A451ADB03}"/>
                </a:ext>
              </a:extLst>
            </p:cNvPr>
            <p:cNvSpPr/>
            <p:nvPr/>
          </p:nvSpPr>
          <p:spPr>
            <a:xfrm>
              <a:off x="2656996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</p:grp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2B9AB2E-AA83-A1B6-97CF-35C1D24C41FC}"/>
              </a:ext>
            </a:extLst>
          </p:cNvPr>
          <p:cNvSpPr/>
          <p:nvPr/>
        </p:nvSpPr>
        <p:spPr>
          <a:xfrm>
            <a:off x="4095693" y="4187905"/>
            <a:ext cx="1167684" cy="121486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b="1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AA79FF54-E1C8-12F3-70B7-11D72D0CF6A4}"/>
              </a:ext>
            </a:extLst>
          </p:cNvPr>
          <p:cNvSpPr/>
          <p:nvPr/>
        </p:nvSpPr>
        <p:spPr>
          <a:xfrm>
            <a:off x="2183259" y="4176754"/>
            <a:ext cx="1167684" cy="121486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b="1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8560FC3C-26CE-5BC9-5331-2FBB455A201B}"/>
              </a:ext>
            </a:extLst>
          </p:cNvPr>
          <p:cNvSpPr/>
          <p:nvPr/>
        </p:nvSpPr>
        <p:spPr>
          <a:xfrm>
            <a:off x="6008127" y="4148876"/>
            <a:ext cx="1167684" cy="121486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b="1"/>
          </a:p>
        </p:txBody>
      </p:sp>
      <p:sp>
        <p:nvSpPr>
          <p:cNvPr id="60" name="Google Shape;105;p2">
            <a:extLst>
              <a:ext uri="{FF2B5EF4-FFF2-40B4-BE49-F238E27FC236}">
                <a16:creationId xmlns:a16="http://schemas.microsoft.com/office/drawing/2014/main" id="{C9492399-AB1C-3395-7983-004F56D109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09" y="1122218"/>
            <a:ext cx="8821882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Slice the d-dim data per spatial start point → each slice becomes a 1D multiset → solve with 1D Apriori-Window.</a:t>
            </a:r>
          </a:p>
        </p:txBody>
      </p:sp>
    </p:spTree>
    <p:extLst>
      <p:ext uri="{BB962C8B-B14F-4D97-AF65-F5344CB8AC3E}">
        <p14:creationId xmlns:p14="http://schemas.microsoft.com/office/powerpoint/2010/main" val="10246704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9380FAE9-2F26-D171-6778-80E751D34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A6776825-03B7-4E2C-B8D0-0AEEEA881B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Reduction to 1D per fixed spatial start point</a:t>
            </a:r>
            <a:endParaRPr b="1" dirty="0"/>
          </a:p>
        </p:txBody>
      </p: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6BEAB22C-180A-0706-ADE8-CF9F48C520DC}"/>
              </a:ext>
            </a:extLst>
          </p:cNvPr>
          <p:cNvGrpSpPr/>
          <p:nvPr/>
        </p:nvGrpSpPr>
        <p:grpSpPr>
          <a:xfrm>
            <a:off x="2260715" y="3061322"/>
            <a:ext cx="1037667" cy="2237198"/>
            <a:chOff x="950576" y="3382930"/>
            <a:chExt cx="1037667" cy="2237198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27224A88-4F78-5191-3BED-EF6FC2A649C9}"/>
                </a:ext>
              </a:extLst>
            </p:cNvPr>
            <p:cNvSpPr/>
            <p:nvPr/>
          </p:nvSpPr>
          <p:spPr>
            <a:xfrm>
              <a:off x="950576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E8989A4-D83D-44FE-AED1-F0DE6335698B}"/>
                </a:ext>
              </a:extLst>
            </p:cNvPr>
            <p:cNvSpPr/>
            <p:nvPr/>
          </p:nvSpPr>
          <p:spPr>
            <a:xfrm>
              <a:off x="950576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81A67FB7-F5D4-36E7-AFE3-A47694882DFB}"/>
                </a:ext>
              </a:extLst>
            </p:cNvPr>
            <p:cNvSpPr/>
            <p:nvPr/>
          </p:nvSpPr>
          <p:spPr>
            <a:xfrm>
              <a:off x="959903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B621524F-CA7E-C212-7725-51D51645DC4F}"/>
                </a:ext>
              </a:extLst>
            </p:cNvPr>
            <p:cNvSpPr/>
            <p:nvPr/>
          </p:nvSpPr>
          <p:spPr>
            <a:xfrm>
              <a:off x="950576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00E024B0-98A0-A888-D8D9-8F0BA215F702}"/>
                </a:ext>
              </a:extLst>
            </p:cNvPr>
            <p:cNvSpPr/>
            <p:nvPr/>
          </p:nvSpPr>
          <p:spPr>
            <a:xfrm>
              <a:off x="1508175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7E915993-B995-05FC-0A65-F215F815D626}"/>
                </a:ext>
              </a:extLst>
            </p:cNvPr>
            <p:cNvSpPr/>
            <p:nvPr/>
          </p:nvSpPr>
          <p:spPr>
            <a:xfrm>
              <a:off x="1508175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D233D0AA-1BE1-A0EC-3446-090272605F6F}"/>
                </a:ext>
              </a:extLst>
            </p:cNvPr>
            <p:cNvSpPr/>
            <p:nvPr/>
          </p:nvSpPr>
          <p:spPr>
            <a:xfrm>
              <a:off x="1517502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B1C18B20-DB39-3AAC-5BCB-A5DC1F98A691}"/>
                </a:ext>
              </a:extLst>
            </p:cNvPr>
            <p:cNvSpPr/>
            <p:nvPr/>
          </p:nvSpPr>
          <p:spPr>
            <a:xfrm>
              <a:off x="1508175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</p:grp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A4EE8907-0FC9-8079-7F27-6AB6D03572F7}"/>
              </a:ext>
            </a:extLst>
          </p:cNvPr>
          <p:cNvGrpSpPr/>
          <p:nvPr/>
        </p:nvGrpSpPr>
        <p:grpSpPr>
          <a:xfrm>
            <a:off x="4165559" y="3084275"/>
            <a:ext cx="1046994" cy="2237198"/>
            <a:chOff x="1508175" y="3382930"/>
            <a:chExt cx="1046994" cy="2237198"/>
          </a:xfrm>
        </p:grpSpPr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2F8D87EE-5CDD-3DF0-2335-899CA30591B5}"/>
                </a:ext>
              </a:extLst>
            </p:cNvPr>
            <p:cNvSpPr/>
            <p:nvPr/>
          </p:nvSpPr>
          <p:spPr>
            <a:xfrm>
              <a:off x="1508175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593E8377-C757-91CC-06CE-40D3C2A4787C}"/>
                </a:ext>
              </a:extLst>
            </p:cNvPr>
            <p:cNvSpPr/>
            <p:nvPr/>
          </p:nvSpPr>
          <p:spPr>
            <a:xfrm>
              <a:off x="1508175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D3BFEBA4-9C11-56BA-5A7D-AAE20BA9F6D9}"/>
                </a:ext>
              </a:extLst>
            </p:cNvPr>
            <p:cNvSpPr/>
            <p:nvPr/>
          </p:nvSpPr>
          <p:spPr>
            <a:xfrm>
              <a:off x="1517502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7E780CA7-0F10-D894-FD3F-BBAE8EE47F74}"/>
                </a:ext>
              </a:extLst>
            </p:cNvPr>
            <p:cNvSpPr/>
            <p:nvPr/>
          </p:nvSpPr>
          <p:spPr>
            <a:xfrm>
              <a:off x="1508175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96FEC158-3E5C-028A-9E3E-982B0749EEFD}"/>
                </a:ext>
              </a:extLst>
            </p:cNvPr>
            <p:cNvSpPr/>
            <p:nvPr/>
          </p:nvSpPr>
          <p:spPr>
            <a:xfrm>
              <a:off x="2075101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C2B56177-A7BC-3783-74BE-53FA5D9C795D}"/>
                </a:ext>
              </a:extLst>
            </p:cNvPr>
            <p:cNvSpPr/>
            <p:nvPr/>
          </p:nvSpPr>
          <p:spPr>
            <a:xfrm>
              <a:off x="2075101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B7738D4B-7771-679F-EDA4-B99337926ED3}"/>
                </a:ext>
              </a:extLst>
            </p:cNvPr>
            <p:cNvSpPr/>
            <p:nvPr/>
          </p:nvSpPr>
          <p:spPr>
            <a:xfrm>
              <a:off x="2084428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19C68B5D-79AC-9D09-D785-A0CB61D34991}"/>
                </a:ext>
              </a:extLst>
            </p:cNvPr>
            <p:cNvSpPr/>
            <p:nvPr/>
          </p:nvSpPr>
          <p:spPr>
            <a:xfrm>
              <a:off x="2075101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</p:grpSp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AA50C034-9454-62CB-D754-9108E0F0A448}"/>
              </a:ext>
            </a:extLst>
          </p:cNvPr>
          <p:cNvGrpSpPr/>
          <p:nvPr/>
        </p:nvGrpSpPr>
        <p:grpSpPr>
          <a:xfrm>
            <a:off x="6077897" y="3034126"/>
            <a:ext cx="1061963" cy="2237198"/>
            <a:chOff x="2075101" y="3382930"/>
            <a:chExt cx="1061963" cy="2237198"/>
          </a:xfrm>
        </p:grpSpPr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6133AAAF-B853-3B23-7D33-26297239529A}"/>
                </a:ext>
              </a:extLst>
            </p:cNvPr>
            <p:cNvSpPr/>
            <p:nvPr/>
          </p:nvSpPr>
          <p:spPr>
            <a:xfrm>
              <a:off x="2075101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18D8A8D2-79BF-6292-56AB-C1B0A7B393FC}"/>
                </a:ext>
              </a:extLst>
            </p:cNvPr>
            <p:cNvSpPr/>
            <p:nvPr/>
          </p:nvSpPr>
          <p:spPr>
            <a:xfrm>
              <a:off x="2075101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AF24CA64-87D8-0D13-6425-421733C765C3}"/>
                </a:ext>
              </a:extLst>
            </p:cNvPr>
            <p:cNvSpPr/>
            <p:nvPr/>
          </p:nvSpPr>
          <p:spPr>
            <a:xfrm>
              <a:off x="2084428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F6693713-7600-1DA5-4C97-7EF48054E466}"/>
                </a:ext>
              </a:extLst>
            </p:cNvPr>
            <p:cNvSpPr/>
            <p:nvPr/>
          </p:nvSpPr>
          <p:spPr>
            <a:xfrm>
              <a:off x="2075101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CF31452A-1DD4-4285-1F8E-F194CF2A37CF}"/>
                </a:ext>
              </a:extLst>
            </p:cNvPr>
            <p:cNvSpPr/>
            <p:nvPr/>
          </p:nvSpPr>
          <p:spPr>
            <a:xfrm>
              <a:off x="2656996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33798CF2-96AC-978E-1C4C-B863643AF0CB}"/>
                </a:ext>
              </a:extLst>
            </p:cNvPr>
            <p:cNvSpPr/>
            <p:nvPr/>
          </p:nvSpPr>
          <p:spPr>
            <a:xfrm>
              <a:off x="2656996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58868558-E0DE-82E3-6E0E-D45E058E657D}"/>
                </a:ext>
              </a:extLst>
            </p:cNvPr>
            <p:cNvSpPr/>
            <p:nvPr/>
          </p:nvSpPr>
          <p:spPr>
            <a:xfrm>
              <a:off x="2666323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50280072-0F91-A0DE-55E5-54F2F58D6122}"/>
                </a:ext>
              </a:extLst>
            </p:cNvPr>
            <p:cNvSpPr/>
            <p:nvPr/>
          </p:nvSpPr>
          <p:spPr>
            <a:xfrm>
              <a:off x="2656996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</p:grp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FDF9218-C2B3-785E-4E6D-79439B3C8E0D}"/>
              </a:ext>
            </a:extLst>
          </p:cNvPr>
          <p:cNvSpPr/>
          <p:nvPr/>
        </p:nvSpPr>
        <p:spPr>
          <a:xfrm>
            <a:off x="4115922" y="3587831"/>
            <a:ext cx="1167684" cy="121486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b="1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BE09B279-0331-5CB7-A580-96BE3A78F15E}"/>
              </a:ext>
            </a:extLst>
          </p:cNvPr>
          <p:cNvSpPr/>
          <p:nvPr/>
        </p:nvSpPr>
        <p:spPr>
          <a:xfrm>
            <a:off x="2203488" y="3576680"/>
            <a:ext cx="1167684" cy="121486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b="1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0EF5CEA4-F740-03F3-F607-223DF3CB81FE}"/>
              </a:ext>
            </a:extLst>
          </p:cNvPr>
          <p:cNvSpPr/>
          <p:nvPr/>
        </p:nvSpPr>
        <p:spPr>
          <a:xfrm>
            <a:off x="6028356" y="3548802"/>
            <a:ext cx="1167684" cy="121486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b="1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3601EF8E-AAA3-9C6A-DA86-6AB873FB6F36}"/>
              </a:ext>
            </a:extLst>
          </p:cNvPr>
          <p:cNvGrpSpPr/>
          <p:nvPr/>
        </p:nvGrpSpPr>
        <p:grpSpPr>
          <a:xfrm>
            <a:off x="7448423" y="2078172"/>
            <a:ext cx="1383382" cy="810491"/>
            <a:chOff x="7286569" y="2009907"/>
            <a:chExt cx="1383382" cy="8104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B01C4D12-E9EC-FB6C-F119-FC7D567F005F}"/>
                    </a:ext>
                  </a:extLst>
                </p:cNvPr>
                <p:cNvSpPr txBox="1"/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kumimoji="1" lang="en-US" altLang="ja-JP" sz="1800" dirty="0"/>
                </a:p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kumimoji="1" lang="en-US" altLang="ja-JP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kumimoji="1" lang="en-US" altLang="ja-JP" sz="1800" dirty="0"/>
                </a:p>
              </p:txBody>
            </p:sp>
          </mc:Choice>
          <mc:Fallback xmlns="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B01C4D12-E9EC-FB6C-F119-FC7D567F00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大かっこ 6">
              <a:extLst>
                <a:ext uri="{FF2B5EF4-FFF2-40B4-BE49-F238E27FC236}">
                  <a16:creationId xmlns:a16="http://schemas.microsoft.com/office/drawing/2014/main" id="{A4EB40E3-5C05-1A80-96E6-A5EF65561075}"/>
                </a:ext>
              </a:extLst>
            </p:cNvPr>
            <p:cNvSpPr/>
            <p:nvPr/>
          </p:nvSpPr>
          <p:spPr>
            <a:xfrm>
              <a:off x="7430610" y="2009907"/>
              <a:ext cx="1020932" cy="810491"/>
            </a:xfrm>
            <a:prstGeom prst="bracketPair">
              <a:avLst>
                <a:gd name="adj" fmla="val 12286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0" name="Google Shape;105;p2">
            <a:extLst>
              <a:ext uri="{FF2B5EF4-FFF2-40B4-BE49-F238E27FC236}">
                <a16:creationId xmlns:a16="http://schemas.microsoft.com/office/drawing/2014/main" id="{67BE5770-4FC4-7ABC-C174-EE1FF80FEF13}"/>
              </a:ext>
            </a:extLst>
          </p:cNvPr>
          <p:cNvSpPr txBox="1">
            <a:spLocks/>
          </p:cNvSpPr>
          <p:nvPr/>
        </p:nvSpPr>
        <p:spPr>
          <a:xfrm>
            <a:off x="103909" y="1122218"/>
            <a:ext cx="8821882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Font typeface="Arial"/>
              <a:buNone/>
            </a:pPr>
            <a:r>
              <a:rPr lang="ja-JP" altLang="ja-JP"/>
              <a:t>Slice the d-dim data per spatial start point → each slice becomes a 1D multiset → solve with 1D Apriori-Window.</a:t>
            </a:r>
          </a:p>
        </p:txBody>
      </p:sp>
    </p:spTree>
    <p:extLst>
      <p:ext uri="{BB962C8B-B14F-4D97-AF65-F5344CB8AC3E}">
        <p14:creationId xmlns:p14="http://schemas.microsoft.com/office/powerpoint/2010/main" val="1328742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82B22A01-214F-4CD3-B172-662052FE4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43EF1CEA-5160-8C03-7C7F-4EFDCF7402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Reduction to 1D per fixed spatial start point</a:t>
            </a:r>
            <a:endParaRPr b="1" dirty="0"/>
          </a:p>
        </p:txBody>
      </p: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F1CE5E29-17B7-C5AC-9CF2-39B4A10BA359}"/>
              </a:ext>
            </a:extLst>
          </p:cNvPr>
          <p:cNvGrpSpPr/>
          <p:nvPr/>
        </p:nvGrpSpPr>
        <p:grpSpPr>
          <a:xfrm>
            <a:off x="2260715" y="3061322"/>
            <a:ext cx="1037667" cy="2237198"/>
            <a:chOff x="950576" y="3382930"/>
            <a:chExt cx="1037667" cy="2237198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3066EE87-5055-ADDE-7525-122A5A19AD9B}"/>
                </a:ext>
              </a:extLst>
            </p:cNvPr>
            <p:cNvSpPr/>
            <p:nvPr/>
          </p:nvSpPr>
          <p:spPr>
            <a:xfrm>
              <a:off x="950576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F4CA2C73-3A04-756C-1D41-DEAD4FAD144C}"/>
                </a:ext>
              </a:extLst>
            </p:cNvPr>
            <p:cNvSpPr/>
            <p:nvPr/>
          </p:nvSpPr>
          <p:spPr>
            <a:xfrm>
              <a:off x="950576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7B618FD0-C62F-19DE-7A6C-86B6E1BEE9A4}"/>
                </a:ext>
              </a:extLst>
            </p:cNvPr>
            <p:cNvSpPr/>
            <p:nvPr/>
          </p:nvSpPr>
          <p:spPr>
            <a:xfrm>
              <a:off x="959903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D89532C4-A8B8-15B4-05F2-93DEAEBBC544}"/>
                </a:ext>
              </a:extLst>
            </p:cNvPr>
            <p:cNvSpPr/>
            <p:nvPr/>
          </p:nvSpPr>
          <p:spPr>
            <a:xfrm>
              <a:off x="950576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7848E2A1-237E-0391-526D-C79D25011BED}"/>
                </a:ext>
              </a:extLst>
            </p:cNvPr>
            <p:cNvSpPr/>
            <p:nvPr/>
          </p:nvSpPr>
          <p:spPr>
            <a:xfrm>
              <a:off x="1508175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10B37F25-4FF0-BFE0-E12C-3F02487458D6}"/>
                </a:ext>
              </a:extLst>
            </p:cNvPr>
            <p:cNvSpPr/>
            <p:nvPr/>
          </p:nvSpPr>
          <p:spPr>
            <a:xfrm>
              <a:off x="1508175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D38C4533-6680-15FA-C913-D55C22E009EC}"/>
                </a:ext>
              </a:extLst>
            </p:cNvPr>
            <p:cNvSpPr/>
            <p:nvPr/>
          </p:nvSpPr>
          <p:spPr>
            <a:xfrm>
              <a:off x="1517502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3441B823-D820-FD1C-0C5A-45FF3DAED207}"/>
                </a:ext>
              </a:extLst>
            </p:cNvPr>
            <p:cNvSpPr/>
            <p:nvPr/>
          </p:nvSpPr>
          <p:spPr>
            <a:xfrm>
              <a:off x="1508175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</p:grp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353A3405-D18B-CB9A-D48F-7668FB525924}"/>
              </a:ext>
            </a:extLst>
          </p:cNvPr>
          <p:cNvGrpSpPr/>
          <p:nvPr/>
        </p:nvGrpSpPr>
        <p:grpSpPr>
          <a:xfrm>
            <a:off x="4165559" y="3084275"/>
            <a:ext cx="1046994" cy="2237198"/>
            <a:chOff x="1508175" y="3382930"/>
            <a:chExt cx="1046994" cy="2237198"/>
          </a:xfrm>
        </p:grpSpPr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CAD59083-E8D6-5BF0-2D80-0BC2F24075E7}"/>
                </a:ext>
              </a:extLst>
            </p:cNvPr>
            <p:cNvSpPr/>
            <p:nvPr/>
          </p:nvSpPr>
          <p:spPr>
            <a:xfrm>
              <a:off x="1508175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9FA88529-2558-63DC-0D03-ED47E6E57E3F}"/>
                </a:ext>
              </a:extLst>
            </p:cNvPr>
            <p:cNvSpPr/>
            <p:nvPr/>
          </p:nvSpPr>
          <p:spPr>
            <a:xfrm>
              <a:off x="1508175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C86BD693-3DD8-0E67-5BFA-3FEFBDE2F71A}"/>
                </a:ext>
              </a:extLst>
            </p:cNvPr>
            <p:cNvSpPr/>
            <p:nvPr/>
          </p:nvSpPr>
          <p:spPr>
            <a:xfrm>
              <a:off x="1517502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1CFAECA3-987B-F354-5D06-8FF533B42AEE}"/>
                </a:ext>
              </a:extLst>
            </p:cNvPr>
            <p:cNvSpPr/>
            <p:nvPr/>
          </p:nvSpPr>
          <p:spPr>
            <a:xfrm>
              <a:off x="1508175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FBF0BA89-D9AA-1B2D-ACFF-818A76F5AB00}"/>
                </a:ext>
              </a:extLst>
            </p:cNvPr>
            <p:cNvSpPr/>
            <p:nvPr/>
          </p:nvSpPr>
          <p:spPr>
            <a:xfrm>
              <a:off x="2075101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255B4E02-7229-2EF4-8695-9C0A166888BB}"/>
                </a:ext>
              </a:extLst>
            </p:cNvPr>
            <p:cNvSpPr/>
            <p:nvPr/>
          </p:nvSpPr>
          <p:spPr>
            <a:xfrm>
              <a:off x="2075101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861740A0-E9C2-E307-5CD2-D49816D563E7}"/>
                </a:ext>
              </a:extLst>
            </p:cNvPr>
            <p:cNvSpPr/>
            <p:nvPr/>
          </p:nvSpPr>
          <p:spPr>
            <a:xfrm>
              <a:off x="2084428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45118B9E-4AD4-5E63-B009-832E8E816C28}"/>
                </a:ext>
              </a:extLst>
            </p:cNvPr>
            <p:cNvSpPr/>
            <p:nvPr/>
          </p:nvSpPr>
          <p:spPr>
            <a:xfrm>
              <a:off x="2075101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</p:grpSp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5995A761-02D5-0687-D1A6-CC6E58117A49}"/>
              </a:ext>
            </a:extLst>
          </p:cNvPr>
          <p:cNvGrpSpPr/>
          <p:nvPr/>
        </p:nvGrpSpPr>
        <p:grpSpPr>
          <a:xfrm>
            <a:off x="6077897" y="3034126"/>
            <a:ext cx="1061963" cy="2237198"/>
            <a:chOff x="2075101" y="3382930"/>
            <a:chExt cx="1061963" cy="2237198"/>
          </a:xfrm>
        </p:grpSpPr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EC8491B9-A850-53EE-5A20-94AA2BAAB80D}"/>
                </a:ext>
              </a:extLst>
            </p:cNvPr>
            <p:cNvSpPr/>
            <p:nvPr/>
          </p:nvSpPr>
          <p:spPr>
            <a:xfrm>
              <a:off x="2075101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A72EBDFF-FFF8-5B7D-1168-E90F04EE22F5}"/>
                </a:ext>
              </a:extLst>
            </p:cNvPr>
            <p:cNvSpPr/>
            <p:nvPr/>
          </p:nvSpPr>
          <p:spPr>
            <a:xfrm>
              <a:off x="2075101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2D1B0C3E-9B72-0B02-4C93-B5B9736BA552}"/>
                </a:ext>
              </a:extLst>
            </p:cNvPr>
            <p:cNvSpPr/>
            <p:nvPr/>
          </p:nvSpPr>
          <p:spPr>
            <a:xfrm>
              <a:off x="2084428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0FD53E4F-29B7-1BF3-B449-0B5B2E0D6887}"/>
                </a:ext>
              </a:extLst>
            </p:cNvPr>
            <p:cNvSpPr/>
            <p:nvPr/>
          </p:nvSpPr>
          <p:spPr>
            <a:xfrm>
              <a:off x="2075101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EB0CC543-BDBD-85B0-3F7E-4665E9B2063A}"/>
                </a:ext>
              </a:extLst>
            </p:cNvPr>
            <p:cNvSpPr/>
            <p:nvPr/>
          </p:nvSpPr>
          <p:spPr>
            <a:xfrm>
              <a:off x="2656996" y="5151495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6692B4A6-0641-4305-5430-9C49F41E47D6}"/>
                </a:ext>
              </a:extLst>
            </p:cNvPr>
            <p:cNvSpPr/>
            <p:nvPr/>
          </p:nvSpPr>
          <p:spPr>
            <a:xfrm>
              <a:off x="2656996" y="4557446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BC6189DF-9DA0-ACE4-7228-18C06EB15140}"/>
                </a:ext>
              </a:extLst>
            </p:cNvPr>
            <p:cNvSpPr/>
            <p:nvPr/>
          </p:nvSpPr>
          <p:spPr>
            <a:xfrm>
              <a:off x="2666323" y="3963397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D9F3DE86-921A-1BB7-0B64-2E1EFB8632A5}"/>
                </a:ext>
              </a:extLst>
            </p:cNvPr>
            <p:cNvSpPr/>
            <p:nvPr/>
          </p:nvSpPr>
          <p:spPr>
            <a:xfrm>
              <a:off x="2656996" y="3382930"/>
              <a:ext cx="470741" cy="46863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</p:grp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4F08D50-F025-7BAD-7138-156593000DA3}"/>
              </a:ext>
            </a:extLst>
          </p:cNvPr>
          <p:cNvSpPr/>
          <p:nvPr/>
        </p:nvSpPr>
        <p:spPr>
          <a:xfrm>
            <a:off x="4105518" y="2993782"/>
            <a:ext cx="1167684" cy="121486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b="1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92B6224C-FF8F-2173-53A0-AAB12E44624E}"/>
              </a:ext>
            </a:extLst>
          </p:cNvPr>
          <p:cNvSpPr/>
          <p:nvPr/>
        </p:nvSpPr>
        <p:spPr>
          <a:xfrm>
            <a:off x="2193084" y="2982631"/>
            <a:ext cx="1167684" cy="121486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b="1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EF45D400-0974-B4DD-A2BE-7D3F8520B197}"/>
              </a:ext>
            </a:extLst>
          </p:cNvPr>
          <p:cNvSpPr/>
          <p:nvPr/>
        </p:nvSpPr>
        <p:spPr>
          <a:xfrm>
            <a:off x="6017952" y="2954753"/>
            <a:ext cx="1167684" cy="121486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b="1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70FB75B4-3B19-1096-72C8-AB48B1F013B1}"/>
              </a:ext>
            </a:extLst>
          </p:cNvPr>
          <p:cNvGrpSpPr/>
          <p:nvPr/>
        </p:nvGrpSpPr>
        <p:grpSpPr>
          <a:xfrm>
            <a:off x="7448423" y="2078172"/>
            <a:ext cx="1383382" cy="810491"/>
            <a:chOff x="7286569" y="2009907"/>
            <a:chExt cx="1383382" cy="8104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27887F3C-8AD8-25E0-C7A0-7F2F4BBA6F12}"/>
                    </a:ext>
                  </a:extLst>
                </p:cNvPr>
                <p:cNvSpPr txBox="1"/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kumimoji="1" lang="en-US" altLang="ja-JP" sz="1800" dirty="0"/>
                </a:p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kumimoji="1"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kumimoji="1" lang="en-US" altLang="ja-JP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kumimoji="1" lang="en-US" altLang="ja-JP" sz="1800" dirty="0"/>
                </a:p>
              </p:txBody>
            </p:sp>
          </mc:Choice>
          <mc:Fallback xmlns="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27887F3C-8AD8-25E0-C7A0-7F2F4BBA6F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大かっこ 6">
              <a:extLst>
                <a:ext uri="{FF2B5EF4-FFF2-40B4-BE49-F238E27FC236}">
                  <a16:creationId xmlns:a16="http://schemas.microsoft.com/office/drawing/2014/main" id="{BB25E2C5-07F4-B07D-5003-7F345A21B9D0}"/>
                </a:ext>
              </a:extLst>
            </p:cNvPr>
            <p:cNvSpPr/>
            <p:nvPr/>
          </p:nvSpPr>
          <p:spPr>
            <a:xfrm>
              <a:off x="7430610" y="2009907"/>
              <a:ext cx="1020932" cy="810491"/>
            </a:xfrm>
            <a:prstGeom prst="bracketPair">
              <a:avLst>
                <a:gd name="adj" fmla="val 12286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0" name="Google Shape;105;p2">
            <a:extLst>
              <a:ext uri="{FF2B5EF4-FFF2-40B4-BE49-F238E27FC236}">
                <a16:creationId xmlns:a16="http://schemas.microsoft.com/office/drawing/2014/main" id="{8A6714F9-2419-C13C-0B2F-5EA43DA68AA5}"/>
              </a:ext>
            </a:extLst>
          </p:cNvPr>
          <p:cNvSpPr txBox="1">
            <a:spLocks/>
          </p:cNvSpPr>
          <p:nvPr/>
        </p:nvSpPr>
        <p:spPr>
          <a:xfrm>
            <a:off x="103909" y="1122218"/>
            <a:ext cx="8821882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Font typeface="Arial"/>
              <a:buNone/>
            </a:pPr>
            <a:r>
              <a:rPr lang="ja-JP" altLang="ja-JP"/>
              <a:t>Slice the d-dim data per spatial start point → each slice becomes a 1D multiset → solve with 1D Apriori-Window.</a:t>
            </a:r>
          </a:p>
        </p:txBody>
      </p:sp>
    </p:spTree>
    <p:extLst>
      <p:ext uri="{BB962C8B-B14F-4D97-AF65-F5344CB8AC3E}">
        <p14:creationId xmlns:p14="http://schemas.microsoft.com/office/powerpoint/2010/main" val="416598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DFD02D40-168C-4967-CFA9-26648EBB2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132F62FF-6673-6E7B-0F19-CA7467E5E0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ja-JP" altLang="ja-JP" b="1"/>
              <a:t>Determine density using sliding window</a:t>
            </a:r>
            <a:endParaRPr b="1" dirty="0"/>
          </a:p>
        </p:txBody>
      </p:sp>
      <p:sp>
        <p:nvSpPr>
          <p:cNvPr id="4" name="Google Shape;105;p2">
            <a:extLst>
              <a:ext uri="{FF2B5EF4-FFF2-40B4-BE49-F238E27FC236}">
                <a16:creationId xmlns:a16="http://schemas.microsoft.com/office/drawing/2014/main" id="{3973DB03-4621-8E61-1B22-C39B437F610D}"/>
              </a:ext>
            </a:extLst>
          </p:cNvPr>
          <p:cNvSpPr txBox="1">
            <a:spLocks/>
          </p:cNvSpPr>
          <p:nvPr/>
        </p:nvSpPr>
        <p:spPr>
          <a:xfrm>
            <a:off x="103908" y="1122218"/>
            <a:ext cx="8763867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Counts pattern occurrences within a </a:t>
            </a:r>
            <a:r>
              <a:rPr lang="ja-JP" altLang="ja-JP" b="1">
                <a:solidFill>
                  <a:srgbClr val="C00000"/>
                </a:solidFill>
              </a:rPr>
              <a:t>sliding window </a:t>
            </a:r>
            <a:r>
              <a:rPr lang="ja-JP" altLang="ja-JP"/>
              <a:t>and identifies start positions that meet the threshold.</a:t>
            </a:r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037D3CD7-A7C7-51DD-9933-281CACE37654}"/>
              </a:ext>
            </a:extLst>
          </p:cNvPr>
          <p:cNvGrpSpPr/>
          <p:nvPr/>
        </p:nvGrpSpPr>
        <p:grpSpPr>
          <a:xfrm>
            <a:off x="1437698" y="2920430"/>
            <a:ext cx="6276331" cy="1638965"/>
            <a:chOff x="1437698" y="2920430"/>
            <a:chExt cx="6276331" cy="1638965"/>
          </a:xfrm>
        </p:grpSpPr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B538FBE2-B23E-A6D3-E0E9-753399D56004}"/>
                </a:ext>
              </a:extLst>
            </p:cNvPr>
            <p:cNvSpPr/>
            <p:nvPr/>
          </p:nvSpPr>
          <p:spPr>
            <a:xfrm>
              <a:off x="6360002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D52AF657-25E5-4C87-3E5A-00B189D4C32F}"/>
                </a:ext>
              </a:extLst>
            </p:cNvPr>
            <p:cNvSpPr/>
            <p:nvPr/>
          </p:nvSpPr>
          <p:spPr>
            <a:xfrm>
              <a:off x="5539618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D95B22DB-EA7D-BEFC-4EE8-EFF089E9FD9E}"/>
                </a:ext>
              </a:extLst>
            </p:cNvPr>
            <p:cNvSpPr/>
            <p:nvPr/>
          </p:nvSpPr>
          <p:spPr>
            <a:xfrm>
              <a:off x="4719234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515939A5-1907-5835-4BA6-ACC865A6E2EC}"/>
                </a:ext>
              </a:extLst>
            </p:cNvPr>
            <p:cNvSpPr/>
            <p:nvPr/>
          </p:nvSpPr>
          <p:spPr>
            <a:xfrm>
              <a:off x="3898850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6C34C3A8-5150-ED23-FCEC-D7876EC69046}"/>
                </a:ext>
              </a:extLst>
            </p:cNvPr>
            <p:cNvSpPr/>
            <p:nvPr/>
          </p:nvSpPr>
          <p:spPr>
            <a:xfrm>
              <a:off x="1437698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AEBD9CAB-223A-4C06-B643-34BCB63198E4}"/>
                </a:ext>
              </a:extLst>
            </p:cNvPr>
            <p:cNvSpPr/>
            <p:nvPr/>
          </p:nvSpPr>
          <p:spPr>
            <a:xfrm>
              <a:off x="2258082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FD56A680-DC69-06FF-610C-FC0DFAB33081}"/>
                </a:ext>
              </a:extLst>
            </p:cNvPr>
            <p:cNvSpPr/>
            <p:nvPr/>
          </p:nvSpPr>
          <p:spPr>
            <a:xfrm>
              <a:off x="3078466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8B56FED1-02E5-F32E-DA6A-4008CFD054EC}"/>
                </a:ext>
              </a:extLst>
            </p:cNvPr>
            <p:cNvSpPr/>
            <p:nvPr/>
          </p:nvSpPr>
          <p:spPr>
            <a:xfrm>
              <a:off x="7180388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8CE1167E-AC48-4015-84C3-7CB489A425BC}"/>
                </a:ext>
              </a:extLst>
            </p:cNvPr>
            <p:cNvSpPr/>
            <p:nvPr/>
          </p:nvSpPr>
          <p:spPr>
            <a:xfrm>
              <a:off x="1444138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DA247584-8F50-FEC2-8289-BC2E536D62E5}"/>
                </a:ext>
              </a:extLst>
            </p:cNvPr>
            <p:cNvSpPr/>
            <p:nvPr/>
          </p:nvSpPr>
          <p:spPr>
            <a:xfrm>
              <a:off x="2249068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BC</a:t>
              </a:r>
              <a:endParaRPr kumimoji="1" lang="ja-JP" altLang="en-US" sz="1800" b="1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0DE8E11D-DD75-15F0-C0B2-F384D21C6F34}"/>
                </a:ext>
              </a:extLst>
            </p:cNvPr>
            <p:cNvSpPr/>
            <p:nvPr/>
          </p:nvSpPr>
          <p:spPr>
            <a:xfrm>
              <a:off x="3916882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F6AFF6B5-4C7E-2ABC-B603-C3471C5F690D}"/>
                </a:ext>
              </a:extLst>
            </p:cNvPr>
            <p:cNvSpPr/>
            <p:nvPr/>
          </p:nvSpPr>
          <p:spPr>
            <a:xfrm>
              <a:off x="5526741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E4C9315E-7CAA-BB45-6050-018C12A3C7F4}"/>
                </a:ext>
              </a:extLst>
            </p:cNvPr>
            <p:cNvSpPr/>
            <p:nvPr/>
          </p:nvSpPr>
          <p:spPr>
            <a:xfrm>
              <a:off x="7188115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B6E0DD50-2156-B2EF-F127-3E3CA5C76453}"/>
                </a:ext>
              </a:extLst>
            </p:cNvPr>
            <p:cNvSpPr/>
            <p:nvPr/>
          </p:nvSpPr>
          <p:spPr>
            <a:xfrm>
              <a:off x="1616915" y="2920430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1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5E8E0CD3-DF1E-954F-245D-0834877FC6CF}"/>
                </a:ext>
              </a:extLst>
            </p:cNvPr>
            <p:cNvSpPr/>
            <p:nvPr/>
          </p:nvSpPr>
          <p:spPr>
            <a:xfrm>
              <a:off x="2437299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2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CC89149C-57A5-99B9-9AB1-70553E25D630}"/>
                </a:ext>
              </a:extLst>
            </p:cNvPr>
            <p:cNvSpPr/>
            <p:nvPr/>
          </p:nvSpPr>
          <p:spPr>
            <a:xfrm>
              <a:off x="3263437" y="2927838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3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C92FDDEA-79E9-C92D-F84F-02B21CA69504}"/>
                </a:ext>
              </a:extLst>
            </p:cNvPr>
            <p:cNvSpPr/>
            <p:nvPr/>
          </p:nvSpPr>
          <p:spPr>
            <a:xfrm>
              <a:off x="4071922" y="2927838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4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8102FCA0-4F2D-1CD2-19C3-0B99758DEBB7}"/>
                </a:ext>
              </a:extLst>
            </p:cNvPr>
            <p:cNvSpPr/>
            <p:nvPr/>
          </p:nvSpPr>
          <p:spPr>
            <a:xfrm>
              <a:off x="4894529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5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7DFF458A-CC72-A31C-419A-2B0993EEDD61}"/>
                </a:ext>
              </a:extLst>
            </p:cNvPr>
            <p:cNvSpPr/>
            <p:nvPr/>
          </p:nvSpPr>
          <p:spPr>
            <a:xfrm>
              <a:off x="5706544" y="292783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6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BBC62ACB-A2AA-3635-0FF0-B58B622683E1}"/>
                </a:ext>
              </a:extLst>
            </p:cNvPr>
            <p:cNvSpPr/>
            <p:nvPr/>
          </p:nvSpPr>
          <p:spPr>
            <a:xfrm>
              <a:off x="6536212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7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75A5177E-C226-9004-3C2D-AAA9B5F5A280}"/>
                </a:ext>
              </a:extLst>
            </p:cNvPr>
            <p:cNvSpPr/>
            <p:nvPr/>
          </p:nvSpPr>
          <p:spPr>
            <a:xfrm>
              <a:off x="7348228" y="292077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8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6383824A-ED25-4D03-6B8F-A138B8C6B251}"/>
                </a:ext>
              </a:extLst>
            </p:cNvPr>
            <p:cNvSpPr/>
            <p:nvPr/>
          </p:nvSpPr>
          <p:spPr>
            <a:xfrm>
              <a:off x="1444138" y="4202704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544F8AC6-3659-2E64-AAC7-798C04CD6299}"/>
              </a:ext>
            </a:extLst>
          </p:cNvPr>
          <p:cNvGrpSpPr/>
          <p:nvPr/>
        </p:nvGrpSpPr>
        <p:grpSpPr>
          <a:xfrm>
            <a:off x="7431968" y="1974360"/>
            <a:ext cx="1383382" cy="810491"/>
            <a:chOff x="7286569" y="2009907"/>
            <a:chExt cx="1383382" cy="8104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97FD09C4-4B16-C138-D5E3-467316A3ED04}"/>
                    </a:ext>
                  </a:extLst>
                </p:cNvPr>
                <p:cNvSpPr txBox="1"/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=4</m:t>
                        </m:r>
                      </m:oMath>
                    </m:oMathPara>
                  </a14:m>
                  <a:endParaRPr kumimoji="1" lang="en-US" altLang="ja-JP" sz="1800" dirty="0"/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kumimoji="1" lang="en-US" altLang="ja-JP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ja-JP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kumimoji="1" lang="en-US" altLang="ja-JP" sz="1800" dirty="0"/>
                </a:p>
              </p:txBody>
            </p:sp>
          </mc:Choice>
          <mc:Fallback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97FD09C4-4B16-C138-D5E3-467316A3ED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blipFill>
                  <a:blip r:embed="rId3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大かっこ 26">
              <a:extLst>
                <a:ext uri="{FF2B5EF4-FFF2-40B4-BE49-F238E27FC236}">
                  <a16:creationId xmlns:a16="http://schemas.microsoft.com/office/drawing/2014/main" id="{A06EB3B9-4B10-CBD8-8AE3-6368CE0E5F6D}"/>
                </a:ext>
              </a:extLst>
            </p:cNvPr>
            <p:cNvSpPr/>
            <p:nvPr/>
          </p:nvSpPr>
          <p:spPr>
            <a:xfrm>
              <a:off x="7430610" y="2009907"/>
              <a:ext cx="1020932" cy="810491"/>
            </a:xfrm>
            <a:prstGeom prst="bracketPair">
              <a:avLst>
                <a:gd name="adj" fmla="val 12286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723751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0325460E-6CCD-0995-9806-87A64A69D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545FEAE6-B3DB-E570-2A05-241F20DCDD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ja-JP" altLang="ja-JP" b="1"/>
              <a:t>Determine density using sliding window</a:t>
            </a:r>
            <a:endParaRPr b="1" dirty="0"/>
          </a:p>
        </p:txBody>
      </p:sp>
      <p:sp>
        <p:nvSpPr>
          <p:cNvPr id="4" name="Google Shape;105;p2">
            <a:extLst>
              <a:ext uri="{FF2B5EF4-FFF2-40B4-BE49-F238E27FC236}">
                <a16:creationId xmlns:a16="http://schemas.microsoft.com/office/drawing/2014/main" id="{8545B311-914E-A69C-6747-78A171BD1C70}"/>
              </a:ext>
            </a:extLst>
          </p:cNvPr>
          <p:cNvSpPr txBox="1">
            <a:spLocks/>
          </p:cNvSpPr>
          <p:nvPr/>
        </p:nvSpPr>
        <p:spPr>
          <a:xfrm>
            <a:off x="103908" y="1122218"/>
            <a:ext cx="8763867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Counts pattern occurrences within a </a:t>
            </a:r>
            <a:r>
              <a:rPr lang="ja-JP" altLang="ja-JP" b="1">
                <a:solidFill>
                  <a:srgbClr val="C00000"/>
                </a:solidFill>
              </a:rPr>
              <a:t>sliding window </a:t>
            </a:r>
            <a:r>
              <a:rPr lang="ja-JP" altLang="ja-JP"/>
              <a:t>and identifies start positions that meet the threshold.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012091E-F1CC-8A9D-68D1-868EF37E3601}"/>
              </a:ext>
            </a:extLst>
          </p:cNvPr>
          <p:cNvSpPr/>
          <p:nvPr/>
        </p:nvSpPr>
        <p:spPr>
          <a:xfrm>
            <a:off x="1236229" y="2820399"/>
            <a:ext cx="3363828" cy="194464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b="1"/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E226C078-EF0F-CFE7-329E-C25C2065FF8C}"/>
              </a:ext>
            </a:extLst>
          </p:cNvPr>
          <p:cNvGrpSpPr/>
          <p:nvPr/>
        </p:nvGrpSpPr>
        <p:grpSpPr>
          <a:xfrm>
            <a:off x="1437698" y="2920430"/>
            <a:ext cx="6276331" cy="1638965"/>
            <a:chOff x="1437698" y="2920430"/>
            <a:chExt cx="6276331" cy="1638965"/>
          </a:xfrm>
        </p:grpSpPr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863934C5-0CCE-CF70-5256-0BF9C8F14606}"/>
                </a:ext>
              </a:extLst>
            </p:cNvPr>
            <p:cNvSpPr/>
            <p:nvPr/>
          </p:nvSpPr>
          <p:spPr>
            <a:xfrm>
              <a:off x="6360002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F06E06F1-CC10-A377-CE12-E37A9805D674}"/>
                </a:ext>
              </a:extLst>
            </p:cNvPr>
            <p:cNvSpPr/>
            <p:nvPr/>
          </p:nvSpPr>
          <p:spPr>
            <a:xfrm>
              <a:off x="5539618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AFA0A303-6CD7-88E3-A48D-3EA5D37F5545}"/>
                </a:ext>
              </a:extLst>
            </p:cNvPr>
            <p:cNvSpPr/>
            <p:nvPr/>
          </p:nvSpPr>
          <p:spPr>
            <a:xfrm>
              <a:off x="4719234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A9969CB9-C033-D405-2C6F-BB2E0FB26F46}"/>
                </a:ext>
              </a:extLst>
            </p:cNvPr>
            <p:cNvSpPr/>
            <p:nvPr/>
          </p:nvSpPr>
          <p:spPr>
            <a:xfrm>
              <a:off x="3898850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C60F913D-91CD-FDFB-BBA5-7822B18AE596}"/>
                </a:ext>
              </a:extLst>
            </p:cNvPr>
            <p:cNvSpPr/>
            <p:nvPr/>
          </p:nvSpPr>
          <p:spPr>
            <a:xfrm>
              <a:off x="1437698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1B0A703C-C51B-1DD5-97E4-204D0C2F60A9}"/>
                </a:ext>
              </a:extLst>
            </p:cNvPr>
            <p:cNvSpPr/>
            <p:nvPr/>
          </p:nvSpPr>
          <p:spPr>
            <a:xfrm>
              <a:off x="2258082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3CC27ADA-E852-7DFD-3655-DB69001581A5}"/>
                </a:ext>
              </a:extLst>
            </p:cNvPr>
            <p:cNvSpPr/>
            <p:nvPr/>
          </p:nvSpPr>
          <p:spPr>
            <a:xfrm>
              <a:off x="3078466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15CE6661-9C5E-EACF-7BCA-F59F6F6CB5EA}"/>
                </a:ext>
              </a:extLst>
            </p:cNvPr>
            <p:cNvSpPr/>
            <p:nvPr/>
          </p:nvSpPr>
          <p:spPr>
            <a:xfrm>
              <a:off x="7180388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FB2C4436-B28F-9181-8AD5-78BEF4377AAD}"/>
                </a:ext>
              </a:extLst>
            </p:cNvPr>
            <p:cNvSpPr/>
            <p:nvPr/>
          </p:nvSpPr>
          <p:spPr>
            <a:xfrm>
              <a:off x="1444138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5110D57B-BE33-C1CE-FA5D-69493F3968EC}"/>
                </a:ext>
              </a:extLst>
            </p:cNvPr>
            <p:cNvSpPr/>
            <p:nvPr/>
          </p:nvSpPr>
          <p:spPr>
            <a:xfrm>
              <a:off x="2249068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BC</a:t>
              </a:r>
              <a:endParaRPr kumimoji="1" lang="ja-JP" altLang="en-US" sz="1800" b="1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29FA2DD3-08E3-1079-98F4-84124D462268}"/>
                </a:ext>
              </a:extLst>
            </p:cNvPr>
            <p:cNvSpPr/>
            <p:nvPr/>
          </p:nvSpPr>
          <p:spPr>
            <a:xfrm>
              <a:off x="3916882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5D13DE5B-5776-2FAF-C248-8D32D5FDFFFE}"/>
                </a:ext>
              </a:extLst>
            </p:cNvPr>
            <p:cNvSpPr/>
            <p:nvPr/>
          </p:nvSpPr>
          <p:spPr>
            <a:xfrm>
              <a:off x="5526741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1465B6F1-0660-5784-CE5D-26B995C034AC}"/>
                </a:ext>
              </a:extLst>
            </p:cNvPr>
            <p:cNvSpPr/>
            <p:nvPr/>
          </p:nvSpPr>
          <p:spPr>
            <a:xfrm>
              <a:off x="7188115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AB566760-BCC8-B77D-FA96-E5F11F5ACC75}"/>
                </a:ext>
              </a:extLst>
            </p:cNvPr>
            <p:cNvSpPr/>
            <p:nvPr/>
          </p:nvSpPr>
          <p:spPr>
            <a:xfrm>
              <a:off x="1616915" y="2920430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1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3033E2AF-2284-1CC7-6055-38E377CA24FC}"/>
                </a:ext>
              </a:extLst>
            </p:cNvPr>
            <p:cNvSpPr/>
            <p:nvPr/>
          </p:nvSpPr>
          <p:spPr>
            <a:xfrm>
              <a:off x="2437299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2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5B7034E2-C261-BD52-3562-7B49BFAD03A9}"/>
                </a:ext>
              </a:extLst>
            </p:cNvPr>
            <p:cNvSpPr/>
            <p:nvPr/>
          </p:nvSpPr>
          <p:spPr>
            <a:xfrm>
              <a:off x="3263437" y="2927838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3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D4317CE6-4648-596C-A88E-A87D04070093}"/>
                </a:ext>
              </a:extLst>
            </p:cNvPr>
            <p:cNvSpPr/>
            <p:nvPr/>
          </p:nvSpPr>
          <p:spPr>
            <a:xfrm>
              <a:off x="4071922" y="2927838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4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31FC402D-FBDB-E1FE-CFC2-0DBE3A538B63}"/>
                </a:ext>
              </a:extLst>
            </p:cNvPr>
            <p:cNvSpPr/>
            <p:nvPr/>
          </p:nvSpPr>
          <p:spPr>
            <a:xfrm>
              <a:off x="4894529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5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FA915DAC-B9F7-4E3D-CE7F-A9FFCB449AD6}"/>
                </a:ext>
              </a:extLst>
            </p:cNvPr>
            <p:cNvSpPr/>
            <p:nvPr/>
          </p:nvSpPr>
          <p:spPr>
            <a:xfrm>
              <a:off x="5706544" y="292783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6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D90D8E74-756D-3735-1AEA-E89D8890B215}"/>
                </a:ext>
              </a:extLst>
            </p:cNvPr>
            <p:cNvSpPr/>
            <p:nvPr/>
          </p:nvSpPr>
          <p:spPr>
            <a:xfrm>
              <a:off x="6536212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7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93404B2F-40CC-E7E3-EB91-A592CF88D15A}"/>
                </a:ext>
              </a:extLst>
            </p:cNvPr>
            <p:cNvSpPr/>
            <p:nvPr/>
          </p:nvSpPr>
          <p:spPr>
            <a:xfrm>
              <a:off x="7348228" y="292077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8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BB0BD994-2B7D-83B5-AB8B-0296BC7948E9}"/>
                </a:ext>
              </a:extLst>
            </p:cNvPr>
            <p:cNvSpPr/>
            <p:nvPr/>
          </p:nvSpPr>
          <p:spPr>
            <a:xfrm>
              <a:off x="1444138" y="4202704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536A298A-B225-8EDD-D84F-B354B181C187}"/>
                  </a:ext>
                </a:extLst>
              </p:cNvPr>
              <p:cNvSpPr txBox="1"/>
              <p:nvPr/>
            </p:nvSpPr>
            <p:spPr>
              <a:xfrm>
                <a:off x="1784395" y="5024757"/>
                <a:ext cx="26838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18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18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𝐬𝐮𝐩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[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≥ 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kumimoji="1" lang="en-US" altLang="ja-JP" sz="1800" b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536A298A-B225-8EDD-D84F-B354B181C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395" y="5024757"/>
                <a:ext cx="2683811" cy="369332"/>
              </a:xfrm>
              <a:prstGeom prst="rect">
                <a:avLst/>
              </a:prstGeom>
              <a:blipFill>
                <a:blip r:embed="rId3"/>
                <a:stretch>
                  <a:fillRect l="-472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8F7CCC93-C493-BF5D-BB27-84DA1BF2BC7A}"/>
              </a:ext>
            </a:extLst>
          </p:cNvPr>
          <p:cNvGrpSpPr/>
          <p:nvPr/>
        </p:nvGrpSpPr>
        <p:grpSpPr>
          <a:xfrm>
            <a:off x="7431968" y="1974360"/>
            <a:ext cx="1383382" cy="810491"/>
            <a:chOff x="7286569" y="2009907"/>
            <a:chExt cx="1383382" cy="8104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E430C0BF-5001-636C-74B0-63CDA19AB4CA}"/>
                    </a:ext>
                  </a:extLst>
                </p:cNvPr>
                <p:cNvSpPr txBox="1"/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=4</m:t>
                        </m:r>
                      </m:oMath>
                    </m:oMathPara>
                  </a14:m>
                  <a:endParaRPr kumimoji="1" lang="en-US" altLang="ja-JP" sz="1800" dirty="0"/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kumimoji="1" lang="en-US" altLang="ja-JP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ja-JP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kumimoji="1" lang="en-US" altLang="ja-JP" sz="1800" dirty="0"/>
                </a:p>
              </p:txBody>
            </p:sp>
          </mc:Choice>
          <mc:Fallback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E430C0BF-5001-636C-74B0-63CDA19AB4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blipFill>
                  <a:blip r:embed="rId4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大かっこ 26">
              <a:extLst>
                <a:ext uri="{FF2B5EF4-FFF2-40B4-BE49-F238E27FC236}">
                  <a16:creationId xmlns:a16="http://schemas.microsoft.com/office/drawing/2014/main" id="{F13696D4-8AF0-41DF-D9F8-F7471B325D0C}"/>
                </a:ext>
              </a:extLst>
            </p:cNvPr>
            <p:cNvSpPr/>
            <p:nvPr/>
          </p:nvSpPr>
          <p:spPr>
            <a:xfrm>
              <a:off x="7430610" y="2009907"/>
              <a:ext cx="1020932" cy="810491"/>
            </a:xfrm>
            <a:prstGeom prst="bracketPair">
              <a:avLst>
                <a:gd name="adj" fmla="val 12286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F67C9A0-7909-313D-8EAF-0D7987CA3FF7}"/>
              </a:ext>
            </a:extLst>
          </p:cNvPr>
          <p:cNvSpPr txBox="1"/>
          <p:nvPr/>
        </p:nvSpPr>
        <p:spPr>
          <a:xfrm>
            <a:off x="2477655" y="5535727"/>
            <a:ext cx="3228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>
                <a:solidFill>
                  <a:schemeClr val="accent1"/>
                </a:solidFill>
              </a:rPr>
              <a:t>→</a:t>
            </a:r>
            <a:r>
              <a:rPr lang="en-US" altLang="ja-JP" sz="2000" b="1" dirty="0">
                <a:solidFill>
                  <a:schemeClr val="accent1"/>
                </a:solidFill>
              </a:rPr>
              <a:t>AB[1,4] is Dense</a:t>
            </a:r>
          </a:p>
        </p:txBody>
      </p:sp>
    </p:spTree>
    <p:extLst>
      <p:ext uri="{BB962C8B-B14F-4D97-AF65-F5344CB8AC3E}">
        <p14:creationId xmlns:p14="http://schemas.microsoft.com/office/powerpoint/2010/main" val="9030833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11ADB986-4522-71AD-C252-CB4C5159B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7B2C60E4-3F06-8006-206D-96DCE3FF1D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ja-JP" altLang="ja-JP" b="1"/>
              <a:t>Determine density using sliding window</a:t>
            </a:r>
            <a:endParaRPr b="1" dirty="0"/>
          </a:p>
        </p:txBody>
      </p:sp>
      <p:sp>
        <p:nvSpPr>
          <p:cNvPr id="4" name="Google Shape;105;p2">
            <a:extLst>
              <a:ext uri="{FF2B5EF4-FFF2-40B4-BE49-F238E27FC236}">
                <a16:creationId xmlns:a16="http://schemas.microsoft.com/office/drawing/2014/main" id="{1C1B4A21-41C3-6ADB-D361-FDCA59C0151C}"/>
              </a:ext>
            </a:extLst>
          </p:cNvPr>
          <p:cNvSpPr txBox="1">
            <a:spLocks/>
          </p:cNvSpPr>
          <p:nvPr/>
        </p:nvSpPr>
        <p:spPr>
          <a:xfrm>
            <a:off x="103908" y="1122218"/>
            <a:ext cx="8763867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Counts pattern occurrences within a </a:t>
            </a:r>
            <a:r>
              <a:rPr lang="ja-JP" altLang="ja-JP" b="1">
                <a:solidFill>
                  <a:srgbClr val="C00000"/>
                </a:solidFill>
              </a:rPr>
              <a:t>sliding window </a:t>
            </a:r>
            <a:r>
              <a:rPr lang="ja-JP" altLang="ja-JP"/>
              <a:t>and identifies start positions that meet the threshold.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7296D7D-BB8B-5AA6-D5D2-66B8145AD12D}"/>
              </a:ext>
            </a:extLst>
          </p:cNvPr>
          <p:cNvSpPr/>
          <p:nvPr/>
        </p:nvSpPr>
        <p:spPr>
          <a:xfrm>
            <a:off x="2078865" y="2795447"/>
            <a:ext cx="3363828" cy="194464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b="1"/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CBA152CE-1ACC-4E6B-0040-2BE09E32A4D7}"/>
              </a:ext>
            </a:extLst>
          </p:cNvPr>
          <p:cNvGrpSpPr/>
          <p:nvPr/>
        </p:nvGrpSpPr>
        <p:grpSpPr>
          <a:xfrm>
            <a:off x="1437698" y="2920430"/>
            <a:ext cx="6276331" cy="1638965"/>
            <a:chOff x="1437698" y="2920430"/>
            <a:chExt cx="6276331" cy="1638965"/>
          </a:xfrm>
        </p:grpSpPr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1108206F-3782-FE95-F36B-AE53D1E6A9C7}"/>
                </a:ext>
              </a:extLst>
            </p:cNvPr>
            <p:cNvSpPr/>
            <p:nvPr/>
          </p:nvSpPr>
          <p:spPr>
            <a:xfrm>
              <a:off x="6360002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5D4C1438-38A7-F636-EF2B-5D8470B838A9}"/>
                </a:ext>
              </a:extLst>
            </p:cNvPr>
            <p:cNvSpPr/>
            <p:nvPr/>
          </p:nvSpPr>
          <p:spPr>
            <a:xfrm>
              <a:off x="5539618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25C1B363-6C77-7E23-D114-DC5CCF658321}"/>
                </a:ext>
              </a:extLst>
            </p:cNvPr>
            <p:cNvSpPr/>
            <p:nvPr/>
          </p:nvSpPr>
          <p:spPr>
            <a:xfrm>
              <a:off x="4719234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1EE9025D-70AC-90CB-E063-C64633937C4F}"/>
                </a:ext>
              </a:extLst>
            </p:cNvPr>
            <p:cNvSpPr/>
            <p:nvPr/>
          </p:nvSpPr>
          <p:spPr>
            <a:xfrm>
              <a:off x="3898850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56B737D6-0668-8B13-8856-7E54EFDD95C0}"/>
                </a:ext>
              </a:extLst>
            </p:cNvPr>
            <p:cNvSpPr/>
            <p:nvPr/>
          </p:nvSpPr>
          <p:spPr>
            <a:xfrm>
              <a:off x="1437698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A3BD618C-BA83-752E-F4AC-4E78E3597481}"/>
                </a:ext>
              </a:extLst>
            </p:cNvPr>
            <p:cNvSpPr/>
            <p:nvPr/>
          </p:nvSpPr>
          <p:spPr>
            <a:xfrm>
              <a:off x="2258082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FA81F63F-C0B3-820A-C129-4F11BFB9DA49}"/>
                </a:ext>
              </a:extLst>
            </p:cNvPr>
            <p:cNvSpPr/>
            <p:nvPr/>
          </p:nvSpPr>
          <p:spPr>
            <a:xfrm>
              <a:off x="3078466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8292A9DD-74B7-E02A-D4AF-B147F12590C8}"/>
                </a:ext>
              </a:extLst>
            </p:cNvPr>
            <p:cNvSpPr/>
            <p:nvPr/>
          </p:nvSpPr>
          <p:spPr>
            <a:xfrm>
              <a:off x="7180388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E272FC22-F89E-884F-E0B9-DB8040B76AA4}"/>
                </a:ext>
              </a:extLst>
            </p:cNvPr>
            <p:cNvSpPr/>
            <p:nvPr/>
          </p:nvSpPr>
          <p:spPr>
            <a:xfrm>
              <a:off x="1444138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F5D4DF19-F384-CD4B-8D86-361732B40DD1}"/>
                </a:ext>
              </a:extLst>
            </p:cNvPr>
            <p:cNvSpPr/>
            <p:nvPr/>
          </p:nvSpPr>
          <p:spPr>
            <a:xfrm>
              <a:off x="2249068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BC</a:t>
              </a:r>
              <a:endParaRPr kumimoji="1" lang="ja-JP" altLang="en-US" sz="1800" b="1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9CE61342-F6ED-0525-88D7-D6DA9A8B4D35}"/>
                </a:ext>
              </a:extLst>
            </p:cNvPr>
            <p:cNvSpPr/>
            <p:nvPr/>
          </p:nvSpPr>
          <p:spPr>
            <a:xfrm>
              <a:off x="3916882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754EA711-AC72-3AA2-23EC-01E6FB23A55D}"/>
                </a:ext>
              </a:extLst>
            </p:cNvPr>
            <p:cNvSpPr/>
            <p:nvPr/>
          </p:nvSpPr>
          <p:spPr>
            <a:xfrm>
              <a:off x="5526741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52CE923C-EB28-F4F5-3E91-038438E11A62}"/>
                </a:ext>
              </a:extLst>
            </p:cNvPr>
            <p:cNvSpPr/>
            <p:nvPr/>
          </p:nvSpPr>
          <p:spPr>
            <a:xfrm>
              <a:off x="7188115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72021B04-2128-55F3-4782-A94356D0D06C}"/>
                </a:ext>
              </a:extLst>
            </p:cNvPr>
            <p:cNvSpPr/>
            <p:nvPr/>
          </p:nvSpPr>
          <p:spPr>
            <a:xfrm>
              <a:off x="1616915" y="2920430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1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9FD726EA-B5B1-743D-FBA0-212C68DADE34}"/>
                </a:ext>
              </a:extLst>
            </p:cNvPr>
            <p:cNvSpPr/>
            <p:nvPr/>
          </p:nvSpPr>
          <p:spPr>
            <a:xfrm>
              <a:off x="2437299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2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B2C21D13-1C5F-D37C-97CE-6089B94787E9}"/>
                </a:ext>
              </a:extLst>
            </p:cNvPr>
            <p:cNvSpPr/>
            <p:nvPr/>
          </p:nvSpPr>
          <p:spPr>
            <a:xfrm>
              <a:off x="3263437" y="2927838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3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E10FBAD4-CE3B-34FD-64B4-E157DADCC763}"/>
                </a:ext>
              </a:extLst>
            </p:cNvPr>
            <p:cNvSpPr/>
            <p:nvPr/>
          </p:nvSpPr>
          <p:spPr>
            <a:xfrm>
              <a:off x="4071922" y="2927838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4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A81115FD-D4AF-07E6-FDBB-F6866299F9C0}"/>
                </a:ext>
              </a:extLst>
            </p:cNvPr>
            <p:cNvSpPr/>
            <p:nvPr/>
          </p:nvSpPr>
          <p:spPr>
            <a:xfrm>
              <a:off x="4894529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5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F946C3FE-BA44-E38A-43B3-007903C02C13}"/>
                </a:ext>
              </a:extLst>
            </p:cNvPr>
            <p:cNvSpPr/>
            <p:nvPr/>
          </p:nvSpPr>
          <p:spPr>
            <a:xfrm>
              <a:off x="5706544" y="292783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6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F11D6FE7-8DC6-1431-110D-8E3902BF23A5}"/>
                </a:ext>
              </a:extLst>
            </p:cNvPr>
            <p:cNvSpPr/>
            <p:nvPr/>
          </p:nvSpPr>
          <p:spPr>
            <a:xfrm>
              <a:off x="6536212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7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6B41640C-7D84-DE77-A587-C00253AE0CE4}"/>
                </a:ext>
              </a:extLst>
            </p:cNvPr>
            <p:cNvSpPr/>
            <p:nvPr/>
          </p:nvSpPr>
          <p:spPr>
            <a:xfrm>
              <a:off x="7348228" y="292077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8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080D0291-407C-A9DB-31E6-81D16F345C7A}"/>
                </a:ext>
              </a:extLst>
            </p:cNvPr>
            <p:cNvSpPr/>
            <p:nvPr/>
          </p:nvSpPr>
          <p:spPr>
            <a:xfrm>
              <a:off x="1444138" y="4202704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A59261CB-C77A-60FD-CD50-9DD4584F6D83}"/>
                  </a:ext>
                </a:extLst>
              </p:cNvPr>
              <p:cNvSpPr txBox="1"/>
              <p:nvPr/>
            </p:nvSpPr>
            <p:spPr>
              <a:xfrm>
                <a:off x="2627031" y="4999805"/>
                <a:ext cx="26838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18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18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𝐬𝐮𝐩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[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≥ 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kumimoji="1" lang="en-US" altLang="ja-JP" sz="1800" b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A59261CB-C77A-60FD-CD50-9DD4584F6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031" y="4999805"/>
                <a:ext cx="2683811" cy="369332"/>
              </a:xfrm>
              <a:prstGeom prst="rect">
                <a:avLst/>
              </a:prstGeom>
              <a:blipFill>
                <a:blip r:embed="rId3"/>
                <a:stretch>
                  <a:fillRect l="-469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5F73FE94-7E16-8943-D007-A3F699F1AFE4}"/>
              </a:ext>
            </a:extLst>
          </p:cNvPr>
          <p:cNvGrpSpPr/>
          <p:nvPr/>
        </p:nvGrpSpPr>
        <p:grpSpPr>
          <a:xfrm>
            <a:off x="7431968" y="1974360"/>
            <a:ext cx="1383382" cy="810491"/>
            <a:chOff x="7286569" y="2009907"/>
            <a:chExt cx="1383382" cy="8104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CA33C077-9C16-045D-B903-BF07147924DD}"/>
                    </a:ext>
                  </a:extLst>
                </p:cNvPr>
                <p:cNvSpPr txBox="1"/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=4</m:t>
                        </m:r>
                      </m:oMath>
                    </m:oMathPara>
                  </a14:m>
                  <a:endParaRPr kumimoji="1" lang="en-US" altLang="ja-JP" sz="1800" dirty="0"/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kumimoji="1" lang="en-US" altLang="ja-JP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ja-JP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kumimoji="1" lang="en-US" altLang="ja-JP" sz="1800" dirty="0"/>
                </a:p>
              </p:txBody>
            </p:sp>
          </mc:Choice>
          <mc:Fallback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CA33C077-9C16-045D-B903-BF07147924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blipFill>
                  <a:blip r:embed="rId4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大かっこ 26">
              <a:extLst>
                <a:ext uri="{FF2B5EF4-FFF2-40B4-BE49-F238E27FC236}">
                  <a16:creationId xmlns:a16="http://schemas.microsoft.com/office/drawing/2014/main" id="{2CC5092E-BFD7-C56B-1E95-F5B8B1022C5A}"/>
                </a:ext>
              </a:extLst>
            </p:cNvPr>
            <p:cNvSpPr/>
            <p:nvPr/>
          </p:nvSpPr>
          <p:spPr>
            <a:xfrm>
              <a:off x="7430610" y="2009907"/>
              <a:ext cx="1020932" cy="810491"/>
            </a:xfrm>
            <a:prstGeom prst="bracketPair">
              <a:avLst>
                <a:gd name="adj" fmla="val 12286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303C1E9-C8D9-C50D-237A-DB37A467AEE2}"/>
              </a:ext>
            </a:extLst>
          </p:cNvPr>
          <p:cNvSpPr txBox="1"/>
          <p:nvPr/>
        </p:nvSpPr>
        <p:spPr>
          <a:xfrm>
            <a:off x="3320291" y="5510775"/>
            <a:ext cx="27323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>
                <a:solidFill>
                  <a:schemeClr val="accent1"/>
                </a:solidFill>
              </a:rPr>
              <a:t>→</a:t>
            </a:r>
            <a:r>
              <a:rPr lang="en-US" altLang="ja-JP" sz="2000" b="1" dirty="0">
                <a:solidFill>
                  <a:schemeClr val="accent1"/>
                </a:solidFill>
              </a:rPr>
              <a:t>AB[2,5] is Dense</a:t>
            </a:r>
          </a:p>
        </p:txBody>
      </p:sp>
    </p:spTree>
    <p:extLst>
      <p:ext uri="{BB962C8B-B14F-4D97-AF65-F5344CB8AC3E}">
        <p14:creationId xmlns:p14="http://schemas.microsoft.com/office/powerpoint/2010/main" val="19576838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ECD56655-3807-BE20-BEC5-DCC053D6F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1B6E8D78-5830-2F56-CE13-F9D79F159F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ja-JP" altLang="ja-JP" b="1"/>
              <a:t>Determine density using sliding window</a:t>
            </a:r>
            <a:endParaRPr b="1" dirty="0"/>
          </a:p>
        </p:txBody>
      </p:sp>
      <p:sp>
        <p:nvSpPr>
          <p:cNvPr id="4" name="Google Shape;105;p2">
            <a:extLst>
              <a:ext uri="{FF2B5EF4-FFF2-40B4-BE49-F238E27FC236}">
                <a16:creationId xmlns:a16="http://schemas.microsoft.com/office/drawing/2014/main" id="{FB93D1FE-1FFD-51EA-96FB-2CA85C75D35A}"/>
              </a:ext>
            </a:extLst>
          </p:cNvPr>
          <p:cNvSpPr txBox="1">
            <a:spLocks/>
          </p:cNvSpPr>
          <p:nvPr/>
        </p:nvSpPr>
        <p:spPr>
          <a:xfrm>
            <a:off x="103908" y="1122218"/>
            <a:ext cx="8763867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Counts pattern occurrences within a </a:t>
            </a:r>
            <a:r>
              <a:rPr lang="ja-JP" altLang="ja-JP" b="1">
                <a:solidFill>
                  <a:srgbClr val="C00000"/>
                </a:solidFill>
              </a:rPr>
              <a:t>sliding window </a:t>
            </a:r>
            <a:r>
              <a:rPr lang="ja-JP" altLang="ja-JP"/>
              <a:t>and identifies start positions that meet the threshold.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E1858AE-C19A-24EA-7AE9-ED346AE88646}"/>
              </a:ext>
            </a:extLst>
          </p:cNvPr>
          <p:cNvSpPr/>
          <p:nvPr/>
        </p:nvSpPr>
        <p:spPr>
          <a:xfrm>
            <a:off x="2912126" y="2784851"/>
            <a:ext cx="3363828" cy="194464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b="1"/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9FD9EA0B-0A09-A40A-22A3-F3484923F496}"/>
              </a:ext>
            </a:extLst>
          </p:cNvPr>
          <p:cNvGrpSpPr/>
          <p:nvPr/>
        </p:nvGrpSpPr>
        <p:grpSpPr>
          <a:xfrm>
            <a:off x="1437698" y="2920430"/>
            <a:ext cx="6276331" cy="1638965"/>
            <a:chOff x="1437698" y="2920430"/>
            <a:chExt cx="6276331" cy="1638965"/>
          </a:xfrm>
        </p:grpSpPr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B7E02C63-4504-A74B-2245-1BD8CFCA9E15}"/>
                </a:ext>
              </a:extLst>
            </p:cNvPr>
            <p:cNvSpPr/>
            <p:nvPr/>
          </p:nvSpPr>
          <p:spPr>
            <a:xfrm>
              <a:off x="6360002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85743D31-09A2-EC8E-0801-C3A71B5DA636}"/>
                </a:ext>
              </a:extLst>
            </p:cNvPr>
            <p:cNvSpPr/>
            <p:nvPr/>
          </p:nvSpPr>
          <p:spPr>
            <a:xfrm>
              <a:off x="5539618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B9E160B8-955F-5127-415A-6DA13F40653B}"/>
                </a:ext>
              </a:extLst>
            </p:cNvPr>
            <p:cNvSpPr/>
            <p:nvPr/>
          </p:nvSpPr>
          <p:spPr>
            <a:xfrm>
              <a:off x="4719234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B02461E6-645F-D2B0-8859-286B9C795F9A}"/>
                </a:ext>
              </a:extLst>
            </p:cNvPr>
            <p:cNvSpPr/>
            <p:nvPr/>
          </p:nvSpPr>
          <p:spPr>
            <a:xfrm>
              <a:off x="3898850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B288398B-8637-B924-6547-98E9E2E9FA51}"/>
                </a:ext>
              </a:extLst>
            </p:cNvPr>
            <p:cNvSpPr/>
            <p:nvPr/>
          </p:nvSpPr>
          <p:spPr>
            <a:xfrm>
              <a:off x="1437698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9D05675E-6560-69BD-257B-397FDF1CC38B}"/>
                </a:ext>
              </a:extLst>
            </p:cNvPr>
            <p:cNvSpPr/>
            <p:nvPr/>
          </p:nvSpPr>
          <p:spPr>
            <a:xfrm>
              <a:off x="2258082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3EC3D02B-795A-40F6-9FBC-A4E604CD9BDC}"/>
                </a:ext>
              </a:extLst>
            </p:cNvPr>
            <p:cNvSpPr/>
            <p:nvPr/>
          </p:nvSpPr>
          <p:spPr>
            <a:xfrm>
              <a:off x="3078466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19D4B157-8266-481A-F332-81C1DCF336FB}"/>
                </a:ext>
              </a:extLst>
            </p:cNvPr>
            <p:cNvSpPr/>
            <p:nvPr/>
          </p:nvSpPr>
          <p:spPr>
            <a:xfrm>
              <a:off x="7180388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59A43CBC-F5A9-1965-30B5-629096618EC7}"/>
                </a:ext>
              </a:extLst>
            </p:cNvPr>
            <p:cNvSpPr/>
            <p:nvPr/>
          </p:nvSpPr>
          <p:spPr>
            <a:xfrm>
              <a:off x="1444138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869E6E00-6924-9E88-319D-1605D6AD49C4}"/>
                </a:ext>
              </a:extLst>
            </p:cNvPr>
            <p:cNvSpPr/>
            <p:nvPr/>
          </p:nvSpPr>
          <p:spPr>
            <a:xfrm>
              <a:off x="2249068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BC</a:t>
              </a:r>
              <a:endParaRPr kumimoji="1" lang="ja-JP" altLang="en-US" sz="1800" b="1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6D3A73A1-EC95-08A4-D636-A5412E7E4560}"/>
                </a:ext>
              </a:extLst>
            </p:cNvPr>
            <p:cNvSpPr/>
            <p:nvPr/>
          </p:nvSpPr>
          <p:spPr>
            <a:xfrm>
              <a:off x="3916882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A011A062-77E6-57B5-0F42-4E49B2522611}"/>
                </a:ext>
              </a:extLst>
            </p:cNvPr>
            <p:cNvSpPr/>
            <p:nvPr/>
          </p:nvSpPr>
          <p:spPr>
            <a:xfrm>
              <a:off x="5526741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D442FFB5-5E45-125F-D611-DFC086781106}"/>
                </a:ext>
              </a:extLst>
            </p:cNvPr>
            <p:cNvSpPr/>
            <p:nvPr/>
          </p:nvSpPr>
          <p:spPr>
            <a:xfrm>
              <a:off x="7188115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1BCD356C-FF77-0D5B-8D35-1D2B5F84E245}"/>
                </a:ext>
              </a:extLst>
            </p:cNvPr>
            <p:cNvSpPr/>
            <p:nvPr/>
          </p:nvSpPr>
          <p:spPr>
            <a:xfrm>
              <a:off x="1616915" y="2920430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1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9B39583D-8CE0-30AF-C4ED-41DB6EA8ABC3}"/>
                </a:ext>
              </a:extLst>
            </p:cNvPr>
            <p:cNvSpPr/>
            <p:nvPr/>
          </p:nvSpPr>
          <p:spPr>
            <a:xfrm>
              <a:off x="2437299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2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51B894B8-6711-AD63-4759-49156778711A}"/>
                </a:ext>
              </a:extLst>
            </p:cNvPr>
            <p:cNvSpPr/>
            <p:nvPr/>
          </p:nvSpPr>
          <p:spPr>
            <a:xfrm>
              <a:off x="3263437" y="2927838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3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691F1612-2D16-0484-176C-F2355671D8AF}"/>
                </a:ext>
              </a:extLst>
            </p:cNvPr>
            <p:cNvSpPr/>
            <p:nvPr/>
          </p:nvSpPr>
          <p:spPr>
            <a:xfrm>
              <a:off x="4071922" y="2927838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4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C1290020-7853-3282-C808-E9A6F19F9703}"/>
                </a:ext>
              </a:extLst>
            </p:cNvPr>
            <p:cNvSpPr/>
            <p:nvPr/>
          </p:nvSpPr>
          <p:spPr>
            <a:xfrm>
              <a:off x="4894529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5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412AAD6B-8028-6DC7-4BBB-B910B462222D}"/>
                </a:ext>
              </a:extLst>
            </p:cNvPr>
            <p:cNvSpPr/>
            <p:nvPr/>
          </p:nvSpPr>
          <p:spPr>
            <a:xfrm>
              <a:off x="5706544" y="292783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6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4BA1BE34-F763-BF17-0680-961BBF8537F4}"/>
                </a:ext>
              </a:extLst>
            </p:cNvPr>
            <p:cNvSpPr/>
            <p:nvPr/>
          </p:nvSpPr>
          <p:spPr>
            <a:xfrm>
              <a:off x="6536212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7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61CA3177-777E-DC48-4B1A-F87FBE02F573}"/>
                </a:ext>
              </a:extLst>
            </p:cNvPr>
            <p:cNvSpPr/>
            <p:nvPr/>
          </p:nvSpPr>
          <p:spPr>
            <a:xfrm>
              <a:off x="7348228" y="292077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8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A7EEA75A-42FC-5533-05C2-122F0831B6C8}"/>
                </a:ext>
              </a:extLst>
            </p:cNvPr>
            <p:cNvSpPr/>
            <p:nvPr/>
          </p:nvSpPr>
          <p:spPr>
            <a:xfrm>
              <a:off x="1444138" y="4202704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ADBC00F5-9AB6-6A9F-311C-3C4F92A31BDE}"/>
                  </a:ext>
                </a:extLst>
              </p:cNvPr>
              <p:cNvSpPr txBox="1"/>
              <p:nvPr/>
            </p:nvSpPr>
            <p:spPr>
              <a:xfrm>
                <a:off x="3460292" y="4989209"/>
                <a:ext cx="26838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18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18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𝐬𝐮𝐩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[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≥ 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kumimoji="1" lang="en-US" altLang="ja-JP" sz="1800" b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ADBC00F5-9AB6-6A9F-311C-3C4F92A31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0292" y="4989209"/>
                <a:ext cx="2683811" cy="369332"/>
              </a:xfrm>
              <a:prstGeom prst="rect">
                <a:avLst/>
              </a:prstGeom>
              <a:blipFill>
                <a:blip r:embed="rId3"/>
                <a:stretch>
                  <a:fillRect l="-472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834958CC-B850-D478-00C2-D33567798F86}"/>
              </a:ext>
            </a:extLst>
          </p:cNvPr>
          <p:cNvGrpSpPr/>
          <p:nvPr/>
        </p:nvGrpSpPr>
        <p:grpSpPr>
          <a:xfrm>
            <a:off x="7431968" y="1974360"/>
            <a:ext cx="1383382" cy="810491"/>
            <a:chOff x="7286569" y="2009907"/>
            <a:chExt cx="1383382" cy="8104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08F2A468-9F47-7BAF-F47D-50D0DEB0C465}"/>
                    </a:ext>
                  </a:extLst>
                </p:cNvPr>
                <p:cNvSpPr txBox="1"/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=4</m:t>
                        </m:r>
                      </m:oMath>
                    </m:oMathPara>
                  </a14:m>
                  <a:endParaRPr kumimoji="1" lang="en-US" altLang="ja-JP" sz="1800" dirty="0"/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kumimoji="1" lang="en-US" altLang="ja-JP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ja-JP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kumimoji="1" lang="en-US" altLang="ja-JP" sz="1800" dirty="0"/>
                </a:p>
              </p:txBody>
            </p:sp>
          </mc:Choice>
          <mc:Fallback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08F2A468-9F47-7BAF-F47D-50D0DEB0C4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blipFill>
                  <a:blip r:embed="rId4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大かっこ 26">
              <a:extLst>
                <a:ext uri="{FF2B5EF4-FFF2-40B4-BE49-F238E27FC236}">
                  <a16:creationId xmlns:a16="http://schemas.microsoft.com/office/drawing/2014/main" id="{C199FE69-A27F-99E2-5621-80CB4053B340}"/>
                </a:ext>
              </a:extLst>
            </p:cNvPr>
            <p:cNvSpPr/>
            <p:nvPr/>
          </p:nvSpPr>
          <p:spPr>
            <a:xfrm>
              <a:off x="7430610" y="2009907"/>
              <a:ext cx="1020932" cy="810491"/>
            </a:xfrm>
            <a:prstGeom prst="bracketPair">
              <a:avLst>
                <a:gd name="adj" fmla="val 12286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25D7843-04F0-8667-12EF-3237CA399F4A}"/>
              </a:ext>
            </a:extLst>
          </p:cNvPr>
          <p:cNvSpPr txBox="1"/>
          <p:nvPr/>
        </p:nvSpPr>
        <p:spPr>
          <a:xfrm>
            <a:off x="4153552" y="5500179"/>
            <a:ext cx="27323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>
                <a:solidFill>
                  <a:schemeClr val="accent1"/>
                </a:solidFill>
              </a:rPr>
              <a:t>→</a:t>
            </a:r>
            <a:r>
              <a:rPr lang="en-US" altLang="ja-JP" sz="2000" b="1" dirty="0">
                <a:solidFill>
                  <a:schemeClr val="accent1"/>
                </a:solidFill>
              </a:rPr>
              <a:t>AB[3,6] is Dense</a:t>
            </a:r>
          </a:p>
        </p:txBody>
      </p:sp>
    </p:spTree>
    <p:extLst>
      <p:ext uri="{BB962C8B-B14F-4D97-AF65-F5344CB8AC3E}">
        <p14:creationId xmlns:p14="http://schemas.microsoft.com/office/powerpoint/2010/main" val="33253989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91112D-B161-A0BB-11F0-9E95F1712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B53AFA47-83E2-4BF6-D461-E8A3D2E1B1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ja-JP" altLang="ja-JP" b="1"/>
              <a:t>Determine density using sliding window</a:t>
            </a:r>
            <a:endParaRPr b="1" dirty="0"/>
          </a:p>
        </p:txBody>
      </p:sp>
      <p:sp>
        <p:nvSpPr>
          <p:cNvPr id="4" name="Google Shape;105;p2">
            <a:extLst>
              <a:ext uri="{FF2B5EF4-FFF2-40B4-BE49-F238E27FC236}">
                <a16:creationId xmlns:a16="http://schemas.microsoft.com/office/drawing/2014/main" id="{5AFAC86D-BFCC-567F-228D-BDCCCFCEAEF1}"/>
              </a:ext>
            </a:extLst>
          </p:cNvPr>
          <p:cNvSpPr txBox="1">
            <a:spLocks/>
          </p:cNvSpPr>
          <p:nvPr/>
        </p:nvSpPr>
        <p:spPr>
          <a:xfrm>
            <a:off x="103908" y="1122218"/>
            <a:ext cx="8763867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Counts pattern occurrences within a </a:t>
            </a:r>
            <a:r>
              <a:rPr lang="ja-JP" altLang="ja-JP" b="1">
                <a:solidFill>
                  <a:srgbClr val="C00000"/>
                </a:solidFill>
              </a:rPr>
              <a:t>sliding window </a:t>
            </a:r>
            <a:r>
              <a:rPr lang="ja-JP" altLang="ja-JP"/>
              <a:t>and identifies start positions that meet the threshold.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06FF8ED-34C9-1E02-3D41-0CD99EE65676}"/>
              </a:ext>
            </a:extLst>
          </p:cNvPr>
          <p:cNvSpPr/>
          <p:nvPr/>
        </p:nvSpPr>
        <p:spPr>
          <a:xfrm>
            <a:off x="3725389" y="2784851"/>
            <a:ext cx="3363828" cy="194464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b="1"/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A596757E-64EF-62C9-551E-E57195EC4E48}"/>
              </a:ext>
            </a:extLst>
          </p:cNvPr>
          <p:cNvGrpSpPr/>
          <p:nvPr/>
        </p:nvGrpSpPr>
        <p:grpSpPr>
          <a:xfrm>
            <a:off x="1437698" y="2920430"/>
            <a:ext cx="6276331" cy="1638965"/>
            <a:chOff x="1437698" y="2920430"/>
            <a:chExt cx="6276331" cy="1638965"/>
          </a:xfrm>
        </p:grpSpPr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8ACA8D39-F891-933D-3ABB-1F1532AF6898}"/>
                </a:ext>
              </a:extLst>
            </p:cNvPr>
            <p:cNvSpPr/>
            <p:nvPr/>
          </p:nvSpPr>
          <p:spPr>
            <a:xfrm>
              <a:off x="6360002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85BC6CAC-0F12-8D0B-753B-8B49A48E4875}"/>
                </a:ext>
              </a:extLst>
            </p:cNvPr>
            <p:cNvSpPr/>
            <p:nvPr/>
          </p:nvSpPr>
          <p:spPr>
            <a:xfrm>
              <a:off x="5539618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BE364042-C28A-A920-A9AD-85183EB2866B}"/>
                </a:ext>
              </a:extLst>
            </p:cNvPr>
            <p:cNvSpPr/>
            <p:nvPr/>
          </p:nvSpPr>
          <p:spPr>
            <a:xfrm>
              <a:off x="4719234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D03B3C8C-8E57-164A-90CF-D78F0EC1B409}"/>
                </a:ext>
              </a:extLst>
            </p:cNvPr>
            <p:cNvSpPr/>
            <p:nvPr/>
          </p:nvSpPr>
          <p:spPr>
            <a:xfrm>
              <a:off x="3898850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D7557AC8-EBD2-D4F7-B38B-0DC820725315}"/>
                </a:ext>
              </a:extLst>
            </p:cNvPr>
            <p:cNvSpPr/>
            <p:nvPr/>
          </p:nvSpPr>
          <p:spPr>
            <a:xfrm>
              <a:off x="1437698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D0F276E7-C001-7728-11E7-5672AA1D1F5B}"/>
                </a:ext>
              </a:extLst>
            </p:cNvPr>
            <p:cNvSpPr/>
            <p:nvPr/>
          </p:nvSpPr>
          <p:spPr>
            <a:xfrm>
              <a:off x="2258082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9BC1E19A-D1FC-5883-48BB-6A1BEBFD2AB6}"/>
                </a:ext>
              </a:extLst>
            </p:cNvPr>
            <p:cNvSpPr/>
            <p:nvPr/>
          </p:nvSpPr>
          <p:spPr>
            <a:xfrm>
              <a:off x="3078466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D14DC959-A800-9A7C-0233-AC231153B5FF}"/>
                </a:ext>
              </a:extLst>
            </p:cNvPr>
            <p:cNvSpPr/>
            <p:nvPr/>
          </p:nvSpPr>
          <p:spPr>
            <a:xfrm>
              <a:off x="7180388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AD9F935A-C667-5E2D-03FE-01C296910608}"/>
                </a:ext>
              </a:extLst>
            </p:cNvPr>
            <p:cNvSpPr/>
            <p:nvPr/>
          </p:nvSpPr>
          <p:spPr>
            <a:xfrm>
              <a:off x="1444138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95040585-B075-DE59-8948-38D70E0E254F}"/>
                </a:ext>
              </a:extLst>
            </p:cNvPr>
            <p:cNvSpPr/>
            <p:nvPr/>
          </p:nvSpPr>
          <p:spPr>
            <a:xfrm>
              <a:off x="2249068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BC</a:t>
              </a:r>
              <a:endParaRPr kumimoji="1" lang="ja-JP" altLang="en-US" sz="1800" b="1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E8C76BB2-87D8-BE80-E8AD-CE842A8437D4}"/>
                </a:ext>
              </a:extLst>
            </p:cNvPr>
            <p:cNvSpPr/>
            <p:nvPr/>
          </p:nvSpPr>
          <p:spPr>
            <a:xfrm>
              <a:off x="3916882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2D4DEA3C-3F66-58DE-0DF2-D08E13937692}"/>
                </a:ext>
              </a:extLst>
            </p:cNvPr>
            <p:cNvSpPr/>
            <p:nvPr/>
          </p:nvSpPr>
          <p:spPr>
            <a:xfrm>
              <a:off x="5526741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80AA5719-AFA2-A00E-DB63-1558738C3498}"/>
                </a:ext>
              </a:extLst>
            </p:cNvPr>
            <p:cNvSpPr/>
            <p:nvPr/>
          </p:nvSpPr>
          <p:spPr>
            <a:xfrm>
              <a:off x="7188115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F73535B2-AAAA-098C-810E-66C58137B8BF}"/>
                </a:ext>
              </a:extLst>
            </p:cNvPr>
            <p:cNvSpPr/>
            <p:nvPr/>
          </p:nvSpPr>
          <p:spPr>
            <a:xfrm>
              <a:off x="1616915" y="2920430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1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1B5769B2-5FD0-8963-C093-10230CAF61DD}"/>
                </a:ext>
              </a:extLst>
            </p:cNvPr>
            <p:cNvSpPr/>
            <p:nvPr/>
          </p:nvSpPr>
          <p:spPr>
            <a:xfrm>
              <a:off x="2437299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2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CBAD6CAC-B876-2624-0DB0-EBE4EAD959C1}"/>
                </a:ext>
              </a:extLst>
            </p:cNvPr>
            <p:cNvSpPr/>
            <p:nvPr/>
          </p:nvSpPr>
          <p:spPr>
            <a:xfrm>
              <a:off x="3263437" y="2927838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3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ED278103-A625-3FC5-632E-84D422F27DCC}"/>
                </a:ext>
              </a:extLst>
            </p:cNvPr>
            <p:cNvSpPr/>
            <p:nvPr/>
          </p:nvSpPr>
          <p:spPr>
            <a:xfrm>
              <a:off x="4071922" y="2927838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4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7A115BC9-6644-75E5-C383-CF2895DB02D1}"/>
                </a:ext>
              </a:extLst>
            </p:cNvPr>
            <p:cNvSpPr/>
            <p:nvPr/>
          </p:nvSpPr>
          <p:spPr>
            <a:xfrm>
              <a:off x="4894529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5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C59EFCC2-BB05-2DEF-3263-63DC23946E3B}"/>
                </a:ext>
              </a:extLst>
            </p:cNvPr>
            <p:cNvSpPr/>
            <p:nvPr/>
          </p:nvSpPr>
          <p:spPr>
            <a:xfrm>
              <a:off x="5706544" y="292783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6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A9327775-622C-4502-3115-53548B771CCE}"/>
                </a:ext>
              </a:extLst>
            </p:cNvPr>
            <p:cNvSpPr/>
            <p:nvPr/>
          </p:nvSpPr>
          <p:spPr>
            <a:xfrm>
              <a:off x="6536212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7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18FA3D24-F68F-B647-6E1A-BB90CF2A431A}"/>
                </a:ext>
              </a:extLst>
            </p:cNvPr>
            <p:cNvSpPr/>
            <p:nvPr/>
          </p:nvSpPr>
          <p:spPr>
            <a:xfrm>
              <a:off x="7348228" y="292077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8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6C2CBF24-14DF-CFFA-A991-FCD8FE123BB8}"/>
                </a:ext>
              </a:extLst>
            </p:cNvPr>
            <p:cNvSpPr/>
            <p:nvPr/>
          </p:nvSpPr>
          <p:spPr>
            <a:xfrm>
              <a:off x="1444138" y="4202704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89C809F5-8D40-1ABB-4171-9AD6D7188930}"/>
                  </a:ext>
                </a:extLst>
              </p:cNvPr>
              <p:cNvSpPr txBox="1"/>
              <p:nvPr/>
            </p:nvSpPr>
            <p:spPr>
              <a:xfrm>
                <a:off x="4273555" y="4989209"/>
                <a:ext cx="26838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18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18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𝐬𝐮𝐩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[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𝟕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kumimoji="1" lang="en-US" altLang="ja-JP" sz="1800" b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89C809F5-8D40-1ABB-4171-9AD6D7188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555" y="4989209"/>
                <a:ext cx="2683811" cy="369332"/>
              </a:xfrm>
              <a:prstGeom prst="rect">
                <a:avLst/>
              </a:prstGeom>
              <a:blipFill>
                <a:blip r:embed="rId3"/>
                <a:stretch>
                  <a:fillRect l="-472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E34992BA-7897-23A5-A9B0-2E82B9A1A686}"/>
              </a:ext>
            </a:extLst>
          </p:cNvPr>
          <p:cNvGrpSpPr/>
          <p:nvPr/>
        </p:nvGrpSpPr>
        <p:grpSpPr>
          <a:xfrm>
            <a:off x="7431968" y="1974360"/>
            <a:ext cx="1383382" cy="810491"/>
            <a:chOff x="7286569" y="2009907"/>
            <a:chExt cx="1383382" cy="8104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65DD63F1-48DE-E8DF-DA1A-31E0950365CD}"/>
                    </a:ext>
                  </a:extLst>
                </p:cNvPr>
                <p:cNvSpPr txBox="1"/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=4</m:t>
                        </m:r>
                      </m:oMath>
                    </m:oMathPara>
                  </a14:m>
                  <a:endParaRPr kumimoji="1" lang="en-US" altLang="ja-JP" sz="1800" dirty="0"/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kumimoji="1" lang="en-US" altLang="ja-JP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ja-JP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kumimoji="1" lang="en-US" altLang="ja-JP" sz="1800" dirty="0"/>
                </a:p>
              </p:txBody>
            </p:sp>
          </mc:Choice>
          <mc:Fallback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65DD63F1-48DE-E8DF-DA1A-31E0950365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blipFill>
                  <a:blip r:embed="rId4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大かっこ 26">
              <a:extLst>
                <a:ext uri="{FF2B5EF4-FFF2-40B4-BE49-F238E27FC236}">
                  <a16:creationId xmlns:a16="http://schemas.microsoft.com/office/drawing/2014/main" id="{BD303CA0-412D-9859-3098-E6FC06958486}"/>
                </a:ext>
              </a:extLst>
            </p:cNvPr>
            <p:cNvSpPr/>
            <p:nvPr/>
          </p:nvSpPr>
          <p:spPr>
            <a:xfrm>
              <a:off x="7430610" y="2009907"/>
              <a:ext cx="1020932" cy="810491"/>
            </a:xfrm>
            <a:prstGeom prst="bracketPair">
              <a:avLst>
                <a:gd name="adj" fmla="val 12286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E9944F9-B5DB-9DEE-AF16-E57A131E3C56}"/>
              </a:ext>
            </a:extLst>
          </p:cNvPr>
          <p:cNvSpPr txBox="1"/>
          <p:nvPr/>
        </p:nvSpPr>
        <p:spPr>
          <a:xfrm>
            <a:off x="4966815" y="5500179"/>
            <a:ext cx="30986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>
                <a:solidFill>
                  <a:schemeClr val="accent1"/>
                </a:solidFill>
              </a:rPr>
              <a:t>→</a:t>
            </a:r>
            <a:r>
              <a:rPr lang="en-US" altLang="ja-JP" sz="2000" b="1" dirty="0">
                <a:solidFill>
                  <a:schemeClr val="accent1"/>
                </a:solidFill>
              </a:rPr>
              <a:t>AB[4,7] is not Dense</a:t>
            </a:r>
          </a:p>
        </p:txBody>
      </p:sp>
    </p:spTree>
    <p:extLst>
      <p:ext uri="{BB962C8B-B14F-4D97-AF65-F5344CB8AC3E}">
        <p14:creationId xmlns:p14="http://schemas.microsoft.com/office/powerpoint/2010/main" val="15576981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6C1CF4BB-10FA-7D57-F1D6-37895247A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76D3EAEA-07F3-EB57-BE64-B9F086BB22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ja-JP" b="1" dirty="0"/>
              <a:t>Duplicate-aware t-axis stride</a:t>
            </a:r>
            <a:endParaRPr b="1" dirty="0"/>
          </a:p>
        </p:txBody>
      </p:sp>
      <p:sp>
        <p:nvSpPr>
          <p:cNvPr id="4" name="Google Shape;105;p2">
            <a:extLst>
              <a:ext uri="{FF2B5EF4-FFF2-40B4-BE49-F238E27FC236}">
                <a16:creationId xmlns:a16="http://schemas.microsoft.com/office/drawing/2014/main" id="{44E49E25-6621-45D2-BA13-348B02E55B57}"/>
              </a:ext>
            </a:extLst>
          </p:cNvPr>
          <p:cNvSpPr txBox="1">
            <a:spLocks/>
          </p:cNvSpPr>
          <p:nvPr/>
        </p:nvSpPr>
        <p:spPr>
          <a:xfrm>
            <a:off x="103908" y="1122218"/>
            <a:ext cx="8763867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Skip </a:t>
            </a:r>
            <a:r>
              <a:rPr lang="en-US" altLang="ja-JP" b="1" dirty="0">
                <a:solidFill>
                  <a:srgbClr val="C00000"/>
                </a:solidFill>
              </a:rPr>
              <a:t>guaranteed dense &amp; </a:t>
            </a:r>
            <a:r>
              <a:rPr lang="ja-JP" altLang="ja-JP" b="1">
                <a:solidFill>
                  <a:srgbClr val="C00000"/>
                </a:solidFill>
              </a:rPr>
              <a:t>non-dense gaps</a:t>
            </a:r>
            <a:r>
              <a:rPr lang="ja-JP" altLang="ja-JP"/>
              <a:t> by jumping l to the next useful position — avoids scanning every window.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D462BE1-A3FC-3BD7-B742-1A0A991F26FA}"/>
              </a:ext>
            </a:extLst>
          </p:cNvPr>
          <p:cNvSpPr/>
          <p:nvPr/>
        </p:nvSpPr>
        <p:spPr>
          <a:xfrm>
            <a:off x="1236229" y="2820399"/>
            <a:ext cx="3363828" cy="194464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b="1"/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01796692-22B8-F18D-28C7-41FE81209EEE}"/>
              </a:ext>
            </a:extLst>
          </p:cNvPr>
          <p:cNvGrpSpPr/>
          <p:nvPr/>
        </p:nvGrpSpPr>
        <p:grpSpPr>
          <a:xfrm>
            <a:off x="1437698" y="2920430"/>
            <a:ext cx="6276331" cy="1638965"/>
            <a:chOff x="1437698" y="2920430"/>
            <a:chExt cx="6276331" cy="1638965"/>
          </a:xfrm>
        </p:grpSpPr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AFF06BF8-3639-E8DA-84A7-5337AB73EC86}"/>
                </a:ext>
              </a:extLst>
            </p:cNvPr>
            <p:cNvSpPr/>
            <p:nvPr/>
          </p:nvSpPr>
          <p:spPr>
            <a:xfrm>
              <a:off x="6360002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84E95AF5-9C31-D7C9-5922-BDA69D3D9124}"/>
                </a:ext>
              </a:extLst>
            </p:cNvPr>
            <p:cNvSpPr/>
            <p:nvPr/>
          </p:nvSpPr>
          <p:spPr>
            <a:xfrm>
              <a:off x="5539618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7428DE98-9667-5D97-0F10-062619647191}"/>
                </a:ext>
              </a:extLst>
            </p:cNvPr>
            <p:cNvSpPr/>
            <p:nvPr/>
          </p:nvSpPr>
          <p:spPr>
            <a:xfrm>
              <a:off x="4719234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0A8BA2A9-DD25-33EF-9028-1F3FA999B50F}"/>
                </a:ext>
              </a:extLst>
            </p:cNvPr>
            <p:cNvSpPr/>
            <p:nvPr/>
          </p:nvSpPr>
          <p:spPr>
            <a:xfrm>
              <a:off x="3898850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CC3CFE62-AD3F-DD80-FD94-6909466A46CF}"/>
                </a:ext>
              </a:extLst>
            </p:cNvPr>
            <p:cNvSpPr/>
            <p:nvPr/>
          </p:nvSpPr>
          <p:spPr>
            <a:xfrm>
              <a:off x="1437698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572A437B-6D48-13AD-668F-2D951E93BA0F}"/>
                </a:ext>
              </a:extLst>
            </p:cNvPr>
            <p:cNvSpPr/>
            <p:nvPr/>
          </p:nvSpPr>
          <p:spPr>
            <a:xfrm>
              <a:off x="2258082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813D933F-6402-E571-6E00-DC6F61E28139}"/>
                </a:ext>
              </a:extLst>
            </p:cNvPr>
            <p:cNvSpPr/>
            <p:nvPr/>
          </p:nvSpPr>
          <p:spPr>
            <a:xfrm>
              <a:off x="3078466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627E2EA2-AF1C-1BAB-7F7A-5246C2CA4FB8}"/>
                </a:ext>
              </a:extLst>
            </p:cNvPr>
            <p:cNvSpPr/>
            <p:nvPr/>
          </p:nvSpPr>
          <p:spPr>
            <a:xfrm>
              <a:off x="7180388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E05D7CFB-84D0-8C25-BA7E-620AA1155C5F}"/>
                </a:ext>
              </a:extLst>
            </p:cNvPr>
            <p:cNvSpPr/>
            <p:nvPr/>
          </p:nvSpPr>
          <p:spPr>
            <a:xfrm>
              <a:off x="1444138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DCD1F9AA-C6BE-0403-059D-12D568B9A6CD}"/>
                </a:ext>
              </a:extLst>
            </p:cNvPr>
            <p:cNvSpPr/>
            <p:nvPr/>
          </p:nvSpPr>
          <p:spPr>
            <a:xfrm>
              <a:off x="2249068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BC</a:t>
              </a:r>
              <a:endParaRPr kumimoji="1" lang="ja-JP" altLang="en-US" sz="1800" b="1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B7186F59-1007-114C-7134-4C1CFCB78240}"/>
                </a:ext>
              </a:extLst>
            </p:cNvPr>
            <p:cNvSpPr/>
            <p:nvPr/>
          </p:nvSpPr>
          <p:spPr>
            <a:xfrm>
              <a:off x="3916882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74352B92-641E-E94C-2C5D-54986C4A1163}"/>
                </a:ext>
              </a:extLst>
            </p:cNvPr>
            <p:cNvSpPr/>
            <p:nvPr/>
          </p:nvSpPr>
          <p:spPr>
            <a:xfrm>
              <a:off x="5526741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F0263E1D-ECF2-8283-8332-1913F1025A3D}"/>
                </a:ext>
              </a:extLst>
            </p:cNvPr>
            <p:cNvSpPr/>
            <p:nvPr/>
          </p:nvSpPr>
          <p:spPr>
            <a:xfrm>
              <a:off x="7188115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8AC330C6-B71C-35B0-058D-E777581F20A3}"/>
                </a:ext>
              </a:extLst>
            </p:cNvPr>
            <p:cNvSpPr/>
            <p:nvPr/>
          </p:nvSpPr>
          <p:spPr>
            <a:xfrm>
              <a:off x="1616915" y="2920430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1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D80F732C-F7C1-EC9A-FD4C-70A758F27AA2}"/>
                </a:ext>
              </a:extLst>
            </p:cNvPr>
            <p:cNvSpPr/>
            <p:nvPr/>
          </p:nvSpPr>
          <p:spPr>
            <a:xfrm>
              <a:off x="2437299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2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ABB6B000-C7AA-4FFB-9F83-E65D209809DD}"/>
                </a:ext>
              </a:extLst>
            </p:cNvPr>
            <p:cNvSpPr/>
            <p:nvPr/>
          </p:nvSpPr>
          <p:spPr>
            <a:xfrm>
              <a:off x="3263437" y="2927838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3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632353E7-AB33-CADC-4E0C-D7E6CCE60589}"/>
                </a:ext>
              </a:extLst>
            </p:cNvPr>
            <p:cNvSpPr/>
            <p:nvPr/>
          </p:nvSpPr>
          <p:spPr>
            <a:xfrm>
              <a:off x="4071922" y="2927838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4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81910B8E-4549-9C41-0904-BCBDEC9A70BD}"/>
                </a:ext>
              </a:extLst>
            </p:cNvPr>
            <p:cNvSpPr/>
            <p:nvPr/>
          </p:nvSpPr>
          <p:spPr>
            <a:xfrm>
              <a:off x="4894529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5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F092AE28-FE43-8A74-60C1-701E3676DB00}"/>
                </a:ext>
              </a:extLst>
            </p:cNvPr>
            <p:cNvSpPr/>
            <p:nvPr/>
          </p:nvSpPr>
          <p:spPr>
            <a:xfrm>
              <a:off x="5706544" y="292783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6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3217913C-719A-9301-E68F-26F9769118E5}"/>
                </a:ext>
              </a:extLst>
            </p:cNvPr>
            <p:cNvSpPr/>
            <p:nvPr/>
          </p:nvSpPr>
          <p:spPr>
            <a:xfrm>
              <a:off x="6536212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7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F665E799-1E74-680A-27FE-94F8C2E236EB}"/>
                </a:ext>
              </a:extLst>
            </p:cNvPr>
            <p:cNvSpPr/>
            <p:nvPr/>
          </p:nvSpPr>
          <p:spPr>
            <a:xfrm>
              <a:off x="7348228" y="292077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8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630253EB-B839-C920-F314-A21AAA106EAD}"/>
                </a:ext>
              </a:extLst>
            </p:cNvPr>
            <p:cNvSpPr/>
            <p:nvPr/>
          </p:nvSpPr>
          <p:spPr>
            <a:xfrm>
              <a:off x="1444138" y="4202704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67BBA675-0398-A359-668A-87AE284265AE}"/>
                  </a:ext>
                </a:extLst>
              </p:cNvPr>
              <p:cNvSpPr txBox="1"/>
              <p:nvPr/>
            </p:nvSpPr>
            <p:spPr>
              <a:xfrm>
                <a:off x="1784395" y="5024757"/>
                <a:ext cx="26838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18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18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𝐬𝐮𝐩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[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≥ 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kumimoji="1" lang="en-US" altLang="ja-JP" sz="1800" b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67BBA675-0398-A359-668A-87AE28426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395" y="5024757"/>
                <a:ext cx="2683811" cy="369332"/>
              </a:xfrm>
              <a:prstGeom prst="rect">
                <a:avLst/>
              </a:prstGeom>
              <a:blipFill>
                <a:blip r:embed="rId3"/>
                <a:stretch>
                  <a:fillRect l="-472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5FC1CA89-65C9-1FD2-12BF-7A5924153A91}"/>
              </a:ext>
            </a:extLst>
          </p:cNvPr>
          <p:cNvGrpSpPr/>
          <p:nvPr/>
        </p:nvGrpSpPr>
        <p:grpSpPr>
          <a:xfrm>
            <a:off x="7431968" y="1974360"/>
            <a:ext cx="1383382" cy="810491"/>
            <a:chOff x="7286569" y="2009907"/>
            <a:chExt cx="1383382" cy="8104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E0B6D4AC-4983-EAEB-B950-6BA13CE51722}"/>
                    </a:ext>
                  </a:extLst>
                </p:cNvPr>
                <p:cNvSpPr txBox="1"/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=4</m:t>
                        </m:r>
                      </m:oMath>
                    </m:oMathPara>
                  </a14:m>
                  <a:endParaRPr kumimoji="1" lang="en-US" altLang="ja-JP" sz="1800" dirty="0"/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kumimoji="1" lang="en-US" altLang="ja-JP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ja-JP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kumimoji="1" lang="en-US" altLang="ja-JP" sz="1800" dirty="0"/>
                </a:p>
              </p:txBody>
            </p:sp>
          </mc:Choice>
          <mc:Fallback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E0B6D4AC-4983-EAEB-B950-6BA13CE517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blipFill>
                  <a:blip r:embed="rId4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大かっこ 26">
              <a:extLst>
                <a:ext uri="{FF2B5EF4-FFF2-40B4-BE49-F238E27FC236}">
                  <a16:creationId xmlns:a16="http://schemas.microsoft.com/office/drawing/2014/main" id="{9CFC5066-6A2A-855D-D449-582DC89BD796}"/>
                </a:ext>
              </a:extLst>
            </p:cNvPr>
            <p:cNvSpPr/>
            <p:nvPr/>
          </p:nvSpPr>
          <p:spPr>
            <a:xfrm>
              <a:off x="7430610" y="2009907"/>
              <a:ext cx="1020932" cy="810491"/>
            </a:xfrm>
            <a:prstGeom prst="bracketPair">
              <a:avLst>
                <a:gd name="adj" fmla="val 12286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2040BA4-C3F5-C23E-7EF1-C9D4D587952C}"/>
              </a:ext>
            </a:extLst>
          </p:cNvPr>
          <p:cNvSpPr txBox="1"/>
          <p:nvPr/>
        </p:nvSpPr>
        <p:spPr>
          <a:xfrm>
            <a:off x="2477655" y="5535727"/>
            <a:ext cx="3228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>
                <a:solidFill>
                  <a:schemeClr val="accent1"/>
                </a:solidFill>
              </a:rPr>
              <a:t>→</a:t>
            </a:r>
            <a:r>
              <a:rPr lang="en-US" altLang="ja-JP" sz="2000" b="1" dirty="0">
                <a:solidFill>
                  <a:schemeClr val="accent1"/>
                </a:solidFill>
              </a:rPr>
              <a:t>AB[1,4] is Dense</a:t>
            </a:r>
          </a:p>
        </p:txBody>
      </p:sp>
    </p:spTree>
    <p:extLst>
      <p:ext uri="{BB962C8B-B14F-4D97-AF65-F5344CB8AC3E}">
        <p14:creationId xmlns:p14="http://schemas.microsoft.com/office/powerpoint/2010/main" val="32065951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411D6E91-F963-0E59-D88A-04BC2CB6B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15406E57-932B-02A3-7439-D1C4BBBF9C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ja-JP" b="1" dirty="0"/>
              <a:t>Duplicate-aware t-axis stride</a:t>
            </a:r>
            <a:endParaRPr b="1" dirty="0"/>
          </a:p>
        </p:txBody>
      </p:sp>
      <p:sp>
        <p:nvSpPr>
          <p:cNvPr id="4" name="Google Shape;105;p2">
            <a:extLst>
              <a:ext uri="{FF2B5EF4-FFF2-40B4-BE49-F238E27FC236}">
                <a16:creationId xmlns:a16="http://schemas.microsoft.com/office/drawing/2014/main" id="{5ED76186-9DFC-14F0-D9D4-B4DB34F17329}"/>
              </a:ext>
            </a:extLst>
          </p:cNvPr>
          <p:cNvSpPr txBox="1">
            <a:spLocks/>
          </p:cNvSpPr>
          <p:nvPr/>
        </p:nvSpPr>
        <p:spPr>
          <a:xfrm>
            <a:off x="103908" y="1122218"/>
            <a:ext cx="8763867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Skip </a:t>
            </a:r>
            <a:r>
              <a:rPr lang="en-US" altLang="ja-JP" b="1" dirty="0">
                <a:solidFill>
                  <a:srgbClr val="C00000"/>
                </a:solidFill>
              </a:rPr>
              <a:t>guaranteed dense &amp; </a:t>
            </a:r>
            <a:r>
              <a:rPr lang="ja-JP" altLang="ja-JP" b="1">
                <a:solidFill>
                  <a:srgbClr val="C00000"/>
                </a:solidFill>
              </a:rPr>
              <a:t>non-dense gaps</a:t>
            </a:r>
            <a:r>
              <a:rPr lang="ja-JP" altLang="ja-JP"/>
              <a:t> by jumping l to the next useful position — avoids scanning every window.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E4480DC-FBF9-AD1A-5AD2-D74CDDC4E706}"/>
              </a:ext>
            </a:extLst>
          </p:cNvPr>
          <p:cNvSpPr/>
          <p:nvPr/>
        </p:nvSpPr>
        <p:spPr>
          <a:xfrm>
            <a:off x="2078865" y="2795447"/>
            <a:ext cx="3363828" cy="194464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b="1"/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8F3AC967-5F5A-ED39-2777-5C530CC962BC}"/>
              </a:ext>
            </a:extLst>
          </p:cNvPr>
          <p:cNvGrpSpPr/>
          <p:nvPr/>
        </p:nvGrpSpPr>
        <p:grpSpPr>
          <a:xfrm>
            <a:off x="1437698" y="2920430"/>
            <a:ext cx="6276331" cy="1638965"/>
            <a:chOff x="1437698" y="2920430"/>
            <a:chExt cx="6276331" cy="1638965"/>
          </a:xfrm>
        </p:grpSpPr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E3AE0FE4-11AC-77C9-2735-3FFB1BF86583}"/>
                </a:ext>
              </a:extLst>
            </p:cNvPr>
            <p:cNvSpPr/>
            <p:nvPr/>
          </p:nvSpPr>
          <p:spPr>
            <a:xfrm>
              <a:off x="6360002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675711A3-4BA4-887E-3C30-AEBF7FC3E0C2}"/>
                </a:ext>
              </a:extLst>
            </p:cNvPr>
            <p:cNvSpPr/>
            <p:nvPr/>
          </p:nvSpPr>
          <p:spPr>
            <a:xfrm>
              <a:off x="5539618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35139DF8-9E7F-48FF-C113-1A3AA117C89B}"/>
                </a:ext>
              </a:extLst>
            </p:cNvPr>
            <p:cNvSpPr/>
            <p:nvPr/>
          </p:nvSpPr>
          <p:spPr>
            <a:xfrm>
              <a:off x="4719234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3BEF9534-E919-7B1D-6789-2868C05CE917}"/>
                </a:ext>
              </a:extLst>
            </p:cNvPr>
            <p:cNvSpPr/>
            <p:nvPr/>
          </p:nvSpPr>
          <p:spPr>
            <a:xfrm>
              <a:off x="3898850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DA6FCD5D-403D-1973-7D71-75F3902D6FB9}"/>
                </a:ext>
              </a:extLst>
            </p:cNvPr>
            <p:cNvSpPr/>
            <p:nvPr/>
          </p:nvSpPr>
          <p:spPr>
            <a:xfrm>
              <a:off x="1437698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C3902B0F-3BEB-6ABC-F6EF-E4B6F460A97A}"/>
                </a:ext>
              </a:extLst>
            </p:cNvPr>
            <p:cNvSpPr/>
            <p:nvPr/>
          </p:nvSpPr>
          <p:spPr>
            <a:xfrm>
              <a:off x="2258082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693C805C-49AF-B832-634A-A2CA66BF5144}"/>
                </a:ext>
              </a:extLst>
            </p:cNvPr>
            <p:cNvSpPr/>
            <p:nvPr/>
          </p:nvSpPr>
          <p:spPr>
            <a:xfrm>
              <a:off x="3078466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401A5F60-BC38-AF03-51CC-00812C8B0372}"/>
                </a:ext>
              </a:extLst>
            </p:cNvPr>
            <p:cNvSpPr/>
            <p:nvPr/>
          </p:nvSpPr>
          <p:spPr>
            <a:xfrm>
              <a:off x="7180388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156FF110-5447-D310-322B-AC8073DD3452}"/>
                </a:ext>
              </a:extLst>
            </p:cNvPr>
            <p:cNvSpPr/>
            <p:nvPr/>
          </p:nvSpPr>
          <p:spPr>
            <a:xfrm>
              <a:off x="1444138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281DA61A-6AD5-C12F-5763-391F81A44559}"/>
                </a:ext>
              </a:extLst>
            </p:cNvPr>
            <p:cNvSpPr/>
            <p:nvPr/>
          </p:nvSpPr>
          <p:spPr>
            <a:xfrm>
              <a:off x="2249068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BC</a:t>
              </a:r>
              <a:endParaRPr kumimoji="1" lang="ja-JP" altLang="en-US" sz="1800" b="1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29E186C6-1D29-7240-08E2-CDB9D1707ED5}"/>
                </a:ext>
              </a:extLst>
            </p:cNvPr>
            <p:cNvSpPr/>
            <p:nvPr/>
          </p:nvSpPr>
          <p:spPr>
            <a:xfrm>
              <a:off x="3916882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72799CFF-04AD-8693-10BC-869A0000F446}"/>
                </a:ext>
              </a:extLst>
            </p:cNvPr>
            <p:cNvSpPr/>
            <p:nvPr/>
          </p:nvSpPr>
          <p:spPr>
            <a:xfrm>
              <a:off x="5526741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93E3CAC9-B785-C6DE-ECE0-362770C65FF5}"/>
                </a:ext>
              </a:extLst>
            </p:cNvPr>
            <p:cNvSpPr/>
            <p:nvPr/>
          </p:nvSpPr>
          <p:spPr>
            <a:xfrm>
              <a:off x="7188115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E261A949-3B32-CC93-8436-60354E7FF792}"/>
                </a:ext>
              </a:extLst>
            </p:cNvPr>
            <p:cNvSpPr/>
            <p:nvPr/>
          </p:nvSpPr>
          <p:spPr>
            <a:xfrm>
              <a:off x="1616915" y="2920430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1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81E470FF-3F6E-DF47-1669-BC84134CA0F4}"/>
                </a:ext>
              </a:extLst>
            </p:cNvPr>
            <p:cNvSpPr/>
            <p:nvPr/>
          </p:nvSpPr>
          <p:spPr>
            <a:xfrm>
              <a:off x="2437299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2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C205123C-6275-9355-5B87-A332A441C120}"/>
                </a:ext>
              </a:extLst>
            </p:cNvPr>
            <p:cNvSpPr/>
            <p:nvPr/>
          </p:nvSpPr>
          <p:spPr>
            <a:xfrm>
              <a:off x="3263437" y="2927838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3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5F058303-3E03-8BAD-88A2-7015F0E92D15}"/>
                </a:ext>
              </a:extLst>
            </p:cNvPr>
            <p:cNvSpPr/>
            <p:nvPr/>
          </p:nvSpPr>
          <p:spPr>
            <a:xfrm>
              <a:off x="4071922" y="2927838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4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10812313-C56B-422B-36EB-83C83E6868B5}"/>
                </a:ext>
              </a:extLst>
            </p:cNvPr>
            <p:cNvSpPr/>
            <p:nvPr/>
          </p:nvSpPr>
          <p:spPr>
            <a:xfrm>
              <a:off x="4894529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5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C938BAEA-275A-C3DD-E6E1-CB0C3E6B27DD}"/>
                </a:ext>
              </a:extLst>
            </p:cNvPr>
            <p:cNvSpPr/>
            <p:nvPr/>
          </p:nvSpPr>
          <p:spPr>
            <a:xfrm>
              <a:off x="5706544" y="292783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6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ADA807A6-FEBE-4729-5B3B-11E38B5C46BB}"/>
                </a:ext>
              </a:extLst>
            </p:cNvPr>
            <p:cNvSpPr/>
            <p:nvPr/>
          </p:nvSpPr>
          <p:spPr>
            <a:xfrm>
              <a:off x="6536212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7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83859A1B-DEA3-4970-0596-63AB16ED7478}"/>
                </a:ext>
              </a:extLst>
            </p:cNvPr>
            <p:cNvSpPr/>
            <p:nvPr/>
          </p:nvSpPr>
          <p:spPr>
            <a:xfrm>
              <a:off x="7348228" y="292077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8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B40302F6-2ED6-57C6-5AED-9903C5EAA632}"/>
                </a:ext>
              </a:extLst>
            </p:cNvPr>
            <p:cNvSpPr/>
            <p:nvPr/>
          </p:nvSpPr>
          <p:spPr>
            <a:xfrm>
              <a:off x="1444138" y="4202704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97897F45-12A1-9B55-37B1-60384E6FC769}"/>
                  </a:ext>
                </a:extLst>
              </p:cNvPr>
              <p:cNvSpPr txBox="1"/>
              <p:nvPr/>
            </p:nvSpPr>
            <p:spPr>
              <a:xfrm>
                <a:off x="2627031" y="4999805"/>
                <a:ext cx="32469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18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18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𝐬𝐮𝐩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[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kumimoji="1" lang="en-US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𝒐𝒓</m:t>
                      </m:r>
                      <m:r>
                        <a:rPr kumimoji="1" lang="en-US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≥ 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kumimoji="1" lang="en-US" altLang="ja-JP" sz="1800" b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97897F45-12A1-9B55-37B1-60384E6FC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031" y="4999805"/>
                <a:ext cx="3246993" cy="369332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9A0FCABA-2A76-4539-2D51-D5554260996E}"/>
              </a:ext>
            </a:extLst>
          </p:cNvPr>
          <p:cNvGrpSpPr/>
          <p:nvPr/>
        </p:nvGrpSpPr>
        <p:grpSpPr>
          <a:xfrm>
            <a:off x="7431968" y="1974360"/>
            <a:ext cx="1383382" cy="810491"/>
            <a:chOff x="7286569" y="2009907"/>
            <a:chExt cx="1383382" cy="8104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7FBE5836-EDD1-2753-41C6-DD6333068220}"/>
                    </a:ext>
                  </a:extLst>
                </p:cNvPr>
                <p:cNvSpPr txBox="1"/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=4</m:t>
                        </m:r>
                      </m:oMath>
                    </m:oMathPara>
                  </a14:m>
                  <a:endParaRPr kumimoji="1" lang="en-US" altLang="ja-JP" sz="1800" dirty="0"/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kumimoji="1" lang="en-US" altLang="ja-JP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ja-JP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kumimoji="1" lang="en-US" altLang="ja-JP" sz="1800" dirty="0"/>
                </a:p>
              </p:txBody>
            </p:sp>
          </mc:Choice>
          <mc:Fallback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7FBE5836-EDD1-2753-41C6-DD63330682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blipFill>
                  <a:blip r:embed="rId4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大かっこ 26">
              <a:extLst>
                <a:ext uri="{FF2B5EF4-FFF2-40B4-BE49-F238E27FC236}">
                  <a16:creationId xmlns:a16="http://schemas.microsoft.com/office/drawing/2014/main" id="{F73B9205-72A8-6EA2-2C55-74BFDFA45459}"/>
                </a:ext>
              </a:extLst>
            </p:cNvPr>
            <p:cNvSpPr/>
            <p:nvPr/>
          </p:nvSpPr>
          <p:spPr>
            <a:xfrm>
              <a:off x="7430610" y="2009907"/>
              <a:ext cx="1020932" cy="810491"/>
            </a:xfrm>
            <a:prstGeom prst="bracketPair">
              <a:avLst>
                <a:gd name="adj" fmla="val 12286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B82ABD3-014D-FF25-A2BD-D444E0AED668}"/>
              </a:ext>
            </a:extLst>
          </p:cNvPr>
          <p:cNvSpPr txBox="1"/>
          <p:nvPr/>
        </p:nvSpPr>
        <p:spPr>
          <a:xfrm>
            <a:off x="3320291" y="5510775"/>
            <a:ext cx="37838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>
                <a:solidFill>
                  <a:schemeClr val="accent1"/>
                </a:solidFill>
              </a:rPr>
              <a:t>→</a:t>
            </a:r>
            <a:r>
              <a:rPr lang="en-US" altLang="ja-JP" sz="2000" b="1" dirty="0">
                <a:solidFill>
                  <a:schemeClr val="accent1"/>
                </a:solidFill>
              </a:rPr>
              <a:t>AB[2,5] is </a:t>
            </a:r>
            <a:r>
              <a:rPr lang="en-US" altLang="ja-JP" sz="2000" b="1" dirty="0">
                <a:solidFill>
                  <a:srgbClr val="C00000"/>
                </a:solidFill>
              </a:rPr>
              <a:t>definitely</a:t>
            </a:r>
            <a:r>
              <a:rPr lang="en-US" altLang="ja-JP" sz="2000" b="1" dirty="0">
                <a:solidFill>
                  <a:schemeClr val="accent1"/>
                </a:solidFill>
              </a:rPr>
              <a:t> Dense</a:t>
            </a:r>
          </a:p>
          <a:p>
            <a:r>
              <a:rPr lang="ja-JP" altLang="en-US" sz="2000" b="1">
                <a:solidFill>
                  <a:schemeClr val="accent1"/>
                </a:solidFill>
              </a:rPr>
              <a:t>→</a:t>
            </a:r>
            <a:r>
              <a:rPr lang="en-US" altLang="ja-JP" sz="2000" b="1" dirty="0">
                <a:solidFill>
                  <a:srgbClr val="C00000"/>
                </a:solidFill>
              </a:rPr>
              <a:t>Skippable</a:t>
            </a:r>
          </a:p>
        </p:txBody>
      </p:sp>
    </p:spTree>
    <p:extLst>
      <p:ext uri="{BB962C8B-B14F-4D97-AF65-F5344CB8AC3E}">
        <p14:creationId xmlns:p14="http://schemas.microsoft.com/office/powerpoint/2010/main" val="9262902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1D923E8A-E76C-39C2-DA0C-678DD3B2E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B8F72A01-8DC5-FB68-A06E-509A4A28C2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ja-JP" b="1" dirty="0"/>
              <a:t>Duplicate-aware t-axis stride</a:t>
            </a:r>
            <a:endParaRPr b="1" dirty="0"/>
          </a:p>
        </p:txBody>
      </p:sp>
      <p:sp>
        <p:nvSpPr>
          <p:cNvPr id="4" name="Google Shape;105;p2">
            <a:extLst>
              <a:ext uri="{FF2B5EF4-FFF2-40B4-BE49-F238E27FC236}">
                <a16:creationId xmlns:a16="http://schemas.microsoft.com/office/drawing/2014/main" id="{0815A41F-2241-62A4-1C24-0B160E05C9F7}"/>
              </a:ext>
            </a:extLst>
          </p:cNvPr>
          <p:cNvSpPr txBox="1">
            <a:spLocks/>
          </p:cNvSpPr>
          <p:nvPr/>
        </p:nvSpPr>
        <p:spPr>
          <a:xfrm>
            <a:off x="103908" y="1122218"/>
            <a:ext cx="8763867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Skip </a:t>
            </a:r>
            <a:r>
              <a:rPr lang="en-US" altLang="ja-JP" b="1" dirty="0">
                <a:solidFill>
                  <a:srgbClr val="C00000"/>
                </a:solidFill>
              </a:rPr>
              <a:t>guaranteed dense &amp; </a:t>
            </a:r>
            <a:r>
              <a:rPr lang="ja-JP" altLang="ja-JP" b="1">
                <a:solidFill>
                  <a:srgbClr val="C00000"/>
                </a:solidFill>
              </a:rPr>
              <a:t>non-dense gaps</a:t>
            </a:r>
            <a:r>
              <a:rPr lang="ja-JP" altLang="ja-JP"/>
              <a:t> by jumping l to the next useful position — avoids scanning every window.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5356DBF-D588-E666-FAE0-E12D979C0B31}"/>
              </a:ext>
            </a:extLst>
          </p:cNvPr>
          <p:cNvSpPr/>
          <p:nvPr/>
        </p:nvSpPr>
        <p:spPr>
          <a:xfrm>
            <a:off x="2912126" y="2784851"/>
            <a:ext cx="3363828" cy="194464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b="1"/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AC6D2721-5FD9-8A47-1738-FC4420804242}"/>
              </a:ext>
            </a:extLst>
          </p:cNvPr>
          <p:cNvGrpSpPr/>
          <p:nvPr/>
        </p:nvGrpSpPr>
        <p:grpSpPr>
          <a:xfrm>
            <a:off x="1437698" y="2920430"/>
            <a:ext cx="6276331" cy="1638965"/>
            <a:chOff x="1437698" y="2920430"/>
            <a:chExt cx="6276331" cy="1638965"/>
          </a:xfrm>
        </p:grpSpPr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C6B2047B-11A1-49FA-CB89-4094A5CF57D1}"/>
                </a:ext>
              </a:extLst>
            </p:cNvPr>
            <p:cNvSpPr/>
            <p:nvPr/>
          </p:nvSpPr>
          <p:spPr>
            <a:xfrm>
              <a:off x="6360002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4DACB0ED-AF29-AA4F-80CA-E1DB0805A804}"/>
                </a:ext>
              </a:extLst>
            </p:cNvPr>
            <p:cNvSpPr/>
            <p:nvPr/>
          </p:nvSpPr>
          <p:spPr>
            <a:xfrm>
              <a:off x="5539618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F3F738B6-66E0-4B67-C4B2-F1EB5AF28A1C}"/>
                </a:ext>
              </a:extLst>
            </p:cNvPr>
            <p:cNvSpPr/>
            <p:nvPr/>
          </p:nvSpPr>
          <p:spPr>
            <a:xfrm>
              <a:off x="4719234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80CE4D9D-3F63-3ACD-480C-0F3D7A9D9060}"/>
                </a:ext>
              </a:extLst>
            </p:cNvPr>
            <p:cNvSpPr/>
            <p:nvPr/>
          </p:nvSpPr>
          <p:spPr>
            <a:xfrm>
              <a:off x="3898850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6E5545AE-EC3A-604F-9F79-FE5F9804931E}"/>
                </a:ext>
              </a:extLst>
            </p:cNvPr>
            <p:cNvSpPr/>
            <p:nvPr/>
          </p:nvSpPr>
          <p:spPr>
            <a:xfrm>
              <a:off x="1437698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AF707BB5-75E2-8715-0AAC-532C14C1D451}"/>
                </a:ext>
              </a:extLst>
            </p:cNvPr>
            <p:cNvSpPr/>
            <p:nvPr/>
          </p:nvSpPr>
          <p:spPr>
            <a:xfrm>
              <a:off x="2258082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CCD74C41-FF73-4467-3085-874ECE8FAEF3}"/>
                </a:ext>
              </a:extLst>
            </p:cNvPr>
            <p:cNvSpPr/>
            <p:nvPr/>
          </p:nvSpPr>
          <p:spPr>
            <a:xfrm>
              <a:off x="3078466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16F0A66A-4956-43FC-F796-3D7A35BA2F3E}"/>
                </a:ext>
              </a:extLst>
            </p:cNvPr>
            <p:cNvSpPr/>
            <p:nvPr/>
          </p:nvSpPr>
          <p:spPr>
            <a:xfrm>
              <a:off x="7180388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20329412-4981-7F13-0508-D09228244279}"/>
                </a:ext>
              </a:extLst>
            </p:cNvPr>
            <p:cNvSpPr/>
            <p:nvPr/>
          </p:nvSpPr>
          <p:spPr>
            <a:xfrm>
              <a:off x="1444138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3CEBAEED-569D-B0B7-AA33-2BEACE2AC190}"/>
                </a:ext>
              </a:extLst>
            </p:cNvPr>
            <p:cNvSpPr/>
            <p:nvPr/>
          </p:nvSpPr>
          <p:spPr>
            <a:xfrm>
              <a:off x="2249068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BC</a:t>
              </a:r>
              <a:endParaRPr kumimoji="1" lang="ja-JP" altLang="en-US" sz="1800" b="1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3CD5997B-FFF7-6579-D979-3A7A48BB8FA1}"/>
                </a:ext>
              </a:extLst>
            </p:cNvPr>
            <p:cNvSpPr/>
            <p:nvPr/>
          </p:nvSpPr>
          <p:spPr>
            <a:xfrm>
              <a:off x="3916882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81876AB1-7A71-E1C8-4E84-63D0FE083526}"/>
                </a:ext>
              </a:extLst>
            </p:cNvPr>
            <p:cNvSpPr/>
            <p:nvPr/>
          </p:nvSpPr>
          <p:spPr>
            <a:xfrm>
              <a:off x="5526741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E7CB1CBE-C412-AB2C-0A93-00C69E9FA024}"/>
                </a:ext>
              </a:extLst>
            </p:cNvPr>
            <p:cNvSpPr/>
            <p:nvPr/>
          </p:nvSpPr>
          <p:spPr>
            <a:xfrm>
              <a:off x="7188115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78D4AF1C-CD44-44B7-B932-8CE7AD18F919}"/>
                </a:ext>
              </a:extLst>
            </p:cNvPr>
            <p:cNvSpPr/>
            <p:nvPr/>
          </p:nvSpPr>
          <p:spPr>
            <a:xfrm>
              <a:off x="1616915" y="2920430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1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012C1CD3-4DCE-BB1E-DE42-029C307ED728}"/>
                </a:ext>
              </a:extLst>
            </p:cNvPr>
            <p:cNvSpPr/>
            <p:nvPr/>
          </p:nvSpPr>
          <p:spPr>
            <a:xfrm>
              <a:off x="2437299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2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9CB253BE-6E3C-2925-A0A1-24FC4DAE37AD}"/>
                </a:ext>
              </a:extLst>
            </p:cNvPr>
            <p:cNvSpPr/>
            <p:nvPr/>
          </p:nvSpPr>
          <p:spPr>
            <a:xfrm>
              <a:off x="3263437" y="2927838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3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DE54FF9F-E5E3-AC5F-0290-986359B19820}"/>
                </a:ext>
              </a:extLst>
            </p:cNvPr>
            <p:cNvSpPr/>
            <p:nvPr/>
          </p:nvSpPr>
          <p:spPr>
            <a:xfrm>
              <a:off x="4071922" y="2927838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4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48D3573A-22B0-5663-09AF-D83116A704EE}"/>
                </a:ext>
              </a:extLst>
            </p:cNvPr>
            <p:cNvSpPr/>
            <p:nvPr/>
          </p:nvSpPr>
          <p:spPr>
            <a:xfrm>
              <a:off x="4894529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5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78AA9C43-5352-1300-11C8-909A3D76F4CE}"/>
                </a:ext>
              </a:extLst>
            </p:cNvPr>
            <p:cNvSpPr/>
            <p:nvPr/>
          </p:nvSpPr>
          <p:spPr>
            <a:xfrm>
              <a:off x="5706544" y="292783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6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C454B58B-34DF-C41A-2F49-E0246C72CAF8}"/>
                </a:ext>
              </a:extLst>
            </p:cNvPr>
            <p:cNvSpPr/>
            <p:nvPr/>
          </p:nvSpPr>
          <p:spPr>
            <a:xfrm>
              <a:off x="6536212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7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C1D66206-F2AA-F797-8A98-F7B01B837A5A}"/>
                </a:ext>
              </a:extLst>
            </p:cNvPr>
            <p:cNvSpPr/>
            <p:nvPr/>
          </p:nvSpPr>
          <p:spPr>
            <a:xfrm>
              <a:off x="7348228" y="292077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8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18DF8CE6-9630-13F1-3D19-C930ABCF2BC9}"/>
                </a:ext>
              </a:extLst>
            </p:cNvPr>
            <p:cNvSpPr/>
            <p:nvPr/>
          </p:nvSpPr>
          <p:spPr>
            <a:xfrm>
              <a:off x="1444138" y="4202704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1A45C9C2-5859-7735-EE7E-F1C221D48CC4}"/>
                  </a:ext>
                </a:extLst>
              </p:cNvPr>
              <p:cNvSpPr txBox="1"/>
              <p:nvPr/>
            </p:nvSpPr>
            <p:spPr>
              <a:xfrm>
                <a:off x="3460292" y="4989209"/>
                <a:ext cx="3495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18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18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𝐬𝐮𝐩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[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kumimoji="1" lang="en-US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𝒐𝒓</m:t>
                      </m:r>
                      <m:r>
                        <a:rPr kumimoji="1" lang="en-US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kumimoji="1" lang="en-US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𝒐𝒓</m:t>
                      </m:r>
                      <m:r>
                        <a:rPr kumimoji="1" lang="en-US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≥ 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kumimoji="1" lang="en-US" altLang="ja-JP" sz="1800" b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1A45C9C2-5859-7735-EE7E-F1C221D48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0292" y="4989209"/>
                <a:ext cx="3495400" cy="369332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85AD09DC-3398-C029-667C-EB30CE249CB4}"/>
              </a:ext>
            </a:extLst>
          </p:cNvPr>
          <p:cNvGrpSpPr/>
          <p:nvPr/>
        </p:nvGrpSpPr>
        <p:grpSpPr>
          <a:xfrm>
            <a:off x="7431968" y="1974360"/>
            <a:ext cx="1383382" cy="810491"/>
            <a:chOff x="7286569" y="2009907"/>
            <a:chExt cx="1383382" cy="8104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1C918F55-A4E3-CDE1-5552-A5B8691B2285}"/>
                    </a:ext>
                  </a:extLst>
                </p:cNvPr>
                <p:cNvSpPr txBox="1"/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=4</m:t>
                        </m:r>
                      </m:oMath>
                    </m:oMathPara>
                  </a14:m>
                  <a:endParaRPr kumimoji="1" lang="en-US" altLang="ja-JP" sz="1800" dirty="0"/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kumimoji="1" lang="en-US" altLang="ja-JP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ja-JP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kumimoji="1" lang="en-US" altLang="ja-JP" sz="1800" dirty="0"/>
                </a:p>
              </p:txBody>
            </p:sp>
          </mc:Choice>
          <mc:Fallback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1C918F55-A4E3-CDE1-5552-A5B8691B22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blipFill>
                  <a:blip r:embed="rId4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大かっこ 26">
              <a:extLst>
                <a:ext uri="{FF2B5EF4-FFF2-40B4-BE49-F238E27FC236}">
                  <a16:creationId xmlns:a16="http://schemas.microsoft.com/office/drawing/2014/main" id="{6C55E5C2-B250-55FC-E53A-05BDDD43E35F}"/>
                </a:ext>
              </a:extLst>
            </p:cNvPr>
            <p:cNvSpPr/>
            <p:nvPr/>
          </p:nvSpPr>
          <p:spPr>
            <a:xfrm>
              <a:off x="7430610" y="2009907"/>
              <a:ext cx="1020932" cy="810491"/>
            </a:xfrm>
            <a:prstGeom prst="bracketPair">
              <a:avLst>
                <a:gd name="adj" fmla="val 12286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5DCB295A-899F-8BE6-4BC1-E89F3830D95A}"/>
              </a:ext>
            </a:extLst>
          </p:cNvPr>
          <p:cNvSpPr txBox="1"/>
          <p:nvPr/>
        </p:nvSpPr>
        <p:spPr>
          <a:xfrm>
            <a:off x="4153552" y="5500179"/>
            <a:ext cx="37165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>
                <a:solidFill>
                  <a:schemeClr val="accent1"/>
                </a:solidFill>
              </a:rPr>
              <a:t>→</a:t>
            </a:r>
            <a:r>
              <a:rPr lang="en-US" altLang="ja-JP" sz="2000" b="1" dirty="0">
                <a:solidFill>
                  <a:schemeClr val="accent1"/>
                </a:solidFill>
              </a:rPr>
              <a:t>AB[3,6] is </a:t>
            </a:r>
            <a:r>
              <a:rPr lang="en-US" altLang="ja-JP" sz="2000" b="1" dirty="0">
                <a:solidFill>
                  <a:srgbClr val="C00000"/>
                </a:solidFill>
              </a:rPr>
              <a:t>definitely</a:t>
            </a:r>
            <a:r>
              <a:rPr lang="en-US" altLang="ja-JP" sz="2000" b="1" dirty="0">
                <a:solidFill>
                  <a:schemeClr val="accent1"/>
                </a:solidFill>
              </a:rPr>
              <a:t> Dense</a:t>
            </a:r>
          </a:p>
          <a:p>
            <a:r>
              <a:rPr lang="ja-JP" altLang="en-US" sz="2000" b="1">
                <a:solidFill>
                  <a:schemeClr val="accent1"/>
                </a:solidFill>
              </a:rPr>
              <a:t>→</a:t>
            </a:r>
            <a:r>
              <a:rPr lang="en-US" altLang="ja-JP" sz="2000" b="1" dirty="0">
                <a:solidFill>
                  <a:srgbClr val="C00000"/>
                </a:solidFill>
              </a:rPr>
              <a:t>Skippable</a:t>
            </a:r>
          </a:p>
        </p:txBody>
      </p:sp>
    </p:spTree>
    <p:extLst>
      <p:ext uri="{BB962C8B-B14F-4D97-AF65-F5344CB8AC3E}">
        <p14:creationId xmlns:p14="http://schemas.microsoft.com/office/powerpoint/2010/main" val="3103283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78338F36-53ED-36A0-B75B-E7813C1C7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D4562A96-049A-91D6-0368-B3001FE1B7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ja-JP" b="1" dirty="0"/>
              <a:t>Duplicate-aware t-axis stride</a:t>
            </a:r>
            <a:endParaRPr b="1" dirty="0"/>
          </a:p>
        </p:txBody>
      </p:sp>
      <p:sp>
        <p:nvSpPr>
          <p:cNvPr id="4" name="Google Shape;105;p2">
            <a:extLst>
              <a:ext uri="{FF2B5EF4-FFF2-40B4-BE49-F238E27FC236}">
                <a16:creationId xmlns:a16="http://schemas.microsoft.com/office/drawing/2014/main" id="{5AD81302-AAFF-F870-46D5-1B482B2ABB8D}"/>
              </a:ext>
            </a:extLst>
          </p:cNvPr>
          <p:cNvSpPr txBox="1">
            <a:spLocks/>
          </p:cNvSpPr>
          <p:nvPr/>
        </p:nvSpPr>
        <p:spPr>
          <a:xfrm>
            <a:off x="103908" y="1122218"/>
            <a:ext cx="8763867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Skip </a:t>
            </a:r>
            <a:r>
              <a:rPr lang="en-US" altLang="ja-JP" b="1" dirty="0">
                <a:solidFill>
                  <a:srgbClr val="C00000"/>
                </a:solidFill>
              </a:rPr>
              <a:t>guaranteed dense &amp; </a:t>
            </a:r>
            <a:r>
              <a:rPr lang="ja-JP" altLang="ja-JP" b="1">
                <a:solidFill>
                  <a:srgbClr val="C00000"/>
                </a:solidFill>
              </a:rPr>
              <a:t>non-dense gaps</a:t>
            </a:r>
            <a:r>
              <a:rPr lang="ja-JP" altLang="ja-JP"/>
              <a:t> by jumping l to the next useful position — avoids scanning every window.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A0C07DA-617D-599F-677B-9B0D51B8E2A0}"/>
              </a:ext>
            </a:extLst>
          </p:cNvPr>
          <p:cNvSpPr/>
          <p:nvPr/>
        </p:nvSpPr>
        <p:spPr>
          <a:xfrm>
            <a:off x="1236229" y="2820399"/>
            <a:ext cx="3363828" cy="194464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b="1"/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3B00AA39-8A98-7E40-FEF4-1FCCBF7436EF}"/>
              </a:ext>
            </a:extLst>
          </p:cNvPr>
          <p:cNvGrpSpPr/>
          <p:nvPr/>
        </p:nvGrpSpPr>
        <p:grpSpPr>
          <a:xfrm>
            <a:off x="1437698" y="2920430"/>
            <a:ext cx="6276331" cy="1638965"/>
            <a:chOff x="1437698" y="2920430"/>
            <a:chExt cx="6276331" cy="1638965"/>
          </a:xfrm>
        </p:grpSpPr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7319615A-93DA-2A03-DCBF-A09824D47FC1}"/>
                </a:ext>
              </a:extLst>
            </p:cNvPr>
            <p:cNvSpPr/>
            <p:nvPr/>
          </p:nvSpPr>
          <p:spPr>
            <a:xfrm>
              <a:off x="6360002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60784C33-F42F-DA2A-252A-0A34ECE28D8E}"/>
                </a:ext>
              </a:extLst>
            </p:cNvPr>
            <p:cNvSpPr/>
            <p:nvPr/>
          </p:nvSpPr>
          <p:spPr>
            <a:xfrm>
              <a:off x="5539618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354EF8D6-B70D-826C-F52D-6B440D2C2E5C}"/>
                </a:ext>
              </a:extLst>
            </p:cNvPr>
            <p:cNvSpPr/>
            <p:nvPr/>
          </p:nvSpPr>
          <p:spPr>
            <a:xfrm>
              <a:off x="4719234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32991D45-8FD3-56F1-E790-24BEE3980CFC}"/>
                </a:ext>
              </a:extLst>
            </p:cNvPr>
            <p:cNvSpPr/>
            <p:nvPr/>
          </p:nvSpPr>
          <p:spPr>
            <a:xfrm>
              <a:off x="3898850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2BDF99B4-8D18-4BCA-7D26-8A290E38F501}"/>
                </a:ext>
              </a:extLst>
            </p:cNvPr>
            <p:cNvSpPr/>
            <p:nvPr/>
          </p:nvSpPr>
          <p:spPr>
            <a:xfrm>
              <a:off x="1437698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B8DD8A35-AA97-0565-D16A-1AEEC6235926}"/>
                </a:ext>
              </a:extLst>
            </p:cNvPr>
            <p:cNvSpPr/>
            <p:nvPr/>
          </p:nvSpPr>
          <p:spPr>
            <a:xfrm>
              <a:off x="2258082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58F51FC8-C714-58EB-F717-76F97FB4EA99}"/>
                </a:ext>
              </a:extLst>
            </p:cNvPr>
            <p:cNvSpPr/>
            <p:nvPr/>
          </p:nvSpPr>
          <p:spPr>
            <a:xfrm>
              <a:off x="3078466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CEEFBEC4-8776-874B-5A78-7FCAA6DCB3C4}"/>
                </a:ext>
              </a:extLst>
            </p:cNvPr>
            <p:cNvSpPr/>
            <p:nvPr/>
          </p:nvSpPr>
          <p:spPr>
            <a:xfrm>
              <a:off x="7180388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1FA28303-2412-36C9-623E-BEF96A839833}"/>
                </a:ext>
              </a:extLst>
            </p:cNvPr>
            <p:cNvSpPr/>
            <p:nvPr/>
          </p:nvSpPr>
          <p:spPr>
            <a:xfrm>
              <a:off x="1444138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F3533F1E-C0B0-AFF2-8545-92E00566E625}"/>
                </a:ext>
              </a:extLst>
            </p:cNvPr>
            <p:cNvSpPr/>
            <p:nvPr/>
          </p:nvSpPr>
          <p:spPr>
            <a:xfrm>
              <a:off x="2249068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BC</a:t>
              </a:r>
              <a:endParaRPr kumimoji="1" lang="ja-JP" altLang="en-US" sz="1800" b="1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14A86B8A-F50C-A4BC-C7DC-C28BE24BA6B4}"/>
                </a:ext>
              </a:extLst>
            </p:cNvPr>
            <p:cNvSpPr/>
            <p:nvPr/>
          </p:nvSpPr>
          <p:spPr>
            <a:xfrm>
              <a:off x="3916882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C6611763-7A95-5EDB-4371-5C39FE2E5764}"/>
                </a:ext>
              </a:extLst>
            </p:cNvPr>
            <p:cNvSpPr/>
            <p:nvPr/>
          </p:nvSpPr>
          <p:spPr>
            <a:xfrm>
              <a:off x="5526741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A57F9BE9-64D3-8952-6644-309548155A7A}"/>
                </a:ext>
              </a:extLst>
            </p:cNvPr>
            <p:cNvSpPr/>
            <p:nvPr/>
          </p:nvSpPr>
          <p:spPr>
            <a:xfrm>
              <a:off x="7188115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1DC51B34-5F10-0C1C-1085-C891D155807C}"/>
                </a:ext>
              </a:extLst>
            </p:cNvPr>
            <p:cNvSpPr/>
            <p:nvPr/>
          </p:nvSpPr>
          <p:spPr>
            <a:xfrm>
              <a:off x="1616915" y="2920430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1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854E6E5B-51E8-B47A-879D-9D58FAC96F50}"/>
                </a:ext>
              </a:extLst>
            </p:cNvPr>
            <p:cNvSpPr/>
            <p:nvPr/>
          </p:nvSpPr>
          <p:spPr>
            <a:xfrm>
              <a:off x="2437299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2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BC856447-FA46-1E0F-9F21-92EF18258D3F}"/>
                </a:ext>
              </a:extLst>
            </p:cNvPr>
            <p:cNvSpPr/>
            <p:nvPr/>
          </p:nvSpPr>
          <p:spPr>
            <a:xfrm>
              <a:off x="3263437" y="2927838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3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476F4078-9F8F-F7B6-5A36-AAA638E4B614}"/>
                </a:ext>
              </a:extLst>
            </p:cNvPr>
            <p:cNvSpPr/>
            <p:nvPr/>
          </p:nvSpPr>
          <p:spPr>
            <a:xfrm>
              <a:off x="4071922" y="2927838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4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0CF8A710-43FD-9CFD-8420-D8621486D23A}"/>
                </a:ext>
              </a:extLst>
            </p:cNvPr>
            <p:cNvSpPr/>
            <p:nvPr/>
          </p:nvSpPr>
          <p:spPr>
            <a:xfrm>
              <a:off x="4894529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5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42C801E8-28FE-7775-B886-5293A9B4718D}"/>
                </a:ext>
              </a:extLst>
            </p:cNvPr>
            <p:cNvSpPr/>
            <p:nvPr/>
          </p:nvSpPr>
          <p:spPr>
            <a:xfrm>
              <a:off x="5706544" y="292783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6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DA8874E9-5D59-FAF8-83FA-FDA033F672B4}"/>
                </a:ext>
              </a:extLst>
            </p:cNvPr>
            <p:cNvSpPr/>
            <p:nvPr/>
          </p:nvSpPr>
          <p:spPr>
            <a:xfrm>
              <a:off x="6536212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7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D0CEA680-E1AF-893A-3B74-93CAB441F6B6}"/>
                </a:ext>
              </a:extLst>
            </p:cNvPr>
            <p:cNvSpPr/>
            <p:nvPr/>
          </p:nvSpPr>
          <p:spPr>
            <a:xfrm>
              <a:off x="7348228" y="292077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8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BF7FDBFA-FD0D-1329-8A26-E3359B3F2822}"/>
                </a:ext>
              </a:extLst>
            </p:cNvPr>
            <p:cNvSpPr/>
            <p:nvPr/>
          </p:nvSpPr>
          <p:spPr>
            <a:xfrm>
              <a:off x="1444138" y="4202704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664BCB2F-DFBC-C4CF-AF16-397E6B403018}"/>
                  </a:ext>
                </a:extLst>
              </p:cNvPr>
              <p:cNvSpPr txBox="1"/>
              <p:nvPr/>
            </p:nvSpPr>
            <p:spPr>
              <a:xfrm>
                <a:off x="1784395" y="5024757"/>
                <a:ext cx="26838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18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18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𝐬𝐮𝐩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[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kumimoji="1" lang="en-US" altLang="ja-JP" sz="1800" b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664BCB2F-DFBC-C4CF-AF16-397E6B403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395" y="5024757"/>
                <a:ext cx="2683811" cy="369332"/>
              </a:xfrm>
              <a:prstGeom prst="rect">
                <a:avLst/>
              </a:prstGeom>
              <a:blipFill>
                <a:blip r:embed="rId3"/>
                <a:stretch>
                  <a:fillRect l="-472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95412868-414A-8B02-D252-A1D55375A97E}"/>
              </a:ext>
            </a:extLst>
          </p:cNvPr>
          <p:cNvGrpSpPr/>
          <p:nvPr/>
        </p:nvGrpSpPr>
        <p:grpSpPr>
          <a:xfrm>
            <a:off x="7431968" y="1974360"/>
            <a:ext cx="1383382" cy="810491"/>
            <a:chOff x="7286569" y="2009907"/>
            <a:chExt cx="1383382" cy="8104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166CE248-E1D9-DA74-8E4D-B3F22550460E}"/>
                    </a:ext>
                  </a:extLst>
                </p:cNvPr>
                <p:cNvSpPr txBox="1"/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=4</m:t>
                        </m:r>
                      </m:oMath>
                    </m:oMathPara>
                  </a14:m>
                  <a:endParaRPr kumimoji="1" lang="en-US" altLang="ja-JP" sz="1800" dirty="0"/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kumimoji="1" lang="en-US" altLang="ja-JP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ja-JP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kumimoji="1" lang="en-US" altLang="ja-JP" sz="1800" dirty="0"/>
                </a:p>
              </p:txBody>
            </p:sp>
          </mc:Choice>
          <mc:Fallback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166CE248-E1D9-DA74-8E4D-B3F2255046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blipFill>
                  <a:blip r:embed="rId4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大かっこ 26">
              <a:extLst>
                <a:ext uri="{FF2B5EF4-FFF2-40B4-BE49-F238E27FC236}">
                  <a16:creationId xmlns:a16="http://schemas.microsoft.com/office/drawing/2014/main" id="{87BD5311-2686-7E87-2A3A-92CAF31A4F81}"/>
                </a:ext>
              </a:extLst>
            </p:cNvPr>
            <p:cNvSpPr/>
            <p:nvPr/>
          </p:nvSpPr>
          <p:spPr>
            <a:xfrm>
              <a:off x="7430610" y="2009907"/>
              <a:ext cx="1020932" cy="810491"/>
            </a:xfrm>
            <a:prstGeom prst="bracketPair">
              <a:avLst>
                <a:gd name="adj" fmla="val 12286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F035482-81B2-A325-7EB9-DC6A226C7240}"/>
              </a:ext>
            </a:extLst>
          </p:cNvPr>
          <p:cNvSpPr txBox="1"/>
          <p:nvPr/>
        </p:nvSpPr>
        <p:spPr>
          <a:xfrm>
            <a:off x="2477655" y="5535727"/>
            <a:ext cx="3228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>
                <a:solidFill>
                  <a:schemeClr val="accent1"/>
                </a:solidFill>
              </a:rPr>
              <a:t>→</a:t>
            </a:r>
            <a:r>
              <a:rPr lang="en-US" altLang="ja-JP" sz="2000" b="1" dirty="0">
                <a:solidFill>
                  <a:schemeClr val="accent1"/>
                </a:solidFill>
              </a:rPr>
              <a:t>AB[1,4] is not Dense</a:t>
            </a:r>
          </a:p>
        </p:txBody>
      </p:sp>
    </p:spTree>
    <p:extLst>
      <p:ext uri="{BB962C8B-B14F-4D97-AF65-F5344CB8AC3E}">
        <p14:creationId xmlns:p14="http://schemas.microsoft.com/office/powerpoint/2010/main" val="23465878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CB459F3C-429C-F337-5393-6CCF37B68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26D3DC29-536E-B764-B7B5-11320F43CD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ja-JP" b="1" dirty="0"/>
              <a:t>Duplicate-aware t-axis stride</a:t>
            </a:r>
            <a:endParaRPr b="1" dirty="0"/>
          </a:p>
        </p:txBody>
      </p:sp>
      <p:sp>
        <p:nvSpPr>
          <p:cNvPr id="4" name="Google Shape;105;p2">
            <a:extLst>
              <a:ext uri="{FF2B5EF4-FFF2-40B4-BE49-F238E27FC236}">
                <a16:creationId xmlns:a16="http://schemas.microsoft.com/office/drawing/2014/main" id="{A7DE9A85-F950-FEA7-CEB4-9F058E9F7FB4}"/>
              </a:ext>
            </a:extLst>
          </p:cNvPr>
          <p:cNvSpPr txBox="1">
            <a:spLocks/>
          </p:cNvSpPr>
          <p:nvPr/>
        </p:nvSpPr>
        <p:spPr>
          <a:xfrm>
            <a:off x="103908" y="1122218"/>
            <a:ext cx="8763867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Skip </a:t>
            </a:r>
            <a:r>
              <a:rPr lang="en-US" altLang="ja-JP" b="1" dirty="0">
                <a:solidFill>
                  <a:srgbClr val="C00000"/>
                </a:solidFill>
              </a:rPr>
              <a:t>guaranteed dense &amp; </a:t>
            </a:r>
            <a:r>
              <a:rPr lang="ja-JP" altLang="ja-JP" b="1">
                <a:solidFill>
                  <a:srgbClr val="C00000"/>
                </a:solidFill>
              </a:rPr>
              <a:t>non-dense gaps</a:t>
            </a:r>
            <a:r>
              <a:rPr lang="ja-JP" altLang="ja-JP"/>
              <a:t> by jumping l to the next useful position — avoids scanning every window.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E3EE649-6FE0-BA30-3863-F388FE739BD6}"/>
              </a:ext>
            </a:extLst>
          </p:cNvPr>
          <p:cNvSpPr/>
          <p:nvPr/>
        </p:nvSpPr>
        <p:spPr>
          <a:xfrm>
            <a:off x="2051411" y="2784851"/>
            <a:ext cx="3363828" cy="194464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b="1"/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B385B414-0242-13DF-44C1-7E0A2B5D4469}"/>
              </a:ext>
            </a:extLst>
          </p:cNvPr>
          <p:cNvGrpSpPr/>
          <p:nvPr/>
        </p:nvGrpSpPr>
        <p:grpSpPr>
          <a:xfrm>
            <a:off x="1437698" y="2920430"/>
            <a:ext cx="6276331" cy="1638965"/>
            <a:chOff x="1437698" y="2920430"/>
            <a:chExt cx="6276331" cy="1638965"/>
          </a:xfrm>
        </p:grpSpPr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3EB84D78-2DA7-77AB-C173-9A4EE7CBBA8A}"/>
                </a:ext>
              </a:extLst>
            </p:cNvPr>
            <p:cNvSpPr/>
            <p:nvPr/>
          </p:nvSpPr>
          <p:spPr>
            <a:xfrm>
              <a:off x="6360002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A78FF9AE-B3F2-81ED-D487-26121C8EFF98}"/>
                </a:ext>
              </a:extLst>
            </p:cNvPr>
            <p:cNvSpPr/>
            <p:nvPr/>
          </p:nvSpPr>
          <p:spPr>
            <a:xfrm>
              <a:off x="5539618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506BB0CD-215D-C6FB-7EA8-4C96BFF6B7FA}"/>
                </a:ext>
              </a:extLst>
            </p:cNvPr>
            <p:cNvSpPr/>
            <p:nvPr/>
          </p:nvSpPr>
          <p:spPr>
            <a:xfrm>
              <a:off x="4719234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EE4D09D5-0934-31F4-3ADE-9F1D38733B6C}"/>
                </a:ext>
              </a:extLst>
            </p:cNvPr>
            <p:cNvSpPr/>
            <p:nvPr/>
          </p:nvSpPr>
          <p:spPr>
            <a:xfrm>
              <a:off x="3898850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5C64F081-BF06-3DAC-2BA5-901B93ED54BC}"/>
                </a:ext>
              </a:extLst>
            </p:cNvPr>
            <p:cNvSpPr/>
            <p:nvPr/>
          </p:nvSpPr>
          <p:spPr>
            <a:xfrm>
              <a:off x="1437698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F131BFF0-B79D-E768-0777-BBAD52C2D447}"/>
                </a:ext>
              </a:extLst>
            </p:cNvPr>
            <p:cNvSpPr/>
            <p:nvPr/>
          </p:nvSpPr>
          <p:spPr>
            <a:xfrm>
              <a:off x="2258082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1C6D2FE9-A970-933D-F1B3-6103E892A9E7}"/>
                </a:ext>
              </a:extLst>
            </p:cNvPr>
            <p:cNvSpPr/>
            <p:nvPr/>
          </p:nvSpPr>
          <p:spPr>
            <a:xfrm>
              <a:off x="3078466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B6AB9759-DEC3-E416-24D5-BF0C7829A703}"/>
                </a:ext>
              </a:extLst>
            </p:cNvPr>
            <p:cNvSpPr/>
            <p:nvPr/>
          </p:nvSpPr>
          <p:spPr>
            <a:xfrm>
              <a:off x="7180388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DAFEEA66-F6ED-7E39-88F4-82FD1D35A98C}"/>
                </a:ext>
              </a:extLst>
            </p:cNvPr>
            <p:cNvSpPr/>
            <p:nvPr/>
          </p:nvSpPr>
          <p:spPr>
            <a:xfrm>
              <a:off x="1444138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AF7D1559-ADA7-9DAB-D60D-DD75AC2796E0}"/>
                </a:ext>
              </a:extLst>
            </p:cNvPr>
            <p:cNvSpPr/>
            <p:nvPr/>
          </p:nvSpPr>
          <p:spPr>
            <a:xfrm>
              <a:off x="2249068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BC</a:t>
              </a:r>
              <a:endParaRPr kumimoji="1" lang="ja-JP" altLang="en-US" sz="1800" b="1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B3E6A388-6BDF-431C-E373-7FAF878FB0DE}"/>
                </a:ext>
              </a:extLst>
            </p:cNvPr>
            <p:cNvSpPr/>
            <p:nvPr/>
          </p:nvSpPr>
          <p:spPr>
            <a:xfrm>
              <a:off x="3916882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B4992768-6AA6-BF8A-C409-66AE4506DD19}"/>
                </a:ext>
              </a:extLst>
            </p:cNvPr>
            <p:cNvSpPr/>
            <p:nvPr/>
          </p:nvSpPr>
          <p:spPr>
            <a:xfrm>
              <a:off x="5526741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A3406DC0-8396-2F54-BEB0-0E8E90B77681}"/>
                </a:ext>
              </a:extLst>
            </p:cNvPr>
            <p:cNvSpPr/>
            <p:nvPr/>
          </p:nvSpPr>
          <p:spPr>
            <a:xfrm>
              <a:off x="7188115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227E6CF8-1297-4755-0570-A24B8C4CEC88}"/>
                </a:ext>
              </a:extLst>
            </p:cNvPr>
            <p:cNvSpPr/>
            <p:nvPr/>
          </p:nvSpPr>
          <p:spPr>
            <a:xfrm>
              <a:off x="1616915" y="2920430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1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88F46BD7-9384-10BA-1041-9E0015AA4E8F}"/>
                </a:ext>
              </a:extLst>
            </p:cNvPr>
            <p:cNvSpPr/>
            <p:nvPr/>
          </p:nvSpPr>
          <p:spPr>
            <a:xfrm>
              <a:off x="2437299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2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275C2604-1766-8B3B-3742-11F06FC8F434}"/>
                </a:ext>
              </a:extLst>
            </p:cNvPr>
            <p:cNvSpPr/>
            <p:nvPr/>
          </p:nvSpPr>
          <p:spPr>
            <a:xfrm>
              <a:off x="3263437" y="2927838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3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D4A2956E-D922-4936-3B5E-6EE9FF5B8566}"/>
                </a:ext>
              </a:extLst>
            </p:cNvPr>
            <p:cNvSpPr/>
            <p:nvPr/>
          </p:nvSpPr>
          <p:spPr>
            <a:xfrm>
              <a:off x="4071922" y="2927838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4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F28D83A4-3F12-79A7-D664-91DF0BB56CC2}"/>
                </a:ext>
              </a:extLst>
            </p:cNvPr>
            <p:cNvSpPr/>
            <p:nvPr/>
          </p:nvSpPr>
          <p:spPr>
            <a:xfrm>
              <a:off x="4894529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5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7D404646-7EFA-E6DC-1514-FC06A0ABF744}"/>
                </a:ext>
              </a:extLst>
            </p:cNvPr>
            <p:cNvSpPr/>
            <p:nvPr/>
          </p:nvSpPr>
          <p:spPr>
            <a:xfrm>
              <a:off x="5706544" y="292783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6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92C6974F-804F-0A02-D938-86669EAF9949}"/>
                </a:ext>
              </a:extLst>
            </p:cNvPr>
            <p:cNvSpPr/>
            <p:nvPr/>
          </p:nvSpPr>
          <p:spPr>
            <a:xfrm>
              <a:off x="6536212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7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13113C6B-3A24-046E-E16F-691619D08CB7}"/>
                </a:ext>
              </a:extLst>
            </p:cNvPr>
            <p:cNvSpPr/>
            <p:nvPr/>
          </p:nvSpPr>
          <p:spPr>
            <a:xfrm>
              <a:off x="7348228" y="292077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8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EBC8DF07-44E9-D518-8634-1F56976DE30D}"/>
                </a:ext>
              </a:extLst>
            </p:cNvPr>
            <p:cNvSpPr/>
            <p:nvPr/>
          </p:nvSpPr>
          <p:spPr>
            <a:xfrm>
              <a:off x="1444138" y="4202704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A379D768-CFE1-8F4F-7BF6-64E4C9EB3005}"/>
                  </a:ext>
                </a:extLst>
              </p:cNvPr>
              <p:cNvSpPr txBox="1"/>
              <p:nvPr/>
            </p:nvSpPr>
            <p:spPr>
              <a:xfrm>
                <a:off x="2599577" y="4989209"/>
                <a:ext cx="26838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18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18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𝐬𝐮𝐩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[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kumimoji="1" lang="en-US" altLang="ja-JP" sz="1800" b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A379D768-CFE1-8F4F-7BF6-64E4C9EB3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577" y="4989209"/>
                <a:ext cx="2683811" cy="369332"/>
              </a:xfrm>
              <a:prstGeom prst="rect">
                <a:avLst/>
              </a:prstGeom>
              <a:blipFill>
                <a:blip r:embed="rId3"/>
                <a:stretch>
                  <a:fillRect l="-469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FD7DE68C-D015-62BD-3572-A34B6C70670A}"/>
              </a:ext>
            </a:extLst>
          </p:cNvPr>
          <p:cNvGrpSpPr/>
          <p:nvPr/>
        </p:nvGrpSpPr>
        <p:grpSpPr>
          <a:xfrm>
            <a:off x="7431968" y="1974360"/>
            <a:ext cx="1383382" cy="810491"/>
            <a:chOff x="7286569" y="2009907"/>
            <a:chExt cx="1383382" cy="8104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9F369E5E-D2A9-0F6C-C19D-95EDBA2348D1}"/>
                    </a:ext>
                  </a:extLst>
                </p:cNvPr>
                <p:cNvSpPr txBox="1"/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=4</m:t>
                        </m:r>
                      </m:oMath>
                    </m:oMathPara>
                  </a14:m>
                  <a:endParaRPr kumimoji="1" lang="en-US" altLang="ja-JP" sz="1800" dirty="0"/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kumimoji="1" lang="en-US" altLang="ja-JP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ja-JP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kumimoji="1" lang="en-US" altLang="ja-JP" sz="1800" dirty="0"/>
                </a:p>
              </p:txBody>
            </p:sp>
          </mc:Choice>
          <mc:Fallback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9F369E5E-D2A9-0F6C-C19D-95EDBA2348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blipFill>
                  <a:blip r:embed="rId4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大かっこ 26">
              <a:extLst>
                <a:ext uri="{FF2B5EF4-FFF2-40B4-BE49-F238E27FC236}">
                  <a16:creationId xmlns:a16="http://schemas.microsoft.com/office/drawing/2014/main" id="{E4EB4355-EEB2-58DE-719B-0C2D7B22934D}"/>
                </a:ext>
              </a:extLst>
            </p:cNvPr>
            <p:cNvSpPr/>
            <p:nvPr/>
          </p:nvSpPr>
          <p:spPr>
            <a:xfrm>
              <a:off x="7430610" y="2009907"/>
              <a:ext cx="1020932" cy="810491"/>
            </a:xfrm>
            <a:prstGeom prst="bracketPair">
              <a:avLst>
                <a:gd name="adj" fmla="val 12286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A749B4F-5C49-8E0D-7688-AD39C7735547}"/>
              </a:ext>
            </a:extLst>
          </p:cNvPr>
          <p:cNvSpPr txBox="1"/>
          <p:nvPr/>
        </p:nvSpPr>
        <p:spPr>
          <a:xfrm>
            <a:off x="3292837" y="5500179"/>
            <a:ext cx="42228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>
                <a:solidFill>
                  <a:schemeClr val="accent1"/>
                </a:solidFill>
              </a:rPr>
              <a:t>→</a:t>
            </a:r>
            <a:r>
              <a:rPr lang="en-US" altLang="ja-JP" sz="2000" b="1" dirty="0">
                <a:solidFill>
                  <a:schemeClr val="accent1"/>
                </a:solidFill>
              </a:rPr>
              <a:t>AB[1,4] is </a:t>
            </a:r>
            <a:r>
              <a:rPr lang="en-US" altLang="ja-JP" sz="2000" b="1" dirty="0">
                <a:solidFill>
                  <a:srgbClr val="C00000"/>
                </a:solidFill>
              </a:rPr>
              <a:t>definitely</a:t>
            </a:r>
            <a:r>
              <a:rPr lang="en-US" altLang="ja-JP" sz="2000" b="1" dirty="0">
                <a:solidFill>
                  <a:schemeClr val="accent1"/>
                </a:solidFill>
              </a:rPr>
              <a:t> not Dense</a:t>
            </a:r>
          </a:p>
          <a:p>
            <a:r>
              <a:rPr lang="ja-JP" altLang="en-US" sz="2000" b="1">
                <a:solidFill>
                  <a:schemeClr val="accent1"/>
                </a:solidFill>
              </a:rPr>
              <a:t>→</a:t>
            </a:r>
            <a:r>
              <a:rPr lang="en-US" altLang="ja-JP" sz="2000" b="1" dirty="0">
                <a:solidFill>
                  <a:srgbClr val="C00000"/>
                </a:solidFill>
              </a:rPr>
              <a:t>Skippable</a:t>
            </a:r>
          </a:p>
        </p:txBody>
      </p:sp>
    </p:spTree>
    <p:extLst>
      <p:ext uri="{BB962C8B-B14F-4D97-AF65-F5344CB8AC3E}">
        <p14:creationId xmlns:p14="http://schemas.microsoft.com/office/powerpoint/2010/main" val="35668376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A2AD49E9-A9AE-DE42-F8BE-9C2F3159B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526EA19A-1CE4-A6B5-3873-688639C60F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ja-JP" b="1" dirty="0"/>
              <a:t>Duplicate-aware t-axis stride</a:t>
            </a:r>
            <a:endParaRPr b="1" dirty="0"/>
          </a:p>
        </p:txBody>
      </p:sp>
      <p:sp>
        <p:nvSpPr>
          <p:cNvPr id="4" name="Google Shape;105;p2">
            <a:extLst>
              <a:ext uri="{FF2B5EF4-FFF2-40B4-BE49-F238E27FC236}">
                <a16:creationId xmlns:a16="http://schemas.microsoft.com/office/drawing/2014/main" id="{A9F61449-E839-DDC5-BF1B-E43EDC4E07A7}"/>
              </a:ext>
            </a:extLst>
          </p:cNvPr>
          <p:cNvSpPr txBox="1">
            <a:spLocks/>
          </p:cNvSpPr>
          <p:nvPr/>
        </p:nvSpPr>
        <p:spPr>
          <a:xfrm>
            <a:off x="103908" y="1122218"/>
            <a:ext cx="8763867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Skip </a:t>
            </a:r>
            <a:r>
              <a:rPr lang="en-US" altLang="ja-JP" b="1" dirty="0">
                <a:solidFill>
                  <a:srgbClr val="C00000"/>
                </a:solidFill>
              </a:rPr>
              <a:t>guaranteed dense &amp; </a:t>
            </a:r>
            <a:r>
              <a:rPr lang="ja-JP" altLang="ja-JP" b="1">
                <a:solidFill>
                  <a:srgbClr val="C00000"/>
                </a:solidFill>
              </a:rPr>
              <a:t>non-dense gaps</a:t>
            </a:r>
            <a:r>
              <a:rPr lang="ja-JP" altLang="ja-JP"/>
              <a:t> by jumping l to the next useful position — avoids scanning every window.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4337FB9-8613-CC7E-C5F8-CAA418293AC5}"/>
              </a:ext>
            </a:extLst>
          </p:cNvPr>
          <p:cNvSpPr/>
          <p:nvPr/>
        </p:nvSpPr>
        <p:spPr>
          <a:xfrm>
            <a:off x="2051411" y="2784851"/>
            <a:ext cx="3363828" cy="194464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b="1"/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92DDAEB8-3106-12AD-742E-AE1C773B3500}"/>
              </a:ext>
            </a:extLst>
          </p:cNvPr>
          <p:cNvGrpSpPr/>
          <p:nvPr/>
        </p:nvGrpSpPr>
        <p:grpSpPr>
          <a:xfrm>
            <a:off x="1437698" y="2920430"/>
            <a:ext cx="6276331" cy="1638965"/>
            <a:chOff x="1437698" y="2920430"/>
            <a:chExt cx="6276331" cy="1638965"/>
          </a:xfrm>
        </p:grpSpPr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B973CB39-0118-D2D9-33CF-0432DBF3F052}"/>
                </a:ext>
              </a:extLst>
            </p:cNvPr>
            <p:cNvSpPr/>
            <p:nvPr/>
          </p:nvSpPr>
          <p:spPr>
            <a:xfrm>
              <a:off x="6360002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DD099FFD-05A5-3C80-82B8-534F4B02D52C}"/>
                </a:ext>
              </a:extLst>
            </p:cNvPr>
            <p:cNvSpPr/>
            <p:nvPr/>
          </p:nvSpPr>
          <p:spPr>
            <a:xfrm>
              <a:off x="5539618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56A87275-C583-E708-8312-3601C95EE3C4}"/>
                </a:ext>
              </a:extLst>
            </p:cNvPr>
            <p:cNvSpPr/>
            <p:nvPr/>
          </p:nvSpPr>
          <p:spPr>
            <a:xfrm>
              <a:off x="4719234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26BA8D25-0DAA-9D6A-0FD2-6465C1BB5389}"/>
                </a:ext>
              </a:extLst>
            </p:cNvPr>
            <p:cNvSpPr/>
            <p:nvPr/>
          </p:nvSpPr>
          <p:spPr>
            <a:xfrm>
              <a:off x="3898850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182EB0F5-471F-B487-E85A-E338A5CABB6C}"/>
                </a:ext>
              </a:extLst>
            </p:cNvPr>
            <p:cNvSpPr/>
            <p:nvPr/>
          </p:nvSpPr>
          <p:spPr>
            <a:xfrm>
              <a:off x="1437698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22EA6A0D-B7C1-B9C6-9459-A9FE6AAF66C2}"/>
                </a:ext>
              </a:extLst>
            </p:cNvPr>
            <p:cNvSpPr/>
            <p:nvPr/>
          </p:nvSpPr>
          <p:spPr>
            <a:xfrm>
              <a:off x="2258082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600D1614-1DCE-2466-511D-DE1D711E09A3}"/>
                </a:ext>
              </a:extLst>
            </p:cNvPr>
            <p:cNvSpPr/>
            <p:nvPr/>
          </p:nvSpPr>
          <p:spPr>
            <a:xfrm>
              <a:off x="3078466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E715A15C-F4AC-E55A-4C94-940DE82F2257}"/>
                </a:ext>
              </a:extLst>
            </p:cNvPr>
            <p:cNvSpPr/>
            <p:nvPr/>
          </p:nvSpPr>
          <p:spPr>
            <a:xfrm>
              <a:off x="7180388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6ED01531-137D-2A6E-D80F-D55B82A65D2A}"/>
                </a:ext>
              </a:extLst>
            </p:cNvPr>
            <p:cNvSpPr/>
            <p:nvPr/>
          </p:nvSpPr>
          <p:spPr>
            <a:xfrm>
              <a:off x="1444138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C5A9A4BA-71F2-9AA0-49D9-551D4EAB6B35}"/>
                </a:ext>
              </a:extLst>
            </p:cNvPr>
            <p:cNvSpPr/>
            <p:nvPr/>
          </p:nvSpPr>
          <p:spPr>
            <a:xfrm>
              <a:off x="2249068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BC</a:t>
              </a:r>
              <a:endParaRPr kumimoji="1" lang="ja-JP" altLang="en-US" sz="1800" b="1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604F4665-E3CC-4756-EB24-770F7E805B47}"/>
                </a:ext>
              </a:extLst>
            </p:cNvPr>
            <p:cNvSpPr/>
            <p:nvPr/>
          </p:nvSpPr>
          <p:spPr>
            <a:xfrm>
              <a:off x="3916882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5F8A90A6-7B8B-694F-899C-F06646AEBB28}"/>
                </a:ext>
              </a:extLst>
            </p:cNvPr>
            <p:cNvSpPr/>
            <p:nvPr/>
          </p:nvSpPr>
          <p:spPr>
            <a:xfrm>
              <a:off x="5526741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23F4CC5D-939D-E7DC-C560-521D3AA68E26}"/>
                </a:ext>
              </a:extLst>
            </p:cNvPr>
            <p:cNvSpPr/>
            <p:nvPr/>
          </p:nvSpPr>
          <p:spPr>
            <a:xfrm>
              <a:off x="7188115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7948D68F-11EE-5092-4D43-3B1FD58C7EF4}"/>
                </a:ext>
              </a:extLst>
            </p:cNvPr>
            <p:cNvSpPr/>
            <p:nvPr/>
          </p:nvSpPr>
          <p:spPr>
            <a:xfrm>
              <a:off x="1616915" y="2920430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1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BA888915-1B83-D3DC-C3E6-0F60D0C38668}"/>
                </a:ext>
              </a:extLst>
            </p:cNvPr>
            <p:cNvSpPr/>
            <p:nvPr/>
          </p:nvSpPr>
          <p:spPr>
            <a:xfrm>
              <a:off x="2437299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2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B0845C47-7A52-BAF3-B730-B872127F47BC}"/>
                </a:ext>
              </a:extLst>
            </p:cNvPr>
            <p:cNvSpPr/>
            <p:nvPr/>
          </p:nvSpPr>
          <p:spPr>
            <a:xfrm>
              <a:off x="3263437" y="2927838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3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6C5047BC-B77C-189F-E77A-09AC2AC2BE39}"/>
                </a:ext>
              </a:extLst>
            </p:cNvPr>
            <p:cNvSpPr/>
            <p:nvPr/>
          </p:nvSpPr>
          <p:spPr>
            <a:xfrm>
              <a:off x="4071922" y="2927838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4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AFFF729B-65D9-F043-A0FA-EDD8A13BCF1A}"/>
                </a:ext>
              </a:extLst>
            </p:cNvPr>
            <p:cNvSpPr/>
            <p:nvPr/>
          </p:nvSpPr>
          <p:spPr>
            <a:xfrm>
              <a:off x="4894529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5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24FE8A00-0F31-7349-CA9A-005ACCFA2AEC}"/>
                </a:ext>
              </a:extLst>
            </p:cNvPr>
            <p:cNvSpPr/>
            <p:nvPr/>
          </p:nvSpPr>
          <p:spPr>
            <a:xfrm>
              <a:off x="5706544" y="292783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6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23A6DAC7-C42C-DABC-A40A-3FE6972BC66D}"/>
                </a:ext>
              </a:extLst>
            </p:cNvPr>
            <p:cNvSpPr/>
            <p:nvPr/>
          </p:nvSpPr>
          <p:spPr>
            <a:xfrm>
              <a:off x="6536212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7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368E5FAE-7E7A-67A4-28A5-56C858994C9C}"/>
                </a:ext>
              </a:extLst>
            </p:cNvPr>
            <p:cNvSpPr/>
            <p:nvPr/>
          </p:nvSpPr>
          <p:spPr>
            <a:xfrm>
              <a:off x="7348228" y="292077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8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8217515C-1960-387A-7D61-B7C6BF2A7A2F}"/>
                </a:ext>
              </a:extLst>
            </p:cNvPr>
            <p:cNvSpPr/>
            <p:nvPr/>
          </p:nvSpPr>
          <p:spPr>
            <a:xfrm>
              <a:off x="1444138" y="4202704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69693E91-D382-12EE-18DD-3EF8D635C952}"/>
                  </a:ext>
                </a:extLst>
              </p:cNvPr>
              <p:cNvSpPr txBox="1"/>
              <p:nvPr/>
            </p:nvSpPr>
            <p:spPr>
              <a:xfrm>
                <a:off x="2599577" y="4989209"/>
                <a:ext cx="26838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18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18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𝐬𝐮𝐩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[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kumimoji="1" lang="en-US" altLang="ja-JP" sz="1800" b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69693E91-D382-12EE-18DD-3EF8D635C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577" y="4989209"/>
                <a:ext cx="2683811" cy="369332"/>
              </a:xfrm>
              <a:prstGeom prst="rect">
                <a:avLst/>
              </a:prstGeom>
              <a:blipFill>
                <a:blip r:embed="rId3"/>
                <a:stretch>
                  <a:fillRect l="-469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CE7F8090-638E-DC79-F912-E0A0B0FEBC7A}"/>
              </a:ext>
            </a:extLst>
          </p:cNvPr>
          <p:cNvGrpSpPr/>
          <p:nvPr/>
        </p:nvGrpSpPr>
        <p:grpSpPr>
          <a:xfrm>
            <a:off x="7431968" y="1974360"/>
            <a:ext cx="1383382" cy="810491"/>
            <a:chOff x="7286569" y="2009907"/>
            <a:chExt cx="1383382" cy="8104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6C96551E-759A-9C72-7CD9-D91D23C584BE}"/>
                    </a:ext>
                  </a:extLst>
                </p:cNvPr>
                <p:cNvSpPr txBox="1"/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=4</m:t>
                        </m:r>
                      </m:oMath>
                    </m:oMathPara>
                  </a14:m>
                  <a:endParaRPr kumimoji="1" lang="en-US" altLang="ja-JP" sz="1800" dirty="0"/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kumimoji="1" lang="en-US" altLang="ja-JP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ja-JP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kumimoji="1" lang="en-US" altLang="ja-JP" sz="1800" dirty="0"/>
                </a:p>
              </p:txBody>
            </p:sp>
          </mc:Choice>
          <mc:Fallback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6C96551E-759A-9C72-7CD9-D91D23C584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blipFill>
                  <a:blip r:embed="rId4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大かっこ 26">
              <a:extLst>
                <a:ext uri="{FF2B5EF4-FFF2-40B4-BE49-F238E27FC236}">
                  <a16:creationId xmlns:a16="http://schemas.microsoft.com/office/drawing/2014/main" id="{29F20855-EF5C-8778-74C1-E506CA43203A}"/>
                </a:ext>
              </a:extLst>
            </p:cNvPr>
            <p:cNvSpPr/>
            <p:nvPr/>
          </p:nvSpPr>
          <p:spPr>
            <a:xfrm>
              <a:off x="7430610" y="2009907"/>
              <a:ext cx="1020932" cy="810491"/>
            </a:xfrm>
            <a:prstGeom prst="bracketPair">
              <a:avLst>
                <a:gd name="adj" fmla="val 12286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449A7B4-3077-FD5B-E0A9-410438BD7B22}"/>
              </a:ext>
            </a:extLst>
          </p:cNvPr>
          <p:cNvSpPr txBox="1"/>
          <p:nvPr/>
        </p:nvSpPr>
        <p:spPr>
          <a:xfrm>
            <a:off x="3292837" y="5500179"/>
            <a:ext cx="42228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>
                <a:solidFill>
                  <a:schemeClr val="accent1"/>
                </a:solidFill>
              </a:rPr>
              <a:t>→</a:t>
            </a:r>
            <a:r>
              <a:rPr lang="en-US" altLang="ja-JP" sz="2000" b="1" dirty="0">
                <a:solidFill>
                  <a:schemeClr val="accent1"/>
                </a:solidFill>
              </a:rPr>
              <a:t>AB[1,4] is </a:t>
            </a:r>
            <a:r>
              <a:rPr lang="en-US" altLang="ja-JP" sz="2000" b="1" dirty="0">
                <a:solidFill>
                  <a:srgbClr val="C00000"/>
                </a:solidFill>
              </a:rPr>
              <a:t>definitely</a:t>
            </a:r>
            <a:r>
              <a:rPr lang="en-US" altLang="ja-JP" sz="2000" b="1" dirty="0">
                <a:solidFill>
                  <a:schemeClr val="accent1"/>
                </a:solidFill>
              </a:rPr>
              <a:t> not Dense</a:t>
            </a:r>
          </a:p>
          <a:p>
            <a:r>
              <a:rPr lang="ja-JP" altLang="en-US" sz="2000" b="1">
                <a:solidFill>
                  <a:schemeClr val="accent1"/>
                </a:solidFill>
              </a:rPr>
              <a:t>→</a:t>
            </a:r>
            <a:r>
              <a:rPr lang="en-US" altLang="ja-JP" sz="2000" b="1" dirty="0">
                <a:solidFill>
                  <a:srgbClr val="C00000"/>
                </a:solidFill>
              </a:rPr>
              <a:t>Skippable</a:t>
            </a:r>
          </a:p>
        </p:txBody>
      </p:sp>
    </p:spTree>
    <p:extLst>
      <p:ext uri="{BB962C8B-B14F-4D97-AF65-F5344CB8AC3E}">
        <p14:creationId xmlns:p14="http://schemas.microsoft.com/office/powerpoint/2010/main" val="11263688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E6A4AFF6-B13C-EAF1-13E0-2FCE6B8B6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A8B3EBB9-7535-EF6F-5612-19C6C2CD79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ja-JP" b="1" dirty="0"/>
              <a:t>Duplicate-aware t-axis stride</a:t>
            </a:r>
            <a:endParaRPr b="1" dirty="0"/>
          </a:p>
        </p:txBody>
      </p:sp>
      <p:sp>
        <p:nvSpPr>
          <p:cNvPr id="4" name="Google Shape;105;p2">
            <a:extLst>
              <a:ext uri="{FF2B5EF4-FFF2-40B4-BE49-F238E27FC236}">
                <a16:creationId xmlns:a16="http://schemas.microsoft.com/office/drawing/2014/main" id="{C3DA0FD2-BC89-64C6-201D-8ACECA3C1384}"/>
              </a:ext>
            </a:extLst>
          </p:cNvPr>
          <p:cNvSpPr txBox="1">
            <a:spLocks/>
          </p:cNvSpPr>
          <p:nvPr/>
        </p:nvSpPr>
        <p:spPr>
          <a:xfrm>
            <a:off x="103908" y="1122218"/>
            <a:ext cx="8763867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Skip </a:t>
            </a:r>
            <a:r>
              <a:rPr lang="en-US" altLang="ja-JP" b="1" dirty="0">
                <a:solidFill>
                  <a:srgbClr val="C00000"/>
                </a:solidFill>
              </a:rPr>
              <a:t>guaranteed dense &amp; </a:t>
            </a:r>
            <a:r>
              <a:rPr lang="ja-JP" altLang="ja-JP" b="1">
                <a:solidFill>
                  <a:srgbClr val="C00000"/>
                </a:solidFill>
              </a:rPr>
              <a:t>non-dense gaps</a:t>
            </a:r>
            <a:r>
              <a:rPr lang="ja-JP" altLang="ja-JP"/>
              <a:t> by jumping l to the next useful position — avoids scanning every window.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7B0FAD0-C513-7831-4575-39885FC61F79}"/>
              </a:ext>
            </a:extLst>
          </p:cNvPr>
          <p:cNvSpPr/>
          <p:nvPr/>
        </p:nvSpPr>
        <p:spPr>
          <a:xfrm>
            <a:off x="2890086" y="2784851"/>
            <a:ext cx="3363828" cy="194464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b="1"/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8B0C1DEF-AB13-D005-A71D-F7E7291259D8}"/>
              </a:ext>
            </a:extLst>
          </p:cNvPr>
          <p:cNvGrpSpPr/>
          <p:nvPr/>
        </p:nvGrpSpPr>
        <p:grpSpPr>
          <a:xfrm>
            <a:off x="1437698" y="2920430"/>
            <a:ext cx="6276331" cy="1638965"/>
            <a:chOff x="1437698" y="2920430"/>
            <a:chExt cx="6276331" cy="1638965"/>
          </a:xfrm>
        </p:grpSpPr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941FB436-FEB0-0B40-14A6-89ABED9E342A}"/>
                </a:ext>
              </a:extLst>
            </p:cNvPr>
            <p:cNvSpPr/>
            <p:nvPr/>
          </p:nvSpPr>
          <p:spPr>
            <a:xfrm>
              <a:off x="6360002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F2D26237-EAA7-5C38-27A2-DF510E73BAB7}"/>
                </a:ext>
              </a:extLst>
            </p:cNvPr>
            <p:cNvSpPr/>
            <p:nvPr/>
          </p:nvSpPr>
          <p:spPr>
            <a:xfrm>
              <a:off x="5539618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C89ED404-FC93-6C36-B956-527DEF3AA39C}"/>
                </a:ext>
              </a:extLst>
            </p:cNvPr>
            <p:cNvSpPr/>
            <p:nvPr/>
          </p:nvSpPr>
          <p:spPr>
            <a:xfrm>
              <a:off x="4719234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D</a:t>
              </a:r>
              <a:endParaRPr kumimoji="1" lang="ja-JP" altLang="en-US" sz="1800" b="1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DAF35AA6-17FE-A167-833B-557F91E47EBE}"/>
                </a:ext>
              </a:extLst>
            </p:cNvPr>
            <p:cNvSpPr/>
            <p:nvPr/>
          </p:nvSpPr>
          <p:spPr>
            <a:xfrm>
              <a:off x="3898850" y="3207516"/>
              <a:ext cx="525914" cy="3566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AB</a:t>
              </a:r>
              <a:endParaRPr kumimoji="1" lang="ja-JP" altLang="en-US" sz="1800" b="1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60286D64-0D5D-C997-88E7-5E3BFCAD9E0A}"/>
                </a:ext>
              </a:extLst>
            </p:cNvPr>
            <p:cNvSpPr/>
            <p:nvPr/>
          </p:nvSpPr>
          <p:spPr>
            <a:xfrm>
              <a:off x="1437698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276C9689-6182-B8AC-E015-03733E575AC1}"/>
                </a:ext>
              </a:extLst>
            </p:cNvPr>
            <p:cNvSpPr/>
            <p:nvPr/>
          </p:nvSpPr>
          <p:spPr>
            <a:xfrm>
              <a:off x="2258082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5E3BA23C-A960-83B9-1BE1-D9866036B29E}"/>
                </a:ext>
              </a:extLst>
            </p:cNvPr>
            <p:cNvSpPr/>
            <p:nvPr/>
          </p:nvSpPr>
          <p:spPr>
            <a:xfrm>
              <a:off x="3078466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92F69482-061E-52BC-C27B-99ED7C0C6B81}"/>
                </a:ext>
              </a:extLst>
            </p:cNvPr>
            <p:cNvSpPr/>
            <p:nvPr/>
          </p:nvSpPr>
          <p:spPr>
            <a:xfrm>
              <a:off x="7180388" y="3207516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BD5A5DC3-D569-8FD5-EE37-7B01B6D69FC7}"/>
                </a:ext>
              </a:extLst>
            </p:cNvPr>
            <p:cNvSpPr/>
            <p:nvPr/>
          </p:nvSpPr>
          <p:spPr>
            <a:xfrm>
              <a:off x="1444138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B927FFE8-228D-B1D6-D49E-D0C33DF56291}"/>
                </a:ext>
              </a:extLst>
            </p:cNvPr>
            <p:cNvSpPr/>
            <p:nvPr/>
          </p:nvSpPr>
          <p:spPr>
            <a:xfrm>
              <a:off x="2249068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BC</a:t>
              </a:r>
              <a:endParaRPr kumimoji="1" lang="ja-JP" altLang="en-US" sz="1800" b="1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60E77E40-3143-0DD5-36C0-6A34F371C181}"/>
                </a:ext>
              </a:extLst>
            </p:cNvPr>
            <p:cNvSpPr/>
            <p:nvPr/>
          </p:nvSpPr>
          <p:spPr>
            <a:xfrm>
              <a:off x="3916882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C</a:t>
              </a:r>
              <a:endParaRPr kumimoji="1" lang="ja-JP" altLang="en-US" sz="1800" b="1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A03A83F0-C862-5666-0683-F90D02D39DAF}"/>
                </a:ext>
              </a:extLst>
            </p:cNvPr>
            <p:cNvSpPr/>
            <p:nvPr/>
          </p:nvSpPr>
          <p:spPr>
            <a:xfrm>
              <a:off x="5526741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A</a:t>
              </a:r>
              <a:endParaRPr kumimoji="1" lang="ja-JP" altLang="en-US" sz="1800" b="1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5501615F-0F80-D6A7-ECF8-8279E6FB3AB9}"/>
                </a:ext>
              </a:extLst>
            </p:cNvPr>
            <p:cNvSpPr/>
            <p:nvPr/>
          </p:nvSpPr>
          <p:spPr>
            <a:xfrm>
              <a:off x="7188115" y="3700133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DEC11355-0161-C4A5-C625-FFEA510DB62D}"/>
                </a:ext>
              </a:extLst>
            </p:cNvPr>
            <p:cNvSpPr/>
            <p:nvPr/>
          </p:nvSpPr>
          <p:spPr>
            <a:xfrm>
              <a:off x="1616915" y="2920430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1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57464373-AF4D-7E88-AA5F-070B872731B4}"/>
                </a:ext>
              </a:extLst>
            </p:cNvPr>
            <p:cNvSpPr/>
            <p:nvPr/>
          </p:nvSpPr>
          <p:spPr>
            <a:xfrm>
              <a:off x="2437299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2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DD0F1F65-CB18-E75F-DA20-121542EB0CDD}"/>
                </a:ext>
              </a:extLst>
            </p:cNvPr>
            <p:cNvSpPr/>
            <p:nvPr/>
          </p:nvSpPr>
          <p:spPr>
            <a:xfrm>
              <a:off x="3263437" y="2927838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3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E8F195C7-0054-3F91-071A-8F652F25202C}"/>
                </a:ext>
              </a:extLst>
            </p:cNvPr>
            <p:cNvSpPr/>
            <p:nvPr/>
          </p:nvSpPr>
          <p:spPr>
            <a:xfrm>
              <a:off x="4071922" y="2927838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4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8A00D02D-BA86-3431-32AA-8E6A04B6A4B2}"/>
                </a:ext>
              </a:extLst>
            </p:cNvPr>
            <p:cNvSpPr/>
            <p:nvPr/>
          </p:nvSpPr>
          <p:spPr>
            <a:xfrm>
              <a:off x="4894529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5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317231A2-8232-E6F2-36B0-DE6BB74763DD}"/>
                </a:ext>
              </a:extLst>
            </p:cNvPr>
            <p:cNvSpPr/>
            <p:nvPr/>
          </p:nvSpPr>
          <p:spPr>
            <a:xfrm>
              <a:off x="5706544" y="292783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6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973BC573-EAB5-6180-F882-C020FA7D20B9}"/>
                </a:ext>
              </a:extLst>
            </p:cNvPr>
            <p:cNvSpPr/>
            <p:nvPr/>
          </p:nvSpPr>
          <p:spPr>
            <a:xfrm>
              <a:off x="6536212" y="292430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7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8332B702-3198-372B-E6D3-7C11FE233665}"/>
                </a:ext>
              </a:extLst>
            </p:cNvPr>
            <p:cNvSpPr/>
            <p:nvPr/>
          </p:nvSpPr>
          <p:spPr>
            <a:xfrm>
              <a:off x="7348228" y="2920777"/>
              <a:ext cx="167480" cy="2832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8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DE32A6BE-F0C2-824E-434C-DF4A255119F8}"/>
                </a:ext>
              </a:extLst>
            </p:cNvPr>
            <p:cNvSpPr/>
            <p:nvPr/>
          </p:nvSpPr>
          <p:spPr>
            <a:xfrm>
              <a:off x="1444138" y="4202704"/>
              <a:ext cx="525914" cy="356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/>
                <a:t>B</a:t>
              </a:r>
              <a:endParaRPr kumimoji="1" lang="ja-JP" altLang="en-US" sz="1800" b="1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0C7AAEB3-2183-AB87-15AF-A016D0E62DD4}"/>
                  </a:ext>
                </a:extLst>
              </p:cNvPr>
              <p:cNvSpPr txBox="1"/>
              <p:nvPr/>
            </p:nvSpPr>
            <p:spPr>
              <a:xfrm>
                <a:off x="3438252" y="4989209"/>
                <a:ext cx="32654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18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18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𝐬𝐮𝐩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[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kumimoji="1" lang="en-US" altLang="ja-JP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kumimoji="1" lang="en-US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𝒐𝒓</m:t>
                      </m:r>
                      <m:r>
                        <a:rPr kumimoji="1" lang="en-US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ja-JP" sz="1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kumimoji="1" lang="en-US" altLang="ja-JP" sz="1800" b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0C7AAEB3-2183-AB87-15AF-A016D0E62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8252" y="4989209"/>
                <a:ext cx="3265440" cy="369332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055D8E71-EBC7-CDE1-A10B-731226204135}"/>
              </a:ext>
            </a:extLst>
          </p:cNvPr>
          <p:cNvGrpSpPr/>
          <p:nvPr/>
        </p:nvGrpSpPr>
        <p:grpSpPr>
          <a:xfrm>
            <a:off x="7431968" y="1974360"/>
            <a:ext cx="1383382" cy="810491"/>
            <a:chOff x="7286569" y="2009907"/>
            <a:chExt cx="1383382" cy="8104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EFE77DC8-9FB7-D8AC-12DC-C8A9135BC6CD}"/>
                    </a:ext>
                  </a:extLst>
                </p:cNvPr>
                <p:cNvSpPr txBox="1"/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=4</m:t>
                        </m:r>
                      </m:oMath>
                    </m:oMathPara>
                  </a14:m>
                  <a:endParaRPr kumimoji="1" lang="en-US" altLang="ja-JP" sz="1800" dirty="0"/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kumimoji="1" lang="en-US" altLang="ja-JP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ja-JP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kumimoji="1" lang="en-US" altLang="ja-JP" sz="1800" dirty="0"/>
                </a:p>
              </p:txBody>
            </p:sp>
          </mc:Choice>
          <mc:Fallback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EFE77DC8-9FB7-D8AC-12DC-C8A9135BC6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6569" y="2094205"/>
                  <a:ext cx="1383382" cy="646331"/>
                </a:xfrm>
                <a:prstGeom prst="rect">
                  <a:avLst/>
                </a:prstGeom>
                <a:blipFill>
                  <a:blip r:embed="rId4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大かっこ 26">
              <a:extLst>
                <a:ext uri="{FF2B5EF4-FFF2-40B4-BE49-F238E27FC236}">
                  <a16:creationId xmlns:a16="http://schemas.microsoft.com/office/drawing/2014/main" id="{F204E5B6-331B-C306-12F6-5E7083C10EC9}"/>
                </a:ext>
              </a:extLst>
            </p:cNvPr>
            <p:cNvSpPr/>
            <p:nvPr/>
          </p:nvSpPr>
          <p:spPr>
            <a:xfrm>
              <a:off x="7430610" y="2009907"/>
              <a:ext cx="1020932" cy="810491"/>
            </a:xfrm>
            <a:prstGeom prst="bracketPair">
              <a:avLst>
                <a:gd name="adj" fmla="val 12286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B91F339-44F6-7155-C7D1-98CFB4487360}"/>
              </a:ext>
            </a:extLst>
          </p:cNvPr>
          <p:cNvSpPr txBox="1"/>
          <p:nvPr/>
        </p:nvSpPr>
        <p:spPr>
          <a:xfrm>
            <a:off x="4131512" y="5500179"/>
            <a:ext cx="42228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>
                <a:solidFill>
                  <a:schemeClr val="accent1"/>
                </a:solidFill>
              </a:rPr>
              <a:t>→</a:t>
            </a:r>
            <a:r>
              <a:rPr lang="en-US" altLang="ja-JP" sz="2000" b="1" dirty="0">
                <a:solidFill>
                  <a:schemeClr val="accent1"/>
                </a:solidFill>
              </a:rPr>
              <a:t>Is AB[1,4] Dense or not Dense?</a:t>
            </a:r>
          </a:p>
          <a:p>
            <a:r>
              <a:rPr lang="ja-JP" altLang="en-US" sz="2000" b="1">
                <a:solidFill>
                  <a:schemeClr val="accent1"/>
                </a:solidFill>
              </a:rPr>
              <a:t>→</a:t>
            </a:r>
            <a:r>
              <a:rPr lang="en-US" altLang="ja-JP" sz="2000" b="1" dirty="0">
                <a:solidFill>
                  <a:srgbClr val="C00000"/>
                </a:solidFill>
              </a:rPr>
              <a:t>Scan</a:t>
            </a:r>
          </a:p>
        </p:txBody>
      </p:sp>
    </p:spTree>
    <p:extLst>
      <p:ext uri="{BB962C8B-B14F-4D97-AF65-F5344CB8AC3E}">
        <p14:creationId xmlns:p14="http://schemas.microsoft.com/office/powerpoint/2010/main" val="22319794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94273F1F-5A64-2E0E-2871-EC990E7D9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EC5079F3-17A9-114D-5514-C80B0F4052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08" y="1122218"/>
            <a:ext cx="8821017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Skip </a:t>
            </a:r>
            <a:r>
              <a:rPr lang="en-US" altLang="ja-JP" b="1" dirty="0">
                <a:solidFill>
                  <a:srgbClr val="C00000"/>
                </a:solidFill>
              </a:rPr>
              <a:t>guaranteed dense &amp; </a:t>
            </a:r>
            <a:r>
              <a:rPr lang="ja-JP" altLang="ja-JP" b="1">
                <a:solidFill>
                  <a:srgbClr val="C00000"/>
                </a:solidFill>
              </a:rPr>
              <a:t>non-dense gaps</a:t>
            </a:r>
            <a:r>
              <a:rPr lang="ja-JP" altLang="ja-JP"/>
              <a:t> by jumping l to the next useful position — avoids scanning every window.</a:t>
            </a: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01D3D45C-820C-4C9F-892F-A6679D334DB1}"/>
              </a:ext>
            </a:extLst>
          </p:cNvPr>
          <p:cNvGrpSpPr/>
          <p:nvPr/>
        </p:nvGrpSpPr>
        <p:grpSpPr>
          <a:xfrm>
            <a:off x="329488" y="2398051"/>
            <a:ext cx="4032069" cy="1637312"/>
            <a:chOff x="280159" y="2869309"/>
            <a:chExt cx="4032069" cy="1637312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519DAB95-3679-9F51-71B2-E13CAA0B6D6D}"/>
                </a:ext>
              </a:extLst>
            </p:cNvPr>
            <p:cNvSpPr/>
            <p:nvPr/>
          </p:nvSpPr>
          <p:spPr>
            <a:xfrm>
              <a:off x="280159" y="3051874"/>
              <a:ext cx="4032069" cy="145474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Google Shape;105;p2">
                  <a:extLst>
                    <a:ext uri="{FF2B5EF4-FFF2-40B4-BE49-F238E27FC236}">
                      <a16:creationId xmlns:a16="http://schemas.microsoft.com/office/drawing/2014/main" id="{689E524B-DF16-E665-603F-C442BF4B8B1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690293" y="2869309"/>
                  <a:ext cx="1211799" cy="36512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rmAutofit fontScale="85000" lnSpcReduction="10000"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L="457200" marR="0" lvl="0" indent="-355600" algn="l" rtl="0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Char char="•"/>
                    <a:defRPr sz="20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1pPr>
                  <a:lvl2pPr marL="914400" marR="0" lvl="1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–"/>
                    <a:defRPr sz="21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2pPr>
                  <a:lvl3pPr marL="1371600" marR="0" lvl="2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3pPr>
                  <a:lvl4pPr marL="1828800" marR="0" lvl="3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–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4pPr>
                  <a:lvl5pPr marL="2286000" marR="0" lvl="4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»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5pPr>
                  <a:lvl6pPr marL="2743200" marR="0" lvl="5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6pPr>
                  <a:lvl7pPr marL="3200400" marR="0" lvl="6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7pPr>
                  <a:lvl8pPr marL="3657600" marR="0" lvl="7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8pPr>
                  <a:lvl9pPr marL="4114800" marR="0" lvl="8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9pPr>
                </a:lstStyle>
                <a:p>
                  <a:pPr marL="0" indent="0" algn="ctr">
                    <a:spcBef>
                      <a:spcPts val="0"/>
                    </a:spcBef>
                    <a:buFont typeface="Arial"/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US" altLang="ja-JP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𝒄𝒐𝒖𝒏𝒕</m:t>
                        </m:r>
                        <m:r>
                          <a:rPr lang="en-US" altLang="ja-JP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altLang="ja-JP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0" name="Google Shape;105;p2">
                  <a:extLst>
                    <a:ext uri="{FF2B5EF4-FFF2-40B4-BE49-F238E27FC236}">
                      <a16:creationId xmlns:a16="http://schemas.microsoft.com/office/drawing/2014/main" id="{E30FC4DA-C0DF-DB03-4674-19E8EE687D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90293" y="2869309"/>
                  <a:ext cx="1211799" cy="365125"/>
                </a:xfrm>
                <a:prstGeom prst="rect">
                  <a:avLst/>
                </a:prstGeom>
                <a:blipFill>
                  <a:blip r:embed="rId3"/>
                  <a:stretch>
                    <a:fillRect t="-6897" r="-4124" b="-2069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Google Shape;105;p2">
                  <a:extLst>
                    <a:ext uri="{FF2B5EF4-FFF2-40B4-BE49-F238E27FC236}">
                      <a16:creationId xmlns:a16="http://schemas.microsoft.com/office/drawing/2014/main" id="{E74844E9-3596-AC83-7F0F-281A2658F89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57200" y="3276002"/>
                  <a:ext cx="3713356" cy="123061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rm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L="457200" marR="0" lvl="0" indent="-355600" algn="l" rtl="0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Char char="•"/>
                    <a:defRPr sz="20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1pPr>
                  <a:lvl2pPr marL="914400" marR="0" lvl="1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–"/>
                    <a:defRPr sz="21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2pPr>
                  <a:lvl3pPr marL="1371600" marR="0" lvl="2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3pPr>
                  <a:lvl4pPr marL="1828800" marR="0" lvl="3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–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4pPr>
                  <a:lvl5pPr marL="2286000" marR="0" lvl="4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»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5pPr>
                  <a:lvl6pPr marL="2743200" marR="0" lvl="5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6pPr>
                  <a:lvl7pPr marL="3200400" marR="0" lvl="6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7pPr>
                  <a:lvl8pPr marL="3657600" marR="0" lvl="7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8pPr>
                  <a:lvl9pPr marL="4114800" marR="0" lvl="8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9pPr>
                </a:lstStyle>
                <a:p>
                  <a:pPr marL="0" indent="0" algn="ctr">
                    <a:spcBef>
                      <a:spcPts val="0"/>
                    </a:spcBef>
                    <a:buNone/>
                  </a:pPr>
                  <a:r>
                    <a:rPr lang="en-US" altLang="ja-JP" sz="1600" dirty="0">
                      <a:latin typeface="Cambria Math" panose="02040503050406030204" pitchFamily="18" charset="0"/>
                    </a:rPr>
                    <a:t>Skip guaranteed dense intervals</a:t>
                  </a:r>
                </a:p>
                <a:p>
                  <a:pPr marL="0" indent="0" algn="ctr">
                    <a:spcBef>
                      <a:spcPts val="0"/>
                    </a:spcBef>
                    <a:buNone/>
                  </a:pPr>
                  <a:endParaRPr lang="en-US" altLang="ja-JP" sz="1600" b="0" dirty="0">
                    <a:latin typeface="Cambria Math" panose="02040503050406030204" pitchFamily="18" charset="0"/>
                  </a:endParaRPr>
                </a:p>
                <a:p>
                  <a:pPr marL="0" indent="0" algn="ctr">
                    <a:spcBef>
                      <a:spcPts val="0"/>
                    </a:spcBef>
                    <a:buNone/>
                  </a:pPr>
                  <a14:m>
                    <m:oMath xmlns:m="http://schemas.openxmlformats.org/officeDocument/2006/math">
                      <m:r>
                        <a:rPr lang="en-US" altLang="ja-JP" sz="1600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a14:m>
                  <a:r>
                    <a:rPr lang="en-US" altLang="ja-JP" sz="1600" b="0" dirty="0">
                      <a:latin typeface="Cambria Math" panose="02040503050406030204" pitchFamily="18" charset="0"/>
                    </a:rPr>
                    <a:t> </a:t>
                  </a:r>
                  <a:r>
                    <a:rPr lang="ja-JP" altLang="en-US" sz="1600" b="0">
                      <a:latin typeface="Cambria Math" panose="02040503050406030204" pitchFamily="18" charset="0"/>
                    </a:rPr>
                    <a:t>→</a:t>
                  </a:r>
                  <a:r>
                    <a:rPr lang="en-US" altLang="ja-JP" sz="1600" i="1" dirty="0">
                      <a:latin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ja-JP" sz="1600" b="0" i="1" smtClean="0">
                          <a:latin typeface="Cambria Math" panose="02040503050406030204" pitchFamily="18" charset="0"/>
                        </a:rPr>
                        <m:t>𝑜𝑐𝑐</m:t>
                      </m:r>
                      <m:d>
                        <m:dPr>
                          <m:ctrlPr>
                            <a:rPr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1600" b="0" i="1" smtClean="0">
                              <a:latin typeface="Cambria Math" panose="02040503050406030204" pitchFamily="18" charset="0"/>
                            </a:rPr>
                            <m:t>𝑃𝑎𝑡𝑡𝑒𝑟𝑛</m:t>
                          </m:r>
                          <m:r>
                            <a:rPr lang="en-US" altLang="ja-JP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sz="16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ja-JP" sz="1600" b="0" i="1" smtClean="0">
                                  <a:latin typeface="Cambria Math" panose="02040503050406030204" pitchFamily="18" charset="0"/>
                                </a:rPr>
                                <m:t>𝑙𝑒𝑓𝑡</m:t>
                              </m:r>
                            </m:sub>
                          </m:sSub>
                          <m:r>
                            <a:rPr lang="en-US" altLang="ja-JP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ja-JP" sz="1600" b="0" i="1" smtClean="0">
                              <a:latin typeface="Cambria Math" panose="02040503050406030204" pitchFamily="18" charset="0"/>
                            </a:rPr>
                            <m:t>𝑠𝑢𝑟𝑝𝑙𝑢𝑠</m:t>
                          </m:r>
                        </m:e>
                      </m:d>
                      <m:r>
                        <a:rPr lang="en-US" altLang="ja-JP" sz="16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a14:m>
                  <a:endParaRPr lang="en-US" altLang="ja-JP" sz="1600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1" name="Google Shape;105;p2">
                  <a:extLst>
                    <a:ext uri="{FF2B5EF4-FFF2-40B4-BE49-F238E27FC236}">
                      <a16:creationId xmlns:a16="http://schemas.microsoft.com/office/drawing/2014/main" id="{E74844E9-3596-AC83-7F0F-281A2658F8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" y="3276002"/>
                  <a:ext cx="3713356" cy="1230619"/>
                </a:xfrm>
                <a:prstGeom prst="rect">
                  <a:avLst/>
                </a:prstGeom>
                <a:blipFill>
                  <a:blip r:embed="rId4"/>
                  <a:stretch>
                    <a:fillRect t="-102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961BA164-6EBF-80B9-1CEA-1AE9980DC987}"/>
              </a:ext>
            </a:extLst>
          </p:cNvPr>
          <p:cNvGrpSpPr/>
          <p:nvPr/>
        </p:nvGrpSpPr>
        <p:grpSpPr>
          <a:xfrm>
            <a:off x="4783724" y="2398051"/>
            <a:ext cx="4032069" cy="1696774"/>
            <a:chOff x="4734395" y="2869309"/>
            <a:chExt cx="4032069" cy="1696774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06997B4A-21DA-DF51-A823-2079934B3C19}"/>
                </a:ext>
              </a:extLst>
            </p:cNvPr>
            <p:cNvSpPr/>
            <p:nvPr/>
          </p:nvSpPr>
          <p:spPr>
            <a:xfrm>
              <a:off x="4734395" y="3051873"/>
              <a:ext cx="4032069" cy="145474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Google Shape;105;p2">
                  <a:extLst>
                    <a:ext uri="{FF2B5EF4-FFF2-40B4-BE49-F238E27FC236}">
                      <a16:creationId xmlns:a16="http://schemas.microsoft.com/office/drawing/2014/main" id="{488BD5B0-29ED-0D52-E3B9-6677DA96AE3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144529" y="2869309"/>
                  <a:ext cx="1211799" cy="36512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rmAutofit fontScale="85000" lnSpcReduction="10000"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L="457200" marR="0" lvl="0" indent="-355600" algn="l" rtl="0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Char char="•"/>
                    <a:defRPr sz="20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1pPr>
                  <a:lvl2pPr marL="914400" marR="0" lvl="1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–"/>
                    <a:defRPr sz="21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2pPr>
                  <a:lvl3pPr marL="1371600" marR="0" lvl="2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3pPr>
                  <a:lvl4pPr marL="1828800" marR="0" lvl="3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–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4pPr>
                  <a:lvl5pPr marL="2286000" marR="0" lvl="4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»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5pPr>
                  <a:lvl6pPr marL="2743200" marR="0" lvl="5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6pPr>
                  <a:lvl7pPr marL="3200400" marR="0" lvl="6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7pPr>
                  <a:lvl8pPr marL="3657600" marR="0" lvl="7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8pPr>
                  <a:lvl9pPr marL="4114800" marR="0" lvl="8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9pPr>
                </a:lstStyle>
                <a:p>
                  <a:pPr marL="0" indent="0" algn="ctr">
                    <a:spcBef>
                      <a:spcPts val="0"/>
                    </a:spcBef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US" altLang="ja-JP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𝒄𝒐𝒖𝒏𝒕</m:t>
                        </m:r>
                        <m:r>
                          <a:rPr lang="en-US" altLang="ja-JP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altLang="ja-JP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oMath>
                    </m:oMathPara>
                  </a14:m>
                  <a:endParaRPr lang="en-US" altLang="ja-JP" b="1" dirty="0">
                    <a:solidFill>
                      <a:schemeClr val="accent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4" name="Google Shape;105;p2">
                  <a:extLst>
                    <a:ext uri="{FF2B5EF4-FFF2-40B4-BE49-F238E27FC236}">
                      <a16:creationId xmlns:a16="http://schemas.microsoft.com/office/drawing/2014/main" id="{3D99D114-A845-1455-509D-8E72648B71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4529" y="2869309"/>
                  <a:ext cx="1211799" cy="36512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Google Shape;105;p2">
                  <a:extLst>
                    <a:ext uri="{FF2B5EF4-FFF2-40B4-BE49-F238E27FC236}">
                      <a16:creationId xmlns:a16="http://schemas.microsoft.com/office/drawing/2014/main" id="{F06C79CF-87D1-9576-9C0E-EC428A7627A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973444" y="3276000"/>
                  <a:ext cx="3713356" cy="12900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rm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L="457200" marR="0" lvl="0" indent="-355600" algn="l" rtl="0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Char char="•"/>
                    <a:defRPr sz="20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1pPr>
                  <a:lvl2pPr marL="914400" marR="0" lvl="1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–"/>
                    <a:defRPr sz="21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2pPr>
                  <a:lvl3pPr marL="1371600" marR="0" lvl="2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3pPr>
                  <a:lvl4pPr marL="1828800" marR="0" lvl="3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–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4pPr>
                  <a:lvl5pPr marL="2286000" marR="0" lvl="4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»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5pPr>
                  <a:lvl6pPr marL="2743200" marR="0" lvl="5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6pPr>
                  <a:lvl7pPr marL="3200400" marR="0" lvl="6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7pPr>
                  <a:lvl8pPr marL="3657600" marR="0" lvl="7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8pPr>
                  <a:lvl9pPr marL="4114800" marR="0" lvl="8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9pPr>
                </a:lstStyle>
                <a:p>
                  <a:pPr marL="0" indent="0" algn="ctr">
                    <a:spcBef>
                      <a:spcPts val="0"/>
                    </a:spcBef>
                    <a:buNone/>
                  </a:pPr>
                  <a:r>
                    <a:rPr lang="en-US" altLang="ja-JP" sz="1600" dirty="0"/>
                    <a:t>Skip guaranteed non-dense intervals</a:t>
                  </a:r>
                </a:p>
                <a:p>
                  <a:pPr marL="0" indent="0" algn="ctr">
                    <a:spcBef>
                      <a:spcPts val="0"/>
                    </a:spcBef>
                    <a:buNone/>
                  </a:pPr>
                  <a:endParaRPr lang="en-US" altLang="ja-JP" sz="1600" dirty="0"/>
                </a:p>
                <a:p>
                  <a:pPr marL="0" indent="0" algn="ctr">
                    <a:spcBef>
                      <a:spcPts val="0"/>
                    </a:spcBef>
                    <a:buNone/>
                  </a:pPr>
                  <a14:m>
                    <m:oMath xmlns:m="http://schemas.openxmlformats.org/officeDocument/2006/math">
                      <m:r>
                        <a:rPr lang="en-US" altLang="ja-JP" sz="1600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a14:m>
                  <a:r>
                    <a:rPr lang="en-US" altLang="ja-JP" sz="1600" dirty="0">
                      <a:latin typeface="Cambria Math" panose="02040503050406030204" pitchFamily="18" charset="0"/>
                    </a:rPr>
                    <a:t> </a:t>
                  </a:r>
                  <a:r>
                    <a:rPr lang="ja-JP" altLang="en-US" sz="1600">
                      <a:latin typeface="Cambria Math" panose="02040503050406030204" pitchFamily="18" charset="0"/>
                    </a:rPr>
                    <a:t>→</a:t>
                  </a:r>
                  <a:r>
                    <a:rPr lang="en-US" altLang="ja-JP" sz="1600" dirty="0">
                      <a:latin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ja-JP" sz="1600" b="0" i="1" smtClean="0"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n-US" altLang="ja-JP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ja-JP" sz="16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ja-JP" sz="1600" b="0" i="1" smtClean="0">
                          <a:latin typeface="Cambria Math" panose="02040503050406030204" pitchFamily="18" charset="0"/>
                        </a:rPr>
                        <m:t>+1, </m:t>
                      </m:r>
                    </m:oMath>
                  </a14:m>
                  <a:endParaRPr lang="en-US" altLang="ja-JP" sz="1600" b="0" i="1" dirty="0">
                    <a:latin typeface="Cambria Math" panose="02040503050406030204" pitchFamily="18" charset="0"/>
                  </a:endParaRPr>
                </a:p>
                <a:p>
                  <a:pPr marL="0" indent="0" algn="ctr">
                    <a:spcBef>
                      <a:spcPts val="0"/>
                    </a:spcBef>
                    <a:buNone/>
                  </a:pPr>
                  <a14:m>
                    <m:oMathPara xmlns:m="http://schemas.openxmlformats.org/officeDocument/2006/math">
                      <m:oMath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𝑜𝑐𝑐</m:t>
                        </m:r>
                        <m:d>
                          <m:dPr>
                            <m:ctrlPr>
                              <a:rPr lang="en-US" altLang="ja-JP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𝑃𝑎𝑡𝑡𝑒𝑟𝑛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ja-JP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ja-JP" sz="16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altLang="ja-JP" sz="1600" b="0" i="1" smtClean="0">
                                    <a:latin typeface="Cambria Math" panose="02040503050406030204" pitchFamily="18" charset="0"/>
                                  </a:rPr>
                                  <m:t>𝑟𝑖𝑔ℎ𝑡</m:t>
                                </m:r>
                              </m:sub>
                            </m:sSub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altLang="ja-JP" sz="16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5" name="Google Shape;105;p2">
                  <a:extLst>
                    <a:ext uri="{FF2B5EF4-FFF2-40B4-BE49-F238E27FC236}">
                      <a16:creationId xmlns:a16="http://schemas.microsoft.com/office/drawing/2014/main" id="{F06C79CF-87D1-9576-9C0E-EC428A7627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3444" y="3276000"/>
                  <a:ext cx="3713356" cy="1290083"/>
                </a:xfrm>
                <a:prstGeom prst="rect">
                  <a:avLst/>
                </a:prstGeom>
                <a:blipFill>
                  <a:blip r:embed="rId6"/>
                  <a:stretch>
                    <a:fillRect t="-97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B755758B-C48A-2D3F-1408-FF216DEC21BB}"/>
              </a:ext>
            </a:extLst>
          </p:cNvPr>
          <p:cNvGrpSpPr/>
          <p:nvPr/>
        </p:nvGrpSpPr>
        <p:grpSpPr>
          <a:xfrm>
            <a:off x="329488" y="4478483"/>
            <a:ext cx="8370672" cy="1586256"/>
            <a:chOff x="103909" y="4756049"/>
            <a:chExt cx="8256320" cy="133022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Google Shape;105;p2">
                  <a:extLst>
                    <a:ext uri="{FF2B5EF4-FFF2-40B4-BE49-F238E27FC236}">
                      <a16:creationId xmlns:a16="http://schemas.microsoft.com/office/drawing/2014/main" id="{1A7A4E61-EF64-AC96-5D3B-7122D26625E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8209" y="4859956"/>
                  <a:ext cx="8011391" cy="10755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rmAutofit lnSpcReduction="10000"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L="457200" marR="0" lvl="0" indent="-355600" algn="l" rtl="0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Char char="•"/>
                    <a:defRPr sz="20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1pPr>
                  <a:lvl2pPr marL="914400" marR="0" lvl="1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–"/>
                    <a:defRPr sz="21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2pPr>
                  <a:lvl3pPr marL="1371600" marR="0" lvl="2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3pPr>
                  <a:lvl4pPr marL="1828800" marR="0" lvl="3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–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4pPr>
                  <a:lvl5pPr marL="2286000" marR="0" lvl="4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»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5pPr>
                  <a:lvl6pPr marL="2743200" marR="0" lvl="5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6pPr>
                  <a:lvl7pPr marL="3200400" marR="0" lvl="6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7pPr>
                  <a:lvl8pPr marL="3657600" marR="0" lvl="7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8pPr>
                  <a:lvl9pPr marL="4114800" marR="0" lvl="8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9pPr>
                </a:lstStyle>
                <a:p>
                  <a:pPr marL="0" indent="0">
                    <a:spcBef>
                      <a:spcPts val="0"/>
                    </a:spcBef>
                    <a:buNone/>
                  </a:pPr>
                  <a14:m>
                    <m:oMath xmlns:m="http://schemas.openxmlformats.org/officeDocument/2006/math">
                      <m:r>
                        <a:rPr lang="en-US" altLang="ja-JP" sz="1600" b="0" i="1" smtClean="0">
                          <a:latin typeface="Cambria Math" panose="02040503050406030204" pitchFamily="18" charset="0"/>
                        </a:rPr>
                        <m:t>𝑜𝑐𝑐</m:t>
                      </m:r>
                      <m:d>
                        <m:dPr>
                          <m:ctrlPr>
                            <a:rPr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1600" b="0" i="1" smtClean="0">
                              <a:latin typeface="Cambria Math" panose="02040503050406030204" pitchFamily="18" charset="0"/>
                            </a:rPr>
                            <m:t>𝑃𝑎𝑡𝑡𝑒𝑟𝑛</m:t>
                          </m:r>
                          <m:r>
                            <a:rPr lang="en-US" altLang="ja-JP" sz="16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ja-JP" sz="1600" b="0" i="1" smtClean="0">
                              <a:latin typeface="Cambria Math" panose="02040503050406030204" pitchFamily="18" charset="0"/>
                            </a:rPr>
                            <m:t>𝑖𝑑</m:t>
                          </m:r>
                        </m:e>
                      </m:d>
                    </m:oMath>
                  </a14:m>
                  <a:r>
                    <a:rPr lang="en-US" altLang="ja-JP" sz="1600" dirty="0"/>
                    <a:t> : The coordinate of the transaction where the Pattern occurs for the </a:t>
                  </a:r>
                  <a14:m>
                    <m:oMath xmlns:m="http://schemas.openxmlformats.org/officeDocument/2006/math">
                      <m:r>
                        <a:rPr lang="en-US" altLang="ja-JP" sz="16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ja-JP" sz="16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altLang="ja-JP" sz="1600" dirty="0"/>
                    <a:t>-</a:t>
                  </a:r>
                  <a:r>
                    <a:rPr lang="en-US" altLang="ja-JP" sz="1600" dirty="0" err="1"/>
                    <a:t>th</a:t>
                  </a:r>
                  <a:r>
                    <a:rPr lang="en-US" altLang="ja-JP" sz="1600" dirty="0"/>
                    <a:t> item</a:t>
                  </a:r>
                </a:p>
                <a:p>
                  <a:pPr marL="0" indent="0">
                    <a:spcBef>
                      <a:spcPts val="0"/>
                    </a:spcBef>
                    <a:buNone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ja-JP" sz="1600" b="0" i="1" smtClean="0">
                              <a:latin typeface="Cambria Math" panose="02040503050406030204" pitchFamily="18" charset="0"/>
                            </a:rPr>
                            <m:t>𝑙𝑒𝑓𝑡</m:t>
                          </m:r>
                        </m:sub>
                      </m:sSub>
                    </m:oMath>
                  </a14:m>
                  <a:r>
                    <a:rPr lang="en-US" altLang="ja-JP" sz="1600" dirty="0"/>
                    <a:t> : </a:t>
                  </a:r>
                  <a:r>
                    <a:rPr lang="ja-JP" altLang="ja-JP" sz="1600"/>
                    <a:t>The occurrence index of the </a:t>
                  </a:r>
                  <a:r>
                    <a:rPr lang="en-US" altLang="ja-JP" sz="1600" dirty="0"/>
                    <a:t>left</a:t>
                  </a:r>
                  <a:r>
                    <a:rPr lang="ja-JP" altLang="ja-JP" sz="1600"/>
                    <a:t>most Pattern occurrence in the current window</a:t>
                  </a:r>
                  <a:endParaRPr lang="en-US" altLang="ja-JP" sz="1600" dirty="0"/>
                </a:p>
                <a:p>
                  <a:pPr marL="0" indent="0">
                    <a:spcBef>
                      <a:spcPts val="0"/>
                    </a:spcBef>
                    <a:buNone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ja-JP" sz="1600" b="0" i="1" smtClean="0">
                              <a:latin typeface="Cambria Math" panose="02040503050406030204" pitchFamily="18" charset="0"/>
                            </a:rPr>
                            <m:t>𝑟𝑖𝑔ℎ𝑡</m:t>
                          </m:r>
                        </m:sub>
                      </m:sSub>
                    </m:oMath>
                  </a14:m>
                  <a:r>
                    <a:rPr lang="en-US" altLang="ja-JP" sz="1600" dirty="0"/>
                    <a:t> : </a:t>
                  </a:r>
                  <a:r>
                    <a:rPr lang="ja-JP" altLang="ja-JP" sz="1600"/>
                    <a:t>The occurrence index of the </a:t>
                  </a:r>
                  <a:r>
                    <a:rPr lang="en-US" altLang="ja-JP" sz="1600" dirty="0"/>
                    <a:t>right</a:t>
                  </a:r>
                  <a:r>
                    <a:rPr lang="ja-JP" altLang="ja-JP" sz="1600"/>
                    <a:t>most Pattern occurrence in the current window</a:t>
                  </a:r>
                </a:p>
                <a:p>
                  <a:pPr marL="0" indent="0">
                    <a:spcBef>
                      <a:spcPts val="0"/>
                    </a:spcBef>
                    <a:buNone/>
                  </a:pPr>
                  <a14:m>
                    <m:oMath xmlns:m="http://schemas.openxmlformats.org/officeDocument/2006/math">
                      <m:r>
                        <a:rPr lang="en-US" altLang="ja-JP" sz="1600" b="0" i="1" smtClean="0">
                          <a:latin typeface="Cambria Math" panose="02040503050406030204" pitchFamily="18" charset="0"/>
                        </a:rPr>
                        <m:t>𝑠𝑢𝑟𝑝𝑙𝑢𝑠</m:t>
                      </m:r>
                    </m:oMath>
                  </a14:m>
                  <a:r>
                    <a:rPr lang="en-US" altLang="ja-JP" sz="1600" dirty="0"/>
                    <a:t> : T</a:t>
                  </a:r>
                  <a:r>
                    <a:rPr lang="ja-JP" altLang="ja-JP" sz="1600"/>
                    <a:t>he number of Pattern occurrences exceeding the threshold in the current window</a:t>
                  </a:r>
                  <a:endParaRPr lang="en-US" altLang="ja-JP" sz="1600" dirty="0"/>
                </a:p>
                <a:p>
                  <a:pPr marL="0" indent="0">
                    <a:spcBef>
                      <a:spcPts val="0"/>
                    </a:spcBef>
                    <a:buNone/>
                  </a:pPr>
                  <a14:m>
                    <m:oMath xmlns:m="http://schemas.openxmlformats.org/officeDocument/2006/math">
                      <m:r>
                        <a:rPr lang="en-US" altLang="ja-JP" sz="1600" i="1">
                          <a:latin typeface="Cambria Math" panose="02040503050406030204" pitchFamily="18" charset="0"/>
                        </a:rPr>
                        <m:t>𝑊</m:t>
                      </m:r>
                    </m:oMath>
                  </a14:m>
                  <a:r>
                    <a:rPr lang="en-US" altLang="ja-JP" sz="1600" dirty="0"/>
                    <a:t> : Window size</a:t>
                  </a:r>
                </a:p>
              </p:txBody>
            </p:sp>
          </mc:Choice>
          <mc:Fallback>
            <p:sp>
              <p:nvSpPr>
                <p:cNvPr id="5" name="Google Shape;105;p2">
                  <a:extLst>
                    <a:ext uri="{FF2B5EF4-FFF2-40B4-BE49-F238E27FC236}">
                      <a16:creationId xmlns:a16="http://schemas.microsoft.com/office/drawing/2014/main" id="{1A7A4E61-EF64-AC96-5D3B-7122D26625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09" y="4859956"/>
                  <a:ext cx="8011391" cy="1075574"/>
                </a:xfrm>
                <a:prstGeom prst="rect">
                  <a:avLst/>
                </a:prstGeom>
                <a:blipFill>
                  <a:blip r:embed="rId7"/>
                  <a:stretch>
                    <a:fillRect t="-2941" r="-469" b="-98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大かっこ 5">
              <a:extLst>
                <a:ext uri="{FF2B5EF4-FFF2-40B4-BE49-F238E27FC236}">
                  <a16:creationId xmlns:a16="http://schemas.microsoft.com/office/drawing/2014/main" id="{74852E42-CDE2-AEED-F144-4A704EA055C6}"/>
                </a:ext>
              </a:extLst>
            </p:cNvPr>
            <p:cNvSpPr/>
            <p:nvPr/>
          </p:nvSpPr>
          <p:spPr>
            <a:xfrm>
              <a:off x="103909" y="4756049"/>
              <a:ext cx="8256320" cy="1330222"/>
            </a:xfrm>
            <a:prstGeom prst="bracketPair">
              <a:avLst>
                <a:gd name="adj" fmla="val 12286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9" name="Google Shape;106;p2">
            <a:extLst>
              <a:ext uri="{FF2B5EF4-FFF2-40B4-BE49-F238E27FC236}">
                <a16:creationId xmlns:a16="http://schemas.microsoft.com/office/drawing/2014/main" id="{723FDC7E-A9B5-0F0D-8D5D-1EF66A0E8716}"/>
              </a:ext>
            </a:extLst>
          </p:cNvPr>
          <p:cNvSpPr txBox="1">
            <a:spLocks/>
          </p:cNvSpPr>
          <p:nvPr/>
        </p:nvSpPr>
        <p:spPr>
          <a:xfrm>
            <a:off x="103910" y="309708"/>
            <a:ext cx="6535016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ja-JP" b="1"/>
              <a:t>Duplicate-aware t-axis stride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063411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2A88E92E-8009-287A-A77A-B18D059C0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FDBA2F3D-09FD-1CFF-0615-D2F0C1CCA4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08" y="1122218"/>
            <a:ext cx="9040091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The dense region of P</a:t>
            </a:r>
            <a:r>
              <a:rPr lang="en-US" altLang="ja-JP" dirty="0" err="1"/>
              <a:t>attern</a:t>
            </a:r>
            <a:r>
              <a:rPr lang="ja-JP" altLang="ja-JP"/>
              <a:t> is </a:t>
            </a:r>
            <a:r>
              <a:rPr lang="ja-JP" altLang="ja-JP" b="1">
                <a:solidFill>
                  <a:srgbClr val="C00000"/>
                </a:solidFill>
              </a:rPr>
              <a:t>contained within</a:t>
            </a:r>
            <a:r>
              <a:rPr lang="ja-JP" altLang="ja-JP"/>
              <a:t> the intersection of its subsets' dense regions — only evaluate inside that intersection. Empty intersection → skip entirely.</a:t>
            </a:r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D32689FE-92D1-9361-8FF3-6492A212DC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ja-JP" b="1" dirty="0" err="1"/>
              <a:t>Apriori</a:t>
            </a:r>
            <a:r>
              <a:rPr lang="en-US" altLang="ja-JP" b="1" dirty="0"/>
              <a:t> pruning via (k-1)-subset interval map intersection</a:t>
            </a:r>
            <a:endParaRPr b="1" baseline="30000" dirty="0"/>
          </a:p>
        </p:txBody>
      </p: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B3510E56-9732-7DEE-8C4B-196052FDAFFF}"/>
              </a:ext>
            </a:extLst>
          </p:cNvPr>
          <p:cNvGrpSpPr/>
          <p:nvPr/>
        </p:nvGrpSpPr>
        <p:grpSpPr>
          <a:xfrm>
            <a:off x="1449583" y="1932709"/>
            <a:ext cx="6567950" cy="1274155"/>
            <a:chOff x="1061572" y="2154079"/>
            <a:chExt cx="6567950" cy="1274155"/>
          </a:xfrm>
        </p:grpSpPr>
        <p:grpSp>
          <p:nvGrpSpPr>
            <p:cNvPr id="64" name="グループ化 63">
              <a:extLst>
                <a:ext uri="{FF2B5EF4-FFF2-40B4-BE49-F238E27FC236}">
                  <a16:creationId xmlns:a16="http://schemas.microsoft.com/office/drawing/2014/main" id="{70E34355-2AAB-BFE6-BD0C-4FC7184DCA09}"/>
                </a:ext>
              </a:extLst>
            </p:cNvPr>
            <p:cNvGrpSpPr/>
            <p:nvPr/>
          </p:nvGrpSpPr>
          <p:grpSpPr>
            <a:xfrm>
              <a:off x="1707749" y="2394407"/>
              <a:ext cx="5921773" cy="796269"/>
              <a:chOff x="1684962" y="2887326"/>
              <a:chExt cx="5921773" cy="796269"/>
            </a:xfrm>
          </p:grpSpPr>
          <p:cxnSp>
            <p:nvCxnSpPr>
              <p:cNvPr id="57" name="直線矢印コネクタ 56">
                <a:extLst>
                  <a:ext uri="{FF2B5EF4-FFF2-40B4-BE49-F238E27FC236}">
                    <a16:creationId xmlns:a16="http://schemas.microsoft.com/office/drawing/2014/main" id="{5EC9D7D9-8E3B-7776-7C88-80D7782409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84962" y="3308279"/>
                <a:ext cx="5291191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9" name="正方形/長方形 58">
                <a:extLst>
                  <a:ext uri="{FF2B5EF4-FFF2-40B4-BE49-F238E27FC236}">
                    <a16:creationId xmlns:a16="http://schemas.microsoft.com/office/drawing/2014/main" id="{13B1EB0E-D66A-B88D-04E7-D04979305614}"/>
                  </a:ext>
                </a:extLst>
              </p:cNvPr>
              <p:cNvSpPr/>
              <p:nvPr/>
            </p:nvSpPr>
            <p:spPr>
              <a:xfrm>
                <a:off x="2851041" y="2887326"/>
                <a:ext cx="2113807" cy="39843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800" b="1" dirty="0"/>
                  <a:t>Dense Region</a:t>
                </a:r>
                <a:endParaRPr kumimoji="1" lang="ja-JP" altLang="en-US" sz="1800" b="1"/>
              </a:p>
            </p:txBody>
          </p:sp>
          <p:sp>
            <p:nvSpPr>
              <p:cNvPr id="61" name="Google Shape;105;p2">
                <a:extLst>
                  <a:ext uri="{FF2B5EF4-FFF2-40B4-BE49-F238E27FC236}">
                    <a16:creationId xmlns:a16="http://schemas.microsoft.com/office/drawing/2014/main" id="{DFC98C07-DC49-A2E0-D081-DB8CE3CFE0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50311" y="3040193"/>
                <a:ext cx="956424" cy="5750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2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»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en-US" altLang="ja-JP" sz="2400" b="1" dirty="0">
                    <a:solidFill>
                      <a:schemeClr val="tx1"/>
                    </a:solidFill>
                  </a:rPr>
                  <a:t>t</a:t>
                </a:r>
                <a:endParaRPr lang="ja-JP" altLang="ja-JP" sz="2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正方形/長方形 61">
                <a:extLst>
                  <a:ext uri="{FF2B5EF4-FFF2-40B4-BE49-F238E27FC236}">
                    <a16:creationId xmlns:a16="http://schemas.microsoft.com/office/drawing/2014/main" id="{60EA72E9-6297-D17C-80E2-9B5D66E263ED}"/>
                  </a:ext>
                </a:extLst>
              </p:cNvPr>
              <p:cNvSpPr/>
              <p:nvPr/>
            </p:nvSpPr>
            <p:spPr>
              <a:xfrm>
                <a:off x="3426995" y="3330793"/>
                <a:ext cx="2235671" cy="35280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800" b="1" dirty="0"/>
                  <a:t>Dense Region</a:t>
                </a:r>
                <a:endParaRPr kumimoji="1" lang="ja-JP" altLang="en-US" sz="1800" b="1"/>
              </a:p>
            </p:txBody>
          </p:sp>
        </p:grp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36453045-37C3-B905-DB45-4C9171FFE35D}"/>
                </a:ext>
              </a:extLst>
            </p:cNvPr>
            <p:cNvSpPr/>
            <p:nvPr/>
          </p:nvSpPr>
          <p:spPr>
            <a:xfrm>
              <a:off x="1061572" y="2154079"/>
              <a:ext cx="646177" cy="5750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>
                  <a:solidFill>
                    <a:schemeClr val="tx1"/>
                  </a:solidFill>
                </a:rPr>
                <a:t>A</a:t>
              </a:r>
              <a:endParaRPr kumimoji="1" lang="ja-JP" altLang="en-US" sz="1800" b="1">
                <a:solidFill>
                  <a:schemeClr val="tx1"/>
                </a:solidFill>
              </a:endParaRPr>
            </a:p>
          </p:txBody>
        </p:sp>
        <p:sp>
          <p:nvSpPr>
            <p:cNvPr id="76" name="正方形/長方形 75">
              <a:extLst>
                <a:ext uri="{FF2B5EF4-FFF2-40B4-BE49-F238E27FC236}">
                  <a16:creationId xmlns:a16="http://schemas.microsoft.com/office/drawing/2014/main" id="{AE1696D5-8B55-4626-A5BE-4D2CE79D36E0}"/>
                </a:ext>
              </a:extLst>
            </p:cNvPr>
            <p:cNvSpPr/>
            <p:nvPr/>
          </p:nvSpPr>
          <p:spPr>
            <a:xfrm>
              <a:off x="1061572" y="2853179"/>
              <a:ext cx="646177" cy="5750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800" b="1" dirty="0">
                  <a:solidFill>
                    <a:schemeClr val="tx1"/>
                  </a:solidFill>
                </a:rPr>
                <a:t>B</a:t>
              </a:r>
              <a:endParaRPr kumimoji="1" lang="ja-JP" altLang="en-US" sz="1800" b="1"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CAF35E60-6CA7-5AEF-06CF-D402EE6660B3}"/>
              </a:ext>
            </a:extLst>
          </p:cNvPr>
          <p:cNvGrpSpPr/>
          <p:nvPr/>
        </p:nvGrpSpPr>
        <p:grpSpPr>
          <a:xfrm>
            <a:off x="1465177" y="3219699"/>
            <a:ext cx="6567950" cy="1653987"/>
            <a:chOff x="1465177" y="3219699"/>
            <a:chExt cx="6567950" cy="1653987"/>
          </a:xfrm>
        </p:grpSpPr>
        <p:sp>
          <p:nvSpPr>
            <p:cNvPr id="88" name="三角形 87">
              <a:extLst>
                <a:ext uri="{FF2B5EF4-FFF2-40B4-BE49-F238E27FC236}">
                  <a16:creationId xmlns:a16="http://schemas.microsoft.com/office/drawing/2014/main" id="{FF6FB0A2-B8D2-3248-60B4-23113306F32A}"/>
                </a:ext>
              </a:extLst>
            </p:cNvPr>
            <p:cNvSpPr/>
            <p:nvPr/>
          </p:nvSpPr>
          <p:spPr>
            <a:xfrm rot="10800000">
              <a:off x="4381883" y="3219699"/>
              <a:ext cx="457469" cy="334759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B1A0D162-E1F2-ECE1-5222-43B6DF604A8A}"/>
                </a:ext>
              </a:extLst>
            </p:cNvPr>
            <p:cNvGrpSpPr/>
            <p:nvPr/>
          </p:nvGrpSpPr>
          <p:grpSpPr>
            <a:xfrm>
              <a:off x="1465177" y="3599531"/>
              <a:ext cx="6567950" cy="1274155"/>
              <a:chOff x="1061572" y="2154079"/>
              <a:chExt cx="6567950" cy="1274155"/>
            </a:xfrm>
          </p:grpSpPr>
          <p:grpSp>
            <p:nvGrpSpPr>
              <p:cNvPr id="12" name="グループ化 11">
                <a:extLst>
                  <a:ext uri="{FF2B5EF4-FFF2-40B4-BE49-F238E27FC236}">
                    <a16:creationId xmlns:a16="http://schemas.microsoft.com/office/drawing/2014/main" id="{7CCD6F3A-5B65-3FB4-E901-0C27539CB54D}"/>
                  </a:ext>
                </a:extLst>
              </p:cNvPr>
              <p:cNvGrpSpPr/>
              <p:nvPr/>
            </p:nvGrpSpPr>
            <p:grpSpPr>
              <a:xfrm>
                <a:off x="1707749" y="2405501"/>
                <a:ext cx="5921773" cy="777351"/>
                <a:chOff x="1684962" y="2898420"/>
                <a:chExt cx="5921773" cy="777351"/>
              </a:xfrm>
            </p:grpSpPr>
            <p:cxnSp>
              <p:nvCxnSpPr>
                <p:cNvPr id="15" name="直線矢印コネクタ 14">
                  <a:extLst>
                    <a:ext uri="{FF2B5EF4-FFF2-40B4-BE49-F238E27FC236}">
                      <a16:creationId xmlns:a16="http://schemas.microsoft.com/office/drawing/2014/main" id="{1C90EA86-5F84-93DD-AA55-6EC9237E83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84962" y="3308279"/>
                  <a:ext cx="5291191" cy="0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" name="正方形/長方形 15">
                  <a:extLst>
                    <a:ext uri="{FF2B5EF4-FFF2-40B4-BE49-F238E27FC236}">
                      <a16:creationId xmlns:a16="http://schemas.microsoft.com/office/drawing/2014/main" id="{A12BD454-44BC-1F9B-58B7-9376D5F62665}"/>
                    </a:ext>
                  </a:extLst>
                </p:cNvPr>
                <p:cNvSpPr/>
                <p:nvPr/>
              </p:nvSpPr>
              <p:spPr>
                <a:xfrm>
                  <a:off x="2851041" y="2898420"/>
                  <a:ext cx="2113807" cy="3873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800" b="1" dirty="0"/>
                    <a:t>Candidate</a:t>
                  </a:r>
                  <a:endParaRPr kumimoji="1" lang="ja-JP" altLang="en-US" sz="1800" b="1"/>
                </a:p>
              </p:txBody>
            </p:sp>
            <p:sp>
              <p:nvSpPr>
                <p:cNvPr id="17" name="Google Shape;105;p2">
                  <a:extLst>
                    <a:ext uri="{FF2B5EF4-FFF2-40B4-BE49-F238E27FC236}">
                      <a16:creationId xmlns:a16="http://schemas.microsoft.com/office/drawing/2014/main" id="{1398B890-D569-2DBD-9A12-268B5AD703C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650311" y="3040193"/>
                  <a:ext cx="956424" cy="57505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L="457200" marR="0" lvl="0" indent="-355600" algn="l" rtl="0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Char char="•"/>
                    <a:defRPr sz="20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1pPr>
                  <a:lvl2pPr marL="914400" marR="0" lvl="1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–"/>
                    <a:defRPr sz="21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2pPr>
                  <a:lvl3pPr marL="1371600" marR="0" lvl="2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3pPr>
                  <a:lvl4pPr marL="1828800" marR="0" lvl="3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–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4pPr>
                  <a:lvl5pPr marL="2286000" marR="0" lvl="4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»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5pPr>
                  <a:lvl6pPr marL="2743200" marR="0" lvl="5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6pPr>
                  <a:lvl7pPr marL="3200400" marR="0" lvl="6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7pPr>
                  <a:lvl8pPr marL="3657600" marR="0" lvl="7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8pPr>
                  <a:lvl9pPr marL="4114800" marR="0" lvl="8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9pPr>
                </a:lstStyle>
                <a:p>
                  <a:pPr marL="0" indent="0" algn="ctr">
                    <a:spcBef>
                      <a:spcPts val="0"/>
                    </a:spcBef>
                    <a:buNone/>
                  </a:pPr>
                  <a:r>
                    <a:rPr lang="en-US" altLang="ja-JP" sz="2400" b="1" dirty="0">
                      <a:solidFill>
                        <a:schemeClr val="tx1"/>
                      </a:solidFill>
                    </a:rPr>
                    <a:t>t</a:t>
                  </a:r>
                  <a:endParaRPr lang="ja-JP" altLang="ja-JP" sz="240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正方形/長方形 17">
                  <a:extLst>
                    <a:ext uri="{FF2B5EF4-FFF2-40B4-BE49-F238E27FC236}">
                      <a16:creationId xmlns:a16="http://schemas.microsoft.com/office/drawing/2014/main" id="{47EE083D-F067-56CF-1957-8FA94705D79D}"/>
                    </a:ext>
                  </a:extLst>
                </p:cNvPr>
                <p:cNvSpPr/>
                <p:nvPr/>
              </p:nvSpPr>
              <p:spPr>
                <a:xfrm>
                  <a:off x="3426995" y="3330793"/>
                  <a:ext cx="2235671" cy="34497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800" b="1" dirty="0"/>
                    <a:t>Candidate</a:t>
                  </a:r>
                  <a:endParaRPr kumimoji="1" lang="ja-JP" altLang="en-US" sz="1800" b="1"/>
                </a:p>
              </p:txBody>
            </p:sp>
          </p:grpSp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2ACE4F54-E6FF-1268-BA4E-3ADDB018F751}"/>
                  </a:ext>
                </a:extLst>
              </p:cNvPr>
              <p:cNvSpPr/>
              <p:nvPr/>
            </p:nvSpPr>
            <p:spPr>
              <a:xfrm>
                <a:off x="1061572" y="2154079"/>
                <a:ext cx="646177" cy="57505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800" b="1" dirty="0">
                    <a:solidFill>
                      <a:schemeClr val="tx1"/>
                    </a:solidFill>
                  </a:rPr>
                  <a:t>AB</a:t>
                </a:r>
                <a:endParaRPr kumimoji="1" lang="ja-JP" altLang="en-US" sz="18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正方形/長方形 13">
                <a:extLst>
                  <a:ext uri="{FF2B5EF4-FFF2-40B4-BE49-F238E27FC236}">
                    <a16:creationId xmlns:a16="http://schemas.microsoft.com/office/drawing/2014/main" id="{1B994932-6A5B-04FA-74CC-BC1725B1EFCB}"/>
                  </a:ext>
                </a:extLst>
              </p:cNvPr>
              <p:cNvSpPr/>
              <p:nvPr/>
            </p:nvSpPr>
            <p:spPr>
              <a:xfrm>
                <a:off x="1061572" y="2853179"/>
                <a:ext cx="646177" cy="57505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800" b="1" dirty="0">
                    <a:solidFill>
                      <a:schemeClr val="tx1"/>
                    </a:solidFill>
                  </a:rPr>
                  <a:t>AB</a:t>
                </a:r>
                <a:endParaRPr kumimoji="1" lang="ja-JP" altLang="en-US" sz="1800" b="1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4E43C969-485E-4D4A-2CF5-B82FB43F7F34}"/>
              </a:ext>
            </a:extLst>
          </p:cNvPr>
          <p:cNvGrpSpPr/>
          <p:nvPr/>
        </p:nvGrpSpPr>
        <p:grpSpPr>
          <a:xfrm>
            <a:off x="1457380" y="5051289"/>
            <a:ext cx="6567950" cy="1319322"/>
            <a:chOff x="1457380" y="5051289"/>
            <a:chExt cx="6567950" cy="1319322"/>
          </a:xfrm>
        </p:grpSpPr>
        <p:sp>
          <p:nvSpPr>
            <p:cNvPr id="19" name="三角形 18">
              <a:extLst>
                <a:ext uri="{FF2B5EF4-FFF2-40B4-BE49-F238E27FC236}">
                  <a16:creationId xmlns:a16="http://schemas.microsoft.com/office/drawing/2014/main" id="{E83C41D3-6542-CD3D-192D-7EA8A44B5BB4}"/>
                </a:ext>
              </a:extLst>
            </p:cNvPr>
            <p:cNvSpPr/>
            <p:nvPr/>
          </p:nvSpPr>
          <p:spPr>
            <a:xfrm rot="10800000">
              <a:off x="4387046" y="5051289"/>
              <a:ext cx="457469" cy="334759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9670BDC0-D020-9FF6-2BE3-5172DD1F32A2}"/>
                </a:ext>
              </a:extLst>
            </p:cNvPr>
            <p:cNvGrpSpPr/>
            <p:nvPr/>
          </p:nvGrpSpPr>
          <p:grpSpPr>
            <a:xfrm>
              <a:off x="1457380" y="5402360"/>
              <a:ext cx="6567950" cy="968251"/>
              <a:chOff x="1061572" y="2154079"/>
              <a:chExt cx="6567950" cy="968251"/>
            </a:xfrm>
          </p:grpSpPr>
          <p:grpSp>
            <p:nvGrpSpPr>
              <p:cNvPr id="21" name="グループ化 20">
                <a:extLst>
                  <a:ext uri="{FF2B5EF4-FFF2-40B4-BE49-F238E27FC236}">
                    <a16:creationId xmlns:a16="http://schemas.microsoft.com/office/drawing/2014/main" id="{03CB0A8E-BCCF-4D3C-C2B1-DB647BF62BAF}"/>
                  </a:ext>
                </a:extLst>
              </p:cNvPr>
              <p:cNvGrpSpPr/>
              <p:nvPr/>
            </p:nvGrpSpPr>
            <p:grpSpPr>
              <a:xfrm>
                <a:off x="1707749" y="2419099"/>
                <a:ext cx="5921773" cy="703231"/>
                <a:chOff x="1684962" y="2912018"/>
                <a:chExt cx="5921773" cy="703231"/>
              </a:xfrm>
            </p:grpSpPr>
            <p:cxnSp>
              <p:nvCxnSpPr>
                <p:cNvPr id="23" name="直線矢印コネクタ 22">
                  <a:extLst>
                    <a:ext uri="{FF2B5EF4-FFF2-40B4-BE49-F238E27FC236}">
                      <a16:creationId xmlns:a16="http://schemas.microsoft.com/office/drawing/2014/main" id="{03FED0CC-B7A8-77F9-C94A-5EF22AA6B9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84962" y="3308279"/>
                  <a:ext cx="5291191" cy="0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4" name="正方形/長方形 23">
                  <a:extLst>
                    <a:ext uri="{FF2B5EF4-FFF2-40B4-BE49-F238E27FC236}">
                      <a16:creationId xmlns:a16="http://schemas.microsoft.com/office/drawing/2014/main" id="{8C0530C0-3E91-C667-CFAC-BCEED81E251A}"/>
                    </a:ext>
                  </a:extLst>
                </p:cNvPr>
                <p:cNvSpPr/>
                <p:nvPr/>
              </p:nvSpPr>
              <p:spPr>
                <a:xfrm>
                  <a:off x="3419198" y="2912018"/>
                  <a:ext cx="1545650" cy="373747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800" b="1" dirty="0"/>
                    <a:t>Candidate</a:t>
                  </a:r>
                  <a:endParaRPr kumimoji="1" lang="ja-JP" altLang="en-US" sz="1800" b="1"/>
                </a:p>
              </p:txBody>
            </p:sp>
            <p:sp>
              <p:nvSpPr>
                <p:cNvPr id="25" name="Google Shape;105;p2">
                  <a:extLst>
                    <a:ext uri="{FF2B5EF4-FFF2-40B4-BE49-F238E27FC236}">
                      <a16:creationId xmlns:a16="http://schemas.microsoft.com/office/drawing/2014/main" id="{341C7BA0-2B6E-2771-2A79-17AAAEA8131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650311" y="3040193"/>
                  <a:ext cx="956424" cy="57505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L="457200" marR="0" lvl="0" indent="-355600" algn="l" rtl="0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Char char="•"/>
                    <a:defRPr sz="20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1pPr>
                  <a:lvl2pPr marL="914400" marR="0" lvl="1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–"/>
                    <a:defRPr sz="21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2pPr>
                  <a:lvl3pPr marL="1371600" marR="0" lvl="2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3pPr>
                  <a:lvl4pPr marL="1828800" marR="0" lvl="3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–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4pPr>
                  <a:lvl5pPr marL="2286000" marR="0" lvl="4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»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5pPr>
                  <a:lvl6pPr marL="2743200" marR="0" lvl="5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6pPr>
                  <a:lvl7pPr marL="3200400" marR="0" lvl="6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7pPr>
                  <a:lvl8pPr marL="3657600" marR="0" lvl="7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8pPr>
                  <a:lvl9pPr marL="4114800" marR="0" lvl="8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9pPr>
                </a:lstStyle>
                <a:p>
                  <a:pPr marL="0" indent="0" algn="ctr">
                    <a:spcBef>
                      <a:spcPts val="0"/>
                    </a:spcBef>
                    <a:buNone/>
                  </a:pPr>
                  <a:r>
                    <a:rPr lang="en-US" altLang="ja-JP" sz="2400" b="1" dirty="0">
                      <a:solidFill>
                        <a:schemeClr val="tx1"/>
                      </a:solidFill>
                    </a:rPr>
                    <a:t>t</a:t>
                  </a:r>
                  <a:endParaRPr lang="ja-JP" altLang="ja-JP" sz="2400" b="1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22" name="正方形/長方形 21">
                <a:extLst>
                  <a:ext uri="{FF2B5EF4-FFF2-40B4-BE49-F238E27FC236}">
                    <a16:creationId xmlns:a16="http://schemas.microsoft.com/office/drawing/2014/main" id="{94A68CCC-6C08-8FFC-1B30-C4C80CC82331}"/>
                  </a:ext>
                </a:extLst>
              </p:cNvPr>
              <p:cNvSpPr/>
              <p:nvPr/>
            </p:nvSpPr>
            <p:spPr>
              <a:xfrm>
                <a:off x="1061572" y="2154079"/>
                <a:ext cx="646177" cy="57505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800" b="1" dirty="0">
                    <a:solidFill>
                      <a:schemeClr val="tx1"/>
                    </a:solidFill>
                  </a:rPr>
                  <a:t>AB</a:t>
                </a:r>
                <a:endParaRPr kumimoji="1" lang="ja-JP" altLang="en-US" sz="1800" b="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346945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6C50ED77-7118-F581-76C8-414A4E530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99CDBEA8-50B7-A5F4-4EA1-130C4448CE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704109"/>
            <a:ext cx="8229600" cy="4422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57175" indent="-257175">
              <a:spcBef>
                <a:spcPts val="0"/>
              </a:spcBef>
            </a:pPr>
            <a:r>
              <a:rPr lang="en-US" dirty="0">
                <a:solidFill>
                  <a:schemeClr val="tx1"/>
                </a:solidFill>
              </a:rPr>
              <a:t>Introduction</a:t>
            </a:r>
          </a:p>
          <a:p>
            <a:pPr marL="257175" indent="-257175"/>
            <a:r>
              <a:rPr lang="en-US" altLang="ja-JP" dirty="0">
                <a:solidFill>
                  <a:schemeClr val="tx1"/>
                </a:solidFill>
              </a:rPr>
              <a:t>Background</a:t>
            </a:r>
          </a:p>
          <a:p>
            <a:pPr marL="257175" indent="-257175"/>
            <a:r>
              <a:rPr lang="en-US" altLang="ja-JP" dirty="0">
                <a:solidFill>
                  <a:schemeClr val="tx1"/>
                </a:solidFill>
              </a:rPr>
              <a:t>Proposed Method</a:t>
            </a:r>
          </a:p>
          <a:p>
            <a:pPr marL="257175" indent="-257175"/>
            <a:r>
              <a:rPr lang="en-US" altLang="ja-JP" b="1" dirty="0">
                <a:solidFill>
                  <a:schemeClr val="tx1"/>
                </a:solidFill>
              </a:rPr>
              <a:t>Experiments</a:t>
            </a:r>
          </a:p>
          <a:p>
            <a:pPr lvl="1">
              <a:spcBef>
                <a:spcPts val="420"/>
              </a:spcBef>
            </a:pPr>
            <a:r>
              <a:rPr lang="en" altLang="ja-JP" b="1" dirty="0">
                <a:solidFill>
                  <a:schemeClr val="tx1"/>
                </a:solidFill>
              </a:rPr>
              <a:t>EX-1 : Exactness Verification on Synthetic Data</a:t>
            </a:r>
          </a:p>
          <a:p>
            <a:pPr lvl="1">
              <a:spcBef>
                <a:spcPts val="420"/>
              </a:spcBef>
            </a:pPr>
            <a:r>
              <a:rPr lang="en" altLang="ja-JP" b="1" dirty="0">
                <a:solidFill>
                  <a:schemeClr val="tx1"/>
                </a:solidFill>
              </a:rPr>
              <a:t>EX-2 : Scalability (Synthetic Data)</a:t>
            </a:r>
          </a:p>
          <a:p>
            <a:pPr lvl="1">
              <a:spcBef>
                <a:spcPts val="420"/>
              </a:spcBef>
            </a:pPr>
            <a:r>
              <a:rPr lang="en-US" altLang="ja-JP" b="1" dirty="0">
                <a:solidFill>
                  <a:schemeClr val="tx1"/>
                </a:solidFill>
              </a:rPr>
              <a:t>EX-3 : Application to Real-World Data (d=3–4)</a:t>
            </a:r>
          </a:p>
          <a:p>
            <a:pPr marL="257175" indent="-257175"/>
            <a:r>
              <a:rPr lang="en-US" altLang="ja-JP" dirty="0">
                <a:solidFill>
                  <a:schemeClr val="tx1"/>
                </a:solidFill>
              </a:rPr>
              <a:t>Conclusion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F5F9C964-323D-A835-4869-C8C3722702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09708"/>
            <a:ext cx="7886700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800" b="1" dirty="0"/>
              <a:t>Agenda</a:t>
            </a:r>
            <a:endParaRPr sz="2800" b="1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8F8284C-56E6-D5F5-30C3-AB286DF8DEC6}"/>
              </a:ext>
            </a:extLst>
          </p:cNvPr>
          <p:cNvSpPr/>
          <p:nvPr/>
        </p:nvSpPr>
        <p:spPr>
          <a:xfrm>
            <a:off x="457200" y="1579418"/>
            <a:ext cx="7377545" cy="1189032"/>
          </a:xfrm>
          <a:prstGeom prst="rect">
            <a:avLst/>
          </a:prstGeom>
          <a:solidFill>
            <a:srgbClr val="FFFFFF">
              <a:alpha val="8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F9177B6-7514-243C-6778-EB354AED0AB8}"/>
              </a:ext>
            </a:extLst>
          </p:cNvPr>
          <p:cNvSpPr/>
          <p:nvPr/>
        </p:nvSpPr>
        <p:spPr>
          <a:xfrm>
            <a:off x="457199" y="4239491"/>
            <a:ext cx="7377545" cy="415635"/>
          </a:xfrm>
          <a:prstGeom prst="rect">
            <a:avLst/>
          </a:prstGeom>
          <a:solidFill>
            <a:srgbClr val="FFFFFF">
              <a:alpha val="8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61349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4CD60760-33E2-DE4C-4453-40F311E7D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8BCA3A10-EEAE-22D5-86B7-CCBCBCBFA8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08" y="1122218"/>
            <a:ext cx="8895126" cy="773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To test </a:t>
            </a:r>
            <a:r>
              <a:rPr lang="ja-JP" altLang="ja-JP" b="1">
                <a:solidFill>
                  <a:srgbClr val="C00000"/>
                </a:solidFill>
              </a:rPr>
              <a:t>exact region recovery</a:t>
            </a:r>
            <a:r>
              <a:rPr lang="ja-JP" altLang="ja-JP"/>
              <a:t>, we embed 4-shape GT in synthetic data — proposed outputs the exact solution by definition.</a:t>
            </a:r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29D3E49B-FD90-56F3-9963-16874E2371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ja-JP" b="1" dirty="0"/>
              <a:t>EX-1 : Exactness Verification on Synthetic Data</a:t>
            </a:r>
            <a:endParaRPr lang="en-US" b="1" dirty="0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DA8755B0-BD59-47F0-F3FE-F281E0370A3B}"/>
              </a:ext>
            </a:extLst>
          </p:cNvPr>
          <p:cNvGrpSpPr/>
          <p:nvPr/>
        </p:nvGrpSpPr>
        <p:grpSpPr>
          <a:xfrm>
            <a:off x="6469968" y="2601883"/>
            <a:ext cx="2134592" cy="2200737"/>
            <a:chOff x="4734396" y="2869310"/>
            <a:chExt cx="2134592" cy="2200737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C1A03EE4-B97C-3EEA-8F11-DB6508C9A5DC}"/>
                </a:ext>
              </a:extLst>
            </p:cNvPr>
            <p:cNvSpPr/>
            <p:nvPr/>
          </p:nvSpPr>
          <p:spPr>
            <a:xfrm>
              <a:off x="4734396" y="3051873"/>
              <a:ext cx="2134592" cy="2018174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5" name="Google Shape;105;p2">
              <a:extLst>
                <a:ext uri="{FF2B5EF4-FFF2-40B4-BE49-F238E27FC236}">
                  <a16:creationId xmlns:a16="http://schemas.microsoft.com/office/drawing/2014/main" id="{EEA144F7-C8E3-034E-F1C5-E3B6B8BF8E0B}"/>
                </a:ext>
              </a:extLst>
            </p:cNvPr>
            <p:cNvSpPr txBox="1">
              <a:spLocks/>
            </p:cNvSpPr>
            <p:nvPr/>
          </p:nvSpPr>
          <p:spPr>
            <a:xfrm>
              <a:off x="5257968" y="2869310"/>
              <a:ext cx="1087447" cy="3651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55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  <a:defRPr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L="914400" marR="0" lvl="1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2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L="1371600" marR="0" lvl="2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L="1828800" marR="0" lvl="3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L="2286000" marR="0" lvl="4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»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L="2743200" marR="0" lvl="5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L="3200400" marR="0" lvl="6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L="3657600" marR="0" lvl="7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L="4114800" marR="0" lvl="8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indent="0" algn="ctr">
                <a:spcBef>
                  <a:spcPts val="0"/>
                </a:spcBef>
                <a:buFont typeface="Arial"/>
                <a:buNone/>
              </a:pPr>
              <a:r>
                <a:rPr lang="en-US" altLang="ja-JP" sz="1800" b="1" dirty="0">
                  <a:solidFill>
                    <a:schemeClr val="accent1"/>
                  </a:solidFill>
                </a:rPr>
                <a:t>Baselines</a:t>
              </a:r>
              <a:endParaRPr lang="ja-JP" altLang="ja-JP" sz="1800" b="1">
                <a:solidFill>
                  <a:schemeClr val="accent1"/>
                </a:solidFill>
              </a:endParaRPr>
            </a:p>
          </p:txBody>
        </p:sp>
        <p:sp>
          <p:nvSpPr>
            <p:cNvPr id="7" name="Google Shape;105;p2">
              <a:extLst>
                <a:ext uri="{FF2B5EF4-FFF2-40B4-BE49-F238E27FC236}">
                  <a16:creationId xmlns:a16="http://schemas.microsoft.com/office/drawing/2014/main" id="{1F83FFAD-49A6-8027-8411-579B25294420}"/>
                </a:ext>
              </a:extLst>
            </p:cNvPr>
            <p:cNvSpPr txBox="1">
              <a:spLocks/>
            </p:cNvSpPr>
            <p:nvPr/>
          </p:nvSpPr>
          <p:spPr>
            <a:xfrm>
              <a:off x="4983726" y="3402210"/>
              <a:ext cx="1758484" cy="1561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55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  <a:defRPr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L="914400" marR="0" lvl="1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2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L="1371600" marR="0" lvl="2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L="1828800" marR="0" lvl="3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L="2286000" marR="0" lvl="4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»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L="2743200" marR="0" lvl="5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L="3200400" marR="0" lvl="6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L="3657600" marR="0" lvl="7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L="4114800" marR="0" lvl="8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257175" indent="-257175">
                <a:spcBef>
                  <a:spcPts val="0"/>
                </a:spcBef>
              </a:pPr>
              <a:r>
                <a:rPr lang="en-US" altLang="ja-JP" sz="1600" b="1" dirty="0"/>
                <a:t>Colocation</a:t>
              </a:r>
            </a:p>
            <a:p>
              <a:pPr marL="257175" indent="-257175">
                <a:spcBef>
                  <a:spcPts val="0"/>
                </a:spcBef>
              </a:pPr>
              <a:r>
                <a:rPr lang="en-US" altLang="ja-JP" sz="1600" b="1" dirty="0"/>
                <a:t>STCP Miner</a:t>
              </a:r>
            </a:p>
            <a:p>
              <a:pPr marL="257175" indent="-257175">
                <a:spcBef>
                  <a:spcPts val="0"/>
                </a:spcBef>
              </a:pPr>
              <a:r>
                <a:rPr lang="en-US" altLang="ja-JP" sz="1600" b="1" dirty="0"/>
                <a:t>LISA</a:t>
              </a:r>
            </a:p>
            <a:p>
              <a:pPr marL="257175" indent="-257175">
                <a:spcBef>
                  <a:spcPts val="0"/>
                </a:spcBef>
              </a:pPr>
              <a:r>
                <a:rPr lang="en-US" altLang="ja-JP" sz="1600" b="1" dirty="0"/>
                <a:t>M-Zoom</a:t>
              </a:r>
            </a:p>
            <a:p>
              <a:pPr marL="257175" indent="-257175">
                <a:spcBef>
                  <a:spcPts val="0"/>
                </a:spcBef>
              </a:pPr>
              <a:r>
                <a:rPr lang="en-US" altLang="ja-JP" sz="1600" b="1" dirty="0"/>
                <a:t>ST-DBSCAN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Google Shape;105;p2">
                <a:extLst>
                  <a:ext uri="{FF2B5EF4-FFF2-40B4-BE49-F238E27FC236}">
                    <a16:creationId xmlns:a16="http://schemas.microsoft.com/office/drawing/2014/main" id="{F6CFB4CE-9E09-5A52-6858-1646359FC7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84131" y="5277628"/>
                <a:ext cx="6934680" cy="4883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2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»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101600" indent="0">
                  <a:buNone/>
                </a:pPr>
                <a:r>
                  <a:rPr lang="ja-JP" altLang="ja-JP" b="1"/>
                  <a:t>Setup</a:t>
                </a:r>
                <a:r>
                  <a:rPr lang="ja-JP" altLang="ja-JP"/>
                  <a:t>: </a:t>
                </a:r>
                <a14:m>
                  <m:oMath xmlns:m="http://schemas.openxmlformats.org/officeDocument/2006/math">
                    <m:r>
                      <a:rPr lang="en-US" altLang="ja-JP" b="0" i="1" u="sng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ja-JP" altLang="ja-JP" u="sng"/>
                  <a:t>=100 × </a:t>
                </a:r>
                <a14:m>
                  <m:oMath xmlns:m="http://schemas.openxmlformats.org/officeDocument/2006/math">
                    <m:r>
                      <a:rPr lang="en-US" altLang="ja-JP" b="0" i="1" u="sng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ja-JP" altLang="ja-JP" u="sng"/>
                  <a:t>=100 grid,</a:t>
                </a:r>
                <a:r>
                  <a:rPr lang="en-US" altLang="ja-JP" u="sng" dirty="0"/>
                  <a:t> </a:t>
                </a:r>
                <a:r>
                  <a:rPr lang="ja-JP" altLang="ja-JP" u="sng"/>
                  <a:t> 20 GT patterns,</a:t>
                </a:r>
                <a:r>
                  <a:rPr lang="en-US" altLang="ja-JP" u="sng" dirty="0"/>
                  <a:t> </a:t>
                </a:r>
                <a14:m>
                  <m:oMath xmlns:m="http://schemas.openxmlformats.org/officeDocument/2006/math">
                    <m:r>
                      <a:rPr lang="en-US" altLang="ja-JP" i="1" u="sng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b="0" i="1" u="sng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ja-JP" altLang="ja-JP" u="sng"/>
                  <a:t>=(20,5),</a:t>
                </a:r>
                <a:r>
                  <a:rPr lang="en-US" altLang="ja-JP" u="sng" dirty="0"/>
                  <a:t> </a:t>
                </a:r>
                <a14:m>
                  <m:oMath xmlns:m="http://schemas.openxmlformats.org/officeDocument/2006/math">
                    <m:r>
                      <a:rPr lang="en-US" altLang="ja-JP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ja-JP" altLang="ja-JP" u="sng"/>
                  <a:t>=30</a:t>
                </a:r>
              </a:p>
            </p:txBody>
          </p:sp>
        </mc:Choice>
        <mc:Fallback xmlns="">
          <p:sp>
            <p:nvSpPr>
              <p:cNvPr id="10" name="Google Shape;105;p2">
                <a:extLst>
                  <a:ext uri="{FF2B5EF4-FFF2-40B4-BE49-F238E27FC236}">
                    <a16:creationId xmlns:a16="http://schemas.microsoft.com/office/drawing/2014/main" id="{F6CFB4CE-9E09-5A52-6858-1646359FC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131" y="5277628"/>
                <a:ext cx="6934680" cy="488336"/>
              </a:xfrm>
              <a:prstGeom prst="rect">
                <a:avLst/>
              </a:prstGeom>
              <a:blipFill>
                <a:blip r:embed="rId3"/>
                <a:stretch>
                  <a:fillRect b="-125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AF2E80D7-9601-D349-E7AB-3E4DC63ED2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95731"/>
              </p:ext>
            </p:extLst>
          </p:nvPr>
        </p:nvGraphicFramePr>
        <p:xfrm>
          <a:off x="347178" y="2859051"/>
          <a:ext cx="5599247" cy="18542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866248">
                  <a:extLst>
                    <a:ext uri="{9D8B030D-6E8A-4147-A177-3AD203B41FA5}">
                      <a16:colId xmlns:a16="http://schemas.microsoft.com/office/drawing/2014/main" val="4213485655"/>
                    </a:ext>
                  </a:extLst>
                </a:gridCol>
                <a:gridCol w="1271239">
                  <a:extLst>
                    <a:ext uri="{9D8B030D-6E8A-4147-A177-3AD203B41FA5}">
                      <a16:colId xmlns:a16="http://schemas.microsoft.com/office/drawing/2014/main" val="2338784053"/>
                    </a:ext>
                  </a:extLst>
                </a:gridCol>
                <a:gridCol w="3461760">
                  <a:extLst>
                    <a:ext uri="{9D8B030D-6E8A-4147-A177-3AD203B41FA5}">
                      <a16:colId xmlns:a16="http://schemas.microsoft.com/office/drawing/2014/main" val="15485932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Shape</a:t>
                      </a:r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Name</a:t>
                      </a:r>
                      <a:endParaRPr kumimoji="1" lang="ja-JP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Description</a:t>
                      </a:r>
                      <a:endParaRPr kumimoji="1" lang="ja-JP" altLang="en-US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0147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A</a:t>
                      </a:r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Rectangle</a:t>
                      </a:r>
                      <a:endParaRPr kumimoji="1" lang="ja-JP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Fixed-size orthogonal dense band</a:t>
                      </a:r>
                      <a:endParaRPr kumimoji="1" lang="ja-JP" altLang="en-US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2164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B</a:t>
                      </a:r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Drift</a:t>
                      </a:r>
                      <a:endParaRPr kumimoji="1" lang="ja-JP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Dense band shifts spatially over time</a:t>
                      </a:r>
                      <a:endParaRPr kumimoji="1" lang="ja-JP" altLang="en-US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408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C</a:t>
                      </a:r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Intermittent</a:t>
                      </a:r>
                      <a:endParaRPr kumimoji="1" lang="ja-JP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Dense band appears and disappears</a:t>
                      </a:r>
                      <a:endParaRPr kumimoji="1" lang="ja-JP" altLang="en-US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8949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D</a:t>
                      </a:r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Expanding</a:t>
                      </a:r>
                      <a:endParaRPr kumimoji="1" lang="ja-JP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Dense region grows larger over time</a:t>
                      </a:r>
                      <a:endParaRPr kumimoji="1" lang="ja-JP" altLang="en-US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6970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64807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EC8F1978-77C5-4663-BF51-814EE9605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091F4077-46CC-5EE2-045E-3B32101F8D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09" y="1122218"/>
            <a:ext cx="8821882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To test </a:t>
            </a:r>
            <a:r>
              <a:rPr lang="ja-JP" altLang="ja-JP" b="1">
                <a:solidFill>
                  <a:srgbClr val="C00000"/>
                </a:solidFill>
              </a:rPr>
              <a:t>exact region recovery</a:t>
            </a:r>
            <a:r>
              <a:rPr lang="ja-JP" altLang="ja-JP"/>
              <a:t>, we embed 4-shape GT in synthetic data — proposed outputs the exact solution by definition.</a:t>
            </a:r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2F1079D2-F995-3929-E6E4-8187D0789D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EX-1 : Exactness Verification on Synthetic Data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077AF2D1-00E7-602D-7EA3-8077F52E0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597" y="2523218"/>
            <a:ext cx="7974805" cy="339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6819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DFE9E1D8-23F7-FBDE-D1A0-D0983912D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521728F5-EA3D-1C73-F6A5-C9048FA640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09" y="1122218"/>
            <a:ext cx="8821882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" altLang="ja-JP" dirty="0"/>
              <a:t>To test </a:t>
            </a:r>
            <a:r>
              <a:rPr lang="en" altLang="ja-JP" b="1" dirty="0">
                <a:solidFill>
                  <a:srgbClr val="C00000"/>
                </a:solidFill>
              </a:rPr>
              <a:t>scalability</a:t>
            </a:r>
            <a:r>
              <a:rPr lang="en" altLang="ja-JP" dirty="0"/>
              <a:t>, we vary N from 10⁴ to 10⁸ — linear scaling, 10⁸ in ~9 min.</a:t>
            </a:r>
            <a:endParaRPr lang="ja-JP" altLang="ja-JP"/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8BD0BFDF-7845-ED7F-29C8-62EC20D5C1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EX-2 : Scalability (Synthetic Data)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BB801C7-BF00-2733-6BE3-9973EBC3D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854" y="1932709"/>
            <a:ext cx="6674291" cy="4425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0769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62B8FA40-E002-028C-1988-F16C0C5DC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ECA922AF-FE98-9D22-5EBD-C616E45998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09" y="1122218"/>
            <a:ext cx="8821882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" altLang="ja-JP" dirty="0"/>
              <a:t>To verify </a:t>
            </a:r>
            <a:r>
              <a:rPr lang="en" altLang="ja-JP" b="1" dirty="0">
                <a:solidFill>
                  <a:srgbClr val="C00000"/>
                </a:solidFill>
              </a:rPr>
              <a:t>interpretability</a:t>
            </a:r>
            <a:r>
              <a:rPr lang="en" altLang="ja-JP" dirty="0"/>
              <a:t>, we apply to d=3–4 real data — domain-consistent patterns, no labeled GT needed.</a:t>
            </a:r>
            <a:endParaRPr lang="ja-JP" altLang="ja-JP"/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22C709C8-26AE-0685-6A96-B455C919CF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EX-3 : Application to Real-World Data (d=3-4)</a:t>
            </a:r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A455A97E-7121-C279-581B-A53CBCAB8B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151092"/>
              </p:ext>
            </p:extLst>
          </p:nvPr>
        </p:nvGraphicFramePr>
        <p:xfrm>
          <a:off x="681866" y="2762247"/>
          <a:ext cx="7665968" cy="235314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49116">
                  <a:extLst>
                    <a:ext uri="{9D8B030D-6E8A-4147-A177-3AD203B41FA5}">
                      <a16:colId xmlns:a16="http://schemas.microsoft.com/office/drawing/2014/main" val="4213485655"/>
                    </a:ext>
                  </a:extLst>
                </a:gridCol>
                <a:gridCol w="1137424">
                  <a:extLst>
                    <a:ext uri="{9D8B030D-6E8A-4147-A177-3AD203B41FA5}">
                      <a16:colId xmlns:a16="http://schemas.microsoft.com/office/drawing/2014/main" val="2338784053"/>
                    </a:ext>
                  </a:extLst>
                </a:gridCol>
                <a:gridCol w="4779428">
                  <a:extLst>
                    <a:ext uri="{9D8B030D-6E8A-4147-A177-3AD203B41FA5}">
                      <a16:colId xmlns:a16="http://schemas.microsoft.com/office/drawing/2014/main" val="1548593209"/>
                    </a:ext>
                  </a:extLst>
                </a:gridCol>
              </a:tblGrid>
              <a:tr h="37124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Dataset</a:t>
                      </a:r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Dimension</a:t>
                      </a:r>
                      <a:endParaRPr kumimoji="1" lang="ja-JP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ja-JP" altLang="ja-JP" sz="1400" b="1" i="0" u="none" strike="noStrike" cap="none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Axes (items)</a:t>
                      </a:r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0147001"/>
                  </a:ext>
                </a:extLst>
              </a:tr>
              <a:tr h="379142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Chicago Crime</a:t>
                      </a:r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3</a:t>
                      </a:r>
                      <a:endParaRPr kumimoji="1" lang="ja-JP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ja-JP" altLang="ja-JP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week × lat-bin × lon-bin</a:t>
                      </a:r>
                      <a:r>
                        <a:rPr lang="en-US" altLang="ja-JP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ja-JP" altLang="ja-JP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(crime types)</a:t>
                      </a:r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2164711"/>
                  </a:ext>
                </a:extLst>
              </a:tr>
              <a:tr h="38635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NYPD Crime</a:t>
                      </a:r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3</a:t>
                      </a:r>
                      <a:endParaRPr kumimoji="1" lang="ja-JP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ja-JP" altLang="ja-JP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week × borough × precinct (crime categories)</a:t>
                      </a:r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408222"/>
                  </a:ext>
                </a:extLst>
              </a:tr>
              <a:tr h="494592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NYC 311</a:t>
                      </a:r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3</a:t>
                      </a:r>
                      <a:endParaRPr kumimoji="1" lang="ja-JP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ja-JP" altLang="ja-JP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week × community district × complaint type </a:t>
                      </a:r>
                      <a:endParaRPr lang="en-US" altLang="ja-JP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ja-JP" altLang="ja-JP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(service requests)</a:t>
                      </a:r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8949700"/>
                  </a:ext>
                </a:extLst>
              </a:tr>
              <a:tr h="69824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USGS Earthquake</a:t>
                      </a:r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4</a:t>
                      </a:r>
                      <a:endParaRPr kumimoji="1" lang="ja-JP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ja-JP" altLang="ja-JP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week × lat-bin × lon-bin × depth-bin (magnitude class)</a:t>
                      </a:r>
                    </a:p>
                    <a:p>
                      <a:pPr algn="ctr"/>
                      <a:endParaRPr kumimoji="1" lang="ja-JP" altLang="en-US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6970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6017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AD26D029-F51F-ABB4-339D-358C0FB77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DB4939C4-9468-D257-9727-9053972EF6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09" y="1122218"/>
            <a:ext cx="8821882" cy="81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" altLang="ja-JP" dirty="0"/>
              <a:t>To verify </a:t>
            </a:r>
            <a:r>
              <a:rPr lang="en" altLang="ja-JP" b="1" dirty="0">
                <a:solidFill>
                  <a:srgbClr val="C00000"/>
                </a:solidFill>
              </a:rPr>
              <a:t>interpretability</a:t>
            </a:r>
            <a:r>
              <a:rPr lang="en" altLang="ja-JP" dirty="0"/>
              <a:t>, we apply to d=3–4 real data — domain-consistent patterns, no labeled GT needed.</a:t>
            </a:r>
            <a:endParaRPr lang="ja-JP" altLang="ja-JP"/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CF2E7FF8-274A-7F68-8B11-D2F2DC2631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EX-3 : Application to Real-World Data (d=3-4)</a:t>
            </a:r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D660EC0B-A140-2B11-D8E0-660E965CE5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038245"/>
              </p:ext>
            </p:extLst>
          </p:nvPr>
        </p:nvGraphicFramePr>
        <p:xfrm>
          <a:off x="746144" y="2728794"/>
          <a:ext cx="7537412" cy="2576836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49116">
                  <a:extLst>
                    <a:ext uri="{9D8B030D-6E8A-4147-A177-3AD203B41FA5}">
                      <a16:colId xmlns:a16="http://schemas.microsoft.com/office/drawing/2014/main" val="4213485655"/>
                    </a:ext>
                  </a:extLst>
                </a:gridCol>
                <a:gridCol w="5788296">
                  <a:extLst>
                    <a:ext uri="{9D8B030D-6E8A-4147-A177-3AD203B41FA5}">
                      <a16:colId xmlns:a16="http://schemas.microsoft.com/office/drawing/2014/main" val="1548593209"/>
                    </a:ext>
                  </a:extLst>
                </a:gridCol>
              </a:tblGrid>
              <a:tr h="37124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Dataset</a:t>
                      </a:r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ja-JP" sz="1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Finding</a:t>
                      </a:r>
                      <a:endParaRPr lang="ja-JP" altLang="ja-JP" sz="1400" b="1" i="0" u="none" strike="noStrike" cap="none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0147001"/>
                  </a:ext>
                </a:extLst>
              </a:tr>
              <a:tr h="494592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Chicago Crime</a:t>
                      </a:r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ja-JP" altLang="ja-JP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ASSAULT+BATTERY chronic hotspot in South/West Side; 3-way compound co-occurrence</a:t>
                      </a:r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2164711"/>
                  </a:ext>
                </a:extLst>
              </a:tr>
              <a:tr h="494592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NYPD Crime</a:t>
                      </a:r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ja-JP" altLang="ja-JP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Felony + misdemeanor co-occur in specific borough × week windows</a:t>
                      </a:r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408222"/>
                  </a:ext>
                </a:extLst>
              </a:tr>
              <a:tr h="494592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NYC 311</a:t>
                      </a:r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ja-JP" altLang="ja-JP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Noise + illegal parking cluster in residential districts</a:t>
                      </a:r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8949700"/>
                  </a:ext>
                </a:extLst>
              </a:tr>
              <a:tr h="69824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USGS Earthquake</a:t>
                      </a:r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ja-JP" altLang="ja-JP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Shallow vs. mid-depth quakes split along depth axis</a:t>
                      </a:r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6970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70160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7A658189-8D09-09B3-C859-70E817F43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A805E9EA-2631-7BE4-8D37-F95B33D16F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704109"/>
            <a:ext cx="8229600" cy="4422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57175" indent="-257175">
              <a:spcBef>
                <a:spcPts val="0"/>
              </a:spcBef>
            </a:pPr>
            <a:r>
              <a:rPr lang="en-US" dirty="0">
                <a:solidFill>
                  <a:schemeClr val="tx1"/>
                </a:solidFill>
              </a:rPr>
              <a:t>Introduction</a:t>
            </a:r>
          </a:p>
          <a:p>
            <a:pPr marL="257175" indent="-257175"/>
            <a:r>
              <a:rPr lang="en-US" altLang="ja-JP" dirty="0">
                <a:solidFill>
                  <a:schemeClr val="tx1"/>
                </a:solidFill>
              </a:rPr>
              <a:t>Background</a:t>
            </a:r>
          </a:p>
          <a:p>
            <a:pPr marL="257175" indent="-257175"/>
            <a:r>
              <a:rPr lang="en-US" altLang="ja-JP" dirty="0">
                <a:solidFill>
                  <a:schemeClr val="tx1"/>
                </a:solidFill>
              </a:rPr>
              <a:t>Proposed Method</a:t>
            </a:r>
          </a:p>
          <a:p>
            <a:pPr marL="257175" indent="-257175"/>
            <a:r>
              <a:rPr lang="en-US" altLang="ja-JP" dirty="0">
                <a:solidFill>
                  <a:schemeClr val="tx1"/>
                </a:solidFill>
              </a:rPr>
              <a:t>Experiments</a:t>
            </a:r>
          </a:p>
          <a:p>
            <a:pPr marL="257175" indent="-257175"/>
            <a:r>
              <a:rPr lang="en-US" altLang="ja-JP" b="1" dirty="0">
                <a:solidFill>
                  <a:schemeClr val="tx1"/>
                </a:solidFill>
              </a:rPr>
              <a:t>Conclusion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C97BB8DF-D580-DED3-55C2-EBE409B746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09708"/>
            <a:ext cx="7886700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800" b="1" dirty="0"/>
              <a:t>Agenda</a:t>
            </a:r>
            <a:endParaRPr sz="2800" b="1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8771179-C374-A396-B077-058F8C9D100E}"/>
              </a:ext>
            </a:extLst>
          </p:cNvPr>
          <p:cNvSpPr/>
          <p:nvPr/>
        </p:nvSpPr>
        <p:spPr>
          <a:xfrm>
            <a:off x="457200" y="1704109"/>
            <a:ext cx="7377545" cy="1444335"/>
          </a:xfrm>
          <a:prstGeom prst="rect">
            <a:avLst/>
          </a:prstGeom>
          <a:solidFill>
            <a:srgbClr val="FFFFFF">
              <a:alpha val="8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19015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01D6C12E-BA78-1B95-94E1-763F90AF1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558C5728-C266-4E5D-7B34-1F5C7CD34A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08" y="1122218"/>
            <a:ext cx="8895126" cy="1350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ja-JP" altLang="ja-JP"/>
              <a:t>We propose </a:t>
            </a:r>
            <a:r>
              <a:rPr lang="en-US" altLang="ja-JP" b="1" dirty="0">
                <a:solidFill>
                  <a:srgbClr val="C00000"/>
                </a:solidFill>
              </a:rPr>
              <a:t>Multi-Dimensional </a:t>
            </a:r>
            <a:r>
              <a:rPr lang="en-US" altLang="ja-JP" b="1" dirty="0" err="1">
                <a:solidFill>
                  <a:srgbClr val="C00000"/>
                </a:solidFill>
              </a:rPr>
              <a:t>Apriori</a:t>
            </a:r>
            <a:r>
              <a:rPr lang="en-US" altLang="ja-JP" b="1" dirty="0">
                <a:solidFill>
                  <a:srgbClr val="C00000"/>
                </a:solidFill>
              </a:rPr>
              <a:t>-Window</a:t>
            </a:r>
            <a:r>
              <a:rPr lang="en-US" altLang="ja-JP" dirty="0"/>
              <a:t>, </a:t>
            </a:r>
            <a:r>
              <a:rPr lang="ja-JP" altLang="ja-JP"/>
              <a:t>a method that exactly enumerates dense patterns and their arbitrarily-shaped dense regions in arbitrary </a:t>
            </a:r>
            <a:r>
              <a:rPr lang="en-US" altLang="ja-JP" dirty="0"/>
              <a:t>d</a:t>
            </a:r>
            <a:r>
              <a:rPr lang="ja-JP" altLang="ja-JP"/>
              <a:t>-dimensional grids.</a:t>
            </a:r>
            <a:r>
              <a:rPr lang="en-US" altLang="ja-JP" dirty="0"/>
              <a:t> </a:t>
            </a:r>
            <a:r>
              <a:rPr lang="ja-JP" altLang="ja-JP"/>
              <a:t>This unifies </a:t>
            </a:r>
            <a:r>
              <a:rPr lang="ja-JP" altLang="ja-JP" b="1">
                <a:solidFill>
                  <a:srgbClr val="C00000"/>
                </a:solidFill>
              </a:rPr>
              <a:t>pattern enumeration</a:t>
            </a:r>
            <a:r>
              <a:rPr lang="ja-JP" altLang="ja-JP"/>
              <a:t> with </a:t>
            </a:r>
            <a:r>
              <a:rPr lang="ja-JP" altLang="ja-JP" b="1">
                <a:solidFill>
                  <a:srgbClr val="C00000"/>
                </a:solidFill>
              </a:rPr>
              <a:t>spatial-temporal region</a:t>
            </a:r>
            <a:r>
              <a:rPr lang="ja-JP" altLang="ja-JP"/>
              <a:t> detection, enabling exact and interpretable results.</a:t>
            </a:r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5587A160-D155-47C7-EC49-7D00D8B321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909" y="309708"/>
            <a:ext cx="8411441" cy="50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Conclusion</a:t>
            </a: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DE131B3B-E02A-F867-8AD2-854AA4E34A96}"/>
              </a:ext>
            </a:extLst>
          </p:cNvPr>
          <p:cNvGrpSpPr/>
          <p:nvPr/>
        </p:nvGrpSpPr>
        <p:grpSpPr>
          <a:xfrm>
            <a:off x="313613" y="2803620"/>
            <a:ext cx="4032069" cy="3162689"/>
            <a:chOff x="280159" y="2869309"/>
            <a:chExt cx="4032069" cy="3162689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13373ABC-5E0C-28AD-379D-2AEA079E1565}"/>
                </a:ext>
              </a:extLst>
            </p:cNvPr>
            <p:cNvSpPr/>
            <p:nvPr/>
          </p:nvSpPr>
          <p:spPr>
            <a:xfrm>
              <a:off x="280159" y="3051873"/>
              <a:ext cx="4032069" cy="2980125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Google Shape;105;p2">
              <a:extLst>
                <a:ext uri="{FF2B5EF4-FFF2-40B4-BE49-F238E27FC236}">
                  <a16:creationId xmlns:a16="http://schemas.microsoft.com/office/drawing/2014/main" id="{3A5AE00B-3E74-973C-C094-EAC07365B184}"/>
                </a:ext>
              </a:extLst>
            </p:cNvPr>
            <p:cNvSpPr txBox="1">
              <a:spLocks/>
            </p:cNvSpPr>
            <p:nvPr/>
          </p:nvSpPr>
          <p:spPr>
            <a:xfrm>
              <a:off x="1690293" y="2869309"/>
              <a:ext cx="1211799" cy="3651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rmAutofit fontScale="92500" lnSpcReduction="10000"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55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  <a:defRPr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L="914400" marR="0" lvl="1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2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L="1371600" marR="0" lvl="2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L="1828800" marR="0" lvl="3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L="2286000" marR="0" lvl="4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»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L="2743200" marR="0" lvl="5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L="3200400" marR="0" lvl="6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L="3657600" marR="0" lvl="7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L="4114800" marR="0" lvl="8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indent="0" algn="ctr">
                <a:spcBef>
                  <a:spcPts val="0"/>
                </a:spcBef>
                <a:buFont typeface="Arial"/>
                <a:buNone/>
              </a:pPr>
              <a:r>
                <a:rPr lang="en-US" altLang="ja-JP" b="1" dirty="0">
                  <a:solidFill>
                    <a:schemeClr val="accent1"/>
                  </a:solidFill>
                </a:rPr>
                <a:t>Limitation</a:t>
              </a:r>
              <a:endParaRPr lang="ja-JP" altLang="ja-JP" b="1">
                <a:solidFill>
                  <a:schemeClr val="accent1"/>
                </a:solidFill>
              </a:endParaRPr>
            </a:p>
          </p:txBody>
        </p:sp>
        <p:sp>
          <p:nvSpPr>
            <p:cNvPr id="6" name="Google Shape;105;p2">
              <a:extLst>
                <a:ext uri="{FF2B5EF4-FFF2-40B4-BE49-F238E27FC236}">
                  <a16:creationId xmlns:a16="http://schemas.microsoft.com/office/drawing/2014/main" id="{11B0D5E1-8C0F-56A2-C509-AAFBF566562A}"/>
                </a:ext>
              </a:extLst>
            </p:cNvPr>
            <p:cNvSpPr txBox="1">
              <a:spLocks/>
            </p:cNvSpPr>
            <p:nvPr/>
          </p:nvSpPr>
          <p:spPr>
            <a:xfrm>
              <a:off x="457200" y="3276002"/>
              <a:ext cx="3713356" cy="2755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55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  <a:defRPr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L="914400" marR="0" lvl="1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2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L="1371600" marR="0" lvl="2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L="1828800" marR="0" lvl="3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L="2286000" marR="0" lvl="4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»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L="2743200" marR="0" lvl="5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L="3200400" marR="0" lvl="6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L="3657600" marR="0" lvl="7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L="4114800" marR="0" lvl="8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257175" indent="-257175">
                <a:spcBef>
                  <a:spcPts val="0"/>
                </a:spcBef>
              </a:pPr>
              <a:r>
                <a:rPr lang="ja-JP" altLang="ja-JP" sz="1800" b="1"/>
                <a:t>Grid discretization</a:t>
              </a:r>
              <a:endParaRPr lang="en-US" altLang="ja-JP" sz="1800" b="1" dirty="0"/>
            </a:p>
            <a:p>
              <a:pPr marL="714375" lvl="1" indent="-257175">
                <a:spcBef>
                  <a:spcPts val="0"/>
                </a:spcBef>
              </a:pPr>
              <a:r>
                <a:rPr lang="ja-JP" altLang="ja-JP" sz="1600"/>
                <a:t>Results depend on parameter choices.</a:t>
              </a:r>
              <a:endParaRPr lang="en-US" sz="1600" b="1" dirty="0">
                <a:solidFill>
                  <a:schemeClr val="tx1"/>
                </a:solidFill>
              </a:endParaRPr>
            </a:p>
            <a:p>
              <a:pPr marL="257175" indent="-257175"/>
              <a:r>
                <a:rPr lang="ja-JP" altLang="ja-JP" sz="1800" b="1"/>
                <a:t>Scalability in high dimensions</a:t>
              </a:r>
              <a:endParaRPr lang="en-US" altLang="ja-JP" sz="1800" b="1" dirty="0"/>
            </a:p>
            <a:p>
              <a:pPr marL="714375" lvl="1" indent="-257175"/>
              <a:r>
                <a:rPr lang="ja-JP" altLang="ja-JP" sz="1600"/>
                <a:t>Computational cost increases with dimensionality.</a:t>
              </a:r>
              <a:endParaRPr lang="en-US" altLang="ja-JP" sz="2000" dirty="0">
                <a:solidFill>
                  <a:schemeClr val="tx1"/>
                </a:solidFill>
              </a:endParaRPr>
            </a:p>
            <a:p>
              <a:pPr marL="257175" indent="-257175"/>
              <a:r>
                <a:rPr lang="ja-JP" altLang="ja-JP" sz="1800" b="1"/>
                <a:t>No causal explanation</a:t>
              </a:r>
              <a:endParaRPr lang="en-US" altLang="ja-JP" sz="1800" b="1" dirty="0"/>
            </a:p>
            <a:p>
              <a:pPr marL="714375" lvl="1" indent="-257175"/>
              <a:r>
                <a:rPr lang="ja-JP" altLang="ja-JP" sz="1600"/>
                <a:t>Cannot explain the causes of detected patterns.</a:t>
              </a:r>
              <a:endParaRPr lang="en-US" altLang="ja-JP" sz="1600" dirty="0"/>
            </a:p>
          </p:txBody>
        </p:sp>
      </p:grp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340AF0E3-6BD2-33C2-56FD-5CEDDC7D365A}"/>
              </a:ext>
            </a:extLst>
          </p:cNvPr>
          <p:cNvGrpSpPr/>
          <p:nvPr/>
        </p:nvGrpSpPr>
        <p:grpSpPr>
          <a:xfrm>
            <a:off x="4767849" y="2803620"/>
            <a:ext cx="4032069" cy="3162689"/>
            <a:chOff x="4734395" y="2869309"/>
            <a:chExt cx="4032069" cy="3162689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06778DC1-717F-FE4C-A5EA-B95C6C57B464}"/>
                </a:ext>
              </a:extLst>
            </p:cNvPr>
            <p:cNvSpPr/>
            <p:nvPr/>
          </p:nvSpPr>
          <p:spPr>
            <a:xfrm>
              <a:off x="4734395" y="3051872"/>
              <a:ext cx="4032069" cy="2980125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Google Shape;105;p2">
              <a:extLst>
                <a:ext uri="{FF2B5EF4-FFF2-40B4-BE49-F238E27FC236}">
                  <a16:creationId xmlns:a16="http://schemas.microsoft.com/office/drawing/2014/main" id="{69613772-E9C9-1AEB-08A8-72A125CE29DD}"/>
                </a:ext>
              </a:extLst>
            </p:cNvPr>
            <p:cNvSpPr txBox="1">
              <a:spLocks/>
            </p:cNvSpPr>
            <p:nvPr/>
          </p:nvSpPr>
          <p:spPr>
            <a:xfrm>
              <a:off x="6002520" y="2869309"/>
              <a:ext cx="1495817" cy="3651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rmAutofit fontScale="92500" lnSpcReduction="10000"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55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  <a:defRPr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L="914400" marR="0" lvl="1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2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L="1371600" marR="0" lvl="2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L="1828800" marR="0" lvl="3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–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L="2286000" marR="0" lvl="4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»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L="2743200" marR="0" lvl="5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L="3200400" marR="0" lvl="6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L="3657600" marR="0" lvl="7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L="4114800" marR="0" lvl="8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0" indent="0" algn="ctr">
                <a:spcBef>
                  <a:spcPts val="0"/>
                </a:spcBef>
                <a:buFont typeface="Arial"/>
                <a:buNone/>
              </a:pPr>
              <a:r>
                <a:rPr lang="en-US" altLang="ja-JP" b="1" dirty="0">
                  <a:solidFill>
                    <a:schemeClr val="accent1"/>
                  </a:solidFill>
                </a:rPr>
                <a:t>Future Work</a:t>
              </a:r>
              <a:endParaRPr lang="ja-JP" altLang="ja-JP" b="1">
                <a:solidFill>
                  <a:schemeClr val="accent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Google Shape;105;p2">
                  <a:extLst>
                    <a:ext uri="{FF2B5EF4-FFF2-40B4-BE49-F238E27FC236}">
                      <a16:creationId xmlns:a16="http://schemas.microsoft.com/office/drawing/2014/main" id="{6413348F-EEFD-13B6-ABC1-19C5749E21A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973444" y="3276000"/>
                  <a:ext cx="3713356" cy="27559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rm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L="457200" marR="0" lvl="0" indent="-355600" algn="l" rtl="0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Char char="•"/>
                    <a:defRPr sz="20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1pPr>
                  <a:lvl2pPr marL="914400" marR="0" lvl="1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–"/>
                    <a:defRPr sz="21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2pPr>
                  <a:lvl3pPr marL="1371600" marR="0" lvl="2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3pPr>
                  <a:lvl4pPr marL="1828800" marR="0" lvl="3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–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4pPr>
                  <a:lvl5pPr marL="2286000" marR="0" lvl="4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»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5pPr>
                  <a:lvl6pPr marL="2743200" marR="0" lvl="5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6pPr>
                  <a:lvl7pPr marL="3200400" marR="0" lvl="6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7pPr>
                  <a:lvl8pPr marL="3657600" marR="0" lvl="7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8pPr>
                  <a:lvl9pPr marL="4114800" marR="0" lvl="8" indent="-342900" algn="l" rtl="0">
                    <a:lnSpc>
                      <a:spcPct val="100000"/>
                    </a:lnSpc>
                    <a:spcBef>
                      <a:spcPts val="36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Char char="•"/>
                    <a:defRPr sz="15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9pPr>
                </a:lstStyle>
                <a:p>
                  <a:pPr marL="257175" indent="-257175">
                    <a:spcBef>
                      <a:spcPts val="0"/>
                    </a:spcBef>
                  </a:pPr>
                  <a:r>
                    <a:rPr lang="ja-JP" altLang="ja-JP" sz="1800" b="1"/>
                    <a:t>Adaptive parameter selection</a:t>
                  </a:r>
                  <a:endParaRPr lang="en-US" altLang="ja-JP" sz="1800" b="1" dirty="0"/>
                </a:p>
                <a:p>
                  <a:pPr marL="714375" lvl="1" indent="-257175">
                    <a:spcBef>
                      <a:spcPts val="0"/>
                    </a:spcBef>
                  </a:pPr>
                  <a:r>
                    <a:rPr lang="ja-JP" altLang="ja-JP" sz="1600"/>
                    <a:t>Automatically</a:t>
                  </a:r>
                  <a:r>
                    <a:rPr lang="en-US" altLang="ja-JP" sz="1600" dirty="0"/>
                    <a:t> determine </a:t>
                  </a:r>
                  <a14:m>
                    <m:oMath xmlns:m="http://schemas.openxmlformats.org/officeDocument/2006/math">
                      <m:r>
                        <a:rPr lang="en-US" altLang="ja-JP" sz="16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a14:m>
                  <a:r>
                    <a:rPr lang="en-US" altLang="ja-JP" sz="1600" dirty="0"/>
                    <a:t> and </a:t>
                  </a:r>
                  <a14:m>
                    <m:oMath xmlns:m="http://schemas.openxmlformats.org/officeDocument/2006/math">
                      <m:r>
                        <a:rPr lang="en-US" altLang="ja-JP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a14:m>
                  <a:r>
                    <a:rPr lang="en-US" altLang="ja-JP" sz="1600" dirty="0"/>
                    <a:t> based on local data characteristics</a:t>
                  </a:r>
                  <a:r>
                    <a:rPr lang="ja-JP" altLang="ja-JP" sz="1600"/>
                    <a:t>.</a:t>
                  </a:r>
                  <a:endParaRPr lang="en-US" sz="1600" dirty="0">
                    <a:solidFill>
                      <a:schemeClr val="tx1"/>
                    </a:solidFill>
                  </a:endParaRPr>
                </a:p>
                <a:p>
                  <a:pPr marL="257175" indent="-257175"/>
                  <a:r>
                    <a:rPr lang="ja-JP" altLang="ja-JP" sz="1800" b="1"/>
                    <a:t>Further acceleration</a:t>
                  </a:r>
                  <a:endParaRPr lang="en-US" altLang="ja-JP" sz="1800" b="1" dirty="0"/>
                </a:p>
                <a:p>
                  <a:pPr marL="714375" lvl="1" indent="-257175"/>
                  <a:r>
                    <a:rPr lang="ja-JP" altLang="ja-JP" sz="1600"/>
                    <a:t>Reduce redundant multiset computations through efficient window aggregation and incremental updates.</a:t>
                  </a:r>
                </a:p>
              </p:txBody>
            </p:sp>
          </mc:Choice>
          <mc:Fallback xmlns="">
            <p:sp>
              <p:nvSpPr>
                <p:cNvPr id="7" name="Google Shape;105;p2">
                  <a:extLst>
                    <a:ext uri="{FF2B5EF4-FFF2-40B4-BE49-F238E27FC236}">
                      <a16:creationId xmlns:a16="http://schemas.microsoft.com/office/drawing/2014/main" id="{6413348F-EEFD-13B6-ABC1-19C5749E21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3444" y="3276000"/>
                  <a:ext cx="3713356" cy="2755998"/>
                </a:xfrm>
                <a:prstGeom prst="rect">
                  <a:avLst/>
                </a:prstGeom>
                <a:blipFill>
                  <a:blip r:embed="rId3"/>
                  <a:stretch>
                    <a:fillRect l="-1365" t="-137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33186068"/>
      </p:ext>
    </p:extLst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ホワイ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5333</TotalTime>
  <Words>3348</Words>
  <Application>Microsoft Macintosh PowerPoint</Application>
  <PresentationFormat>画面に合わせる (4:3)</PresentationFormat>
  <Paragraphs>1112</Paragraphs>
  <Slides>51</Slides>
  <Notes>51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51</vt:i4>
      </vt:variant>
    </vt:vector>
  </HeadingPairs>
  <TitlesOfParts>
    <vt:vector size="55" baseType="lpstr">
      <vt:lpstr>Arial</vt:lpstr>
      <vt:lpstr>Calibri</vt:lpstr>
      <vt:lpstr>Cambria Math</vt:lpstr>
      <vt:lpstr>ホワイト</vt:lpstr>
      <vt:lpstr>Multi-Dimensional Apriori-Window: Exact Mining of Dense Itemset Regions over Arbitrary Dimensions</vt:lpstr>
      <vt:lpstr>Agenda</vt:lpstr>
      <vt:lpstr>Motivation : The “What, When, Where” Question</vt:lpstr>
      <vt:lpstr>Motivation : The “What, When, Where” Question</vt:lpstr>
      <vt:lpstr>Motivation : The “What, When, Where” Question</vt:lpstr>
      <vt:lpstr>Existing Methods Cannot Answer Both Question</vt:lpstr>
      <vt:lpstr>This Paper - Multi-Dimensional Apriori-Window</vt:lpstr>
      <vt:lpstr>Agenda</vt:lpstr>
      <vt:lpstr>Multi-Dimensional Transaction Data</vt:lpstr>
      <vt:lpstr>Frequent Pattern &amp; Dense Pattern</vt:lpstr>
      <vt:lpstr>Frequent Pattern &amp; Dense Pattern</vt:lpstr>
      <vt:lpstr>Frequent Pattern &amp; Dense Pattern</vt:lpstr>
      <vt:lpstr>Frequent Pattern &amp; Dense Pattern</vt:lpstr>
      <vt:lpstr>Frequent Pattern &amp; Dense Pattern</vt:lpstr>
      <vt:lpstr>The Apriori Property [1] for Frequent Pattern</vt:lpstr>
      <vt:lpstr>The Apriori Property [1] for Dense Pattern</vt:lpstr>
      <vt:lpstr>The Apriori Property [1] for Dense Region</vt:lpstr>
      <vt:lpstr>Agenda</vt:lpstr>
      <vt:lpstr>Multi-Dimensional Apriori-Window</vt:lpstr>
      <vt:lpstr>Reduction to 1D per fixed spatial start point</vt:lpstr>
      <vt:lpstr>Reduction to 1D per fixed spatial start point</vt:lpstr>
      <vt:lpstr>Reduction to 1D per fixed spatial start point</vt:lpstr>
      <vt:lpstr>Reduction to 1D per fixed spatial start point</vt:lpstr>
      <vt:lpstr>Reduction to 1D per fixed spatial start point</vt:lpstr>
      <vt:lpstr>Reduction to 1D per fixed spatial start point</vt:lpstr>
      <vt:lpstr>Reduction to 1D per fixed spatial start point</vt:lpstr>
      <vt:lpstr>Reduction to 1D per fixed spatial start point</vt:lpstr>
      <vt:lpstr>Reduction to 1D per fixed spatial start point</vt:lpstr>
      <vt:lpstr>Reduction to 1D per fixed spatial start point</vt:lpstr>
      <vt:lpstr>Determine density using sliding window</vt:lpstr>
      <vt:lpstr>Determine density using sliding window</vt:lpstr>
      <vt:lpstr>Determine density using sliding window</vt:lpstr>
      <vt:lpstr>Determine density using sliding window</vt:lpstr>
      <vt:lpstr>Determine density using sliding window</vt:lpstr>
      <vt:lpstr>Duplicate-aware t-axis stride</vt:lpstr>
      <vt:lpstr>Duplicate-aware t-axis stride</vt:lpstr>
      <vt:lpstr>Duplicate-aware t-axis stride</vt:lpstr>
      <vt:lpstr>Duplicate-aware t-axis stride</vt:lpstr>
      <vt:lpstr>Duplicate-aware t-axis stride</vt:lpstr>
      <vt:lpstr>Duplicate-aware t-axis stride</vt:lpstr>
      <vt:lpstr>Duplicate-aware t-axis stride</vt:lpstr>
      <vt:lpstr>PowerPoint プレゼンテーション</vt:lpstr>
      <vt:lpstr>Apriori pruning via (k-1)-subset interval map intersection</vt:lpstr>
      <vt:lpstr>Agenda</vt:lpstr>
      <vt:lpstr>EX-1 : Exactness Verification on Synthetic Data</vt:lpstr>
      <vt:lpstr>EX-1 : Exactness Verification on Synthetic Data</vt:lpstr>
      <vt:lpstr>EX-2 : Scalability (Synthetic Data)</vt:lpstr>
      <vt:lpstr>EX-3 : Application to Real-World Data (d=3-4)</vt:lpstr>
      <vt:lpstr>EX-3 : Application to Real-World Data (d=3-4)</vt:lpstr>
      <vt:lpstr>Agenda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taihei-t@keio.jp</dc:creator>
  <cp:lastModifiedBy>kanata1222@keio.jp</cp:lastModifiedBy>
  <cp:revision>714</cp:revision>
  <dcterms:created xsi:type="dcterms:W3CDTF">2023-05-15T07:33:04Z</dcterms:created>
  <dcterms:modified xsi:type="dcterms:W3CDTF">2026-09-28T12:19:35Z</dcterms:modified>
</cp:coreProperties>
</file>